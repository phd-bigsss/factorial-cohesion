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35"/>
  </p:notesMasterIdLst>
  <p:sldIdLst>
    <p:sldId id="256" r:id="rId2"/>
    <p:sldId id="259" r:id="rId3"/>
    <p:sldId id="260" r:id="rId4"/>
    <p:sldId id="314" r:id="rId5"/>
    <p:sldId id="317" r:id="rId6"/>
    <p:sldId id="315" r:id="rId7"/>
    <p:sldId id="316" r:id="rId8"/>
    <p:sldId id="326" r:id="rId9"/>
    <p:sldId id="297" r:id="rId10"/>
    <p:sldId id="265" r:id="rId11"/>
    <p:sldId id="266" r:id="rId12"/>
    <p:sldId id="294" r:id="rId13"/>
    <p:sldId id="308" r:id="rId14"/>
    <p:sldId id="268" r:id="rId15"/>
    <p:sldId id="269" r:id="rId16"/>
    <p:sldId id="313" r:id="rId17"/>
    <p:sldId id="318" r:id="rId18"/>
    <p:sldId id="319" r:id="rId19"/>
    <p:sldId id="321" r:id="rId20"/>
    <p:sldId id="322" r:id="rId21"/>
    <p:sldId id="307" r:id="rId22"/>
    <p:sldId id="323" r:id="rId23"/>
    <p:sldId id="275" r:id="rId24"/>
    <p:sldId id="324" r:id="rId25"/>
    <p:sldId id="325" r:id="rId26"/>
    <p:sldId id="276" r:id="rId27"/>
    <p:sldId id="257" r:id="rId28"/>
    <p:sldId id="258" r:id="rId29"/>
    <p:sldId id="327" r:id="rId30"/>
    <p:sldId id="330" r:id="rId31"/>
    <p:sldId id="328" r:id="rId32"/>
    <p:sldId id="331" r:id="rId33"/>
    <p:sldId id="329" r:id="rId3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E944F7FE-C5D1-441F-98D7-08F74BF82EC6}">
          <p14:sldIdLst>
            <p14:sldId id="256"/>
            <p14:sldId id="259"/>
            <p14:sldId id="260"/>
            <p14:sldId id="314"/>
            <p14:sldId id="317"/>
            <p14:sldId id="315"/>
            <p14:sldId id="316"/>
            <p14:sldId id="326"/>
            <p14:sldId id="297"/>
            <p14:sldId id="265"/>
            <p14:sldId id="266"/>
            <p14:sldId id="294"/>
            <p14:sldId id="308"/>
            <p14:sldId id="268"/>
            <p14:sldId id="269"/>
            <p14:sldId id="313"/>
            <p14:sldId id="318"/>
            <p14:sldId id="319"/>
            <p14:sldId id="321"/>
            <p14:sldId id="322"/>
            <p14:sldId id="307"/>
            <p14:sldId id="323"/>
            <p14:sldId id="275"/>
            <p14:sldId id="324"/>
            <p14:sldId id="325"/>
            <p14:sldId id="276"/>
          </p14:sldIdLst>
        </p14:section>
        <p14:section name="Untitled Section" id="{5F83A641-8CD7-4938-A646-0232E8ED99EF}">
          <p14:sldIdLst>
            <p14:sldId id="257"/>
            <p14:sldId id="258"/>
            <p14:sldId id="327"/>
            <p14:sldId id="330"/>
            <p14:sldId id="328"/>
            <p14:sldId id="331"/>
            <p14:sldId id="32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FC4"/>
    <a:srgbClr val="F876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488CB9-5329-49BD-964B-CA6F34FA4998}" v="1" dt="2026-05-26T13:07:07.225"/>
  </p1510:revLst>
</p1510:revInfo>
</file>

<file path=ppt/tableStyles.xml><?xml version="1.0" encoding="utf-8"?>
<a:tblStyleLst xmlns:a="http://schemas.openxmlformats.org/drawingml/2006/main" def="{417090E2-8BA2-4DE9-9036-707C3FF0FA69}">
  <a:tblStyle styleId="{417090E2-8BA2-4DE9-9036-707C3FF0FA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43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552" y="120"/>
      </p:cViewPr>
      <p:guideLst>
        <p:guide orient="horz" pos="288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o César Iturra Sanhueza" userId="e2de3052-3501-452a-9806-eb4e3c41687c" providerId="ADAL" clId="{0DAA9FA8-BE77-4EA9-B591-74DF6F2D8488}"/>
    <pc:docChg chg="undo custSel addSld modSld">
      <pc:chgData name="Julio César Iturra Sanhueza" userId="e2de3052-3501-452a-9806-eb4e3c41687c" providerId="ADAL" clId="{0DAA9FA8-BE77-4EA9-B591-74DF6F2D8488}" dt="2026-05-26T13:10:36.470" v="229" actId="114"/>
      <pc:docMkLst>
        <pc:docMk/>
      </pc:docMkLst>
      <pc:sldChg chg="modSp mod">
        <pc:chgData name="Julio César Iturra Sanhueza" userId="e2de3052-3501-452a-9806-eb4e3c41687c" providerId="ADAL" clId="{0DAA9FA8-BE77-4EA9-B591-74DF6F2D8488}" dt="2026-05-15T15:02:10.953" v="58" actId="20577"/>
        <pc:sldMkLst>
          <pc:docMk/>
          <pc:sldMk cId="723249223" sldId="327"/>
        </pc:sldMkLst>
        <pc:spChg chg="mod">
          <ac:chgData name="Julio César Iturra Sanhueza" userId="e2de3052-3501-452a-9806-eb4e3c41687c" providerId="ADAL" clId="{0DAA9FA8-BE77-4EA9-B591-74DF6F2D8488}" dt="2026-05-15T15:01:53.712" v="53" actId="20577"/>
          <ac:spMkLst>
            <pc:docMk/>
            <pc:sldMk cId="723249223" sldId="327"/>
            <ac:spMk id="9" creationId="{F9E96F2C-10C7-0D70-0D98-9D4B4CF8B55E}"/>
          </ac:spMkLst>
        </pc:spChg>
        <pc:spChg chg="mod">
          <ac:chgData name="Julio César Iturra Sanhueza" userId="e2de3052-3501-452a-9806-eb4e3c41687c" providerId="ADAL" clId="{0DAA9FA8-BE77-4EA9-B591-74DF6F2D8488}" dt="2026-05-15T15:02:10.953" v="58" actId="20577"/>
          <ac:spMkLst>
            <pc:docMk/>
            <pc:sldMk cId="723249223" sldId="327"/>
            <ac:spMk id="46" creationId="{A3E31A86-1120-39A4-D871-F54E2AEF607E}"/>
          </ac:spMkLst>
        </pc:spChg>
        <pc:cxnChg chg="mod">
          <ac:chgData name="Julio César Iturra Sanhueza" userId="e2de3052-3501-452a-9806-eb4e3c41687c" providerId="ADAL" clId="{0DAA9FA8-BE77-4EA9-B591-74DF6F2D8488}" dt="2026-05-15T15:01:53.225" v="49" actId="20577"/>
          <ac:cxnSpMkLst>
            <pc:docMk/>
            <pc:sldMk cId="723249223" sldId="327"/>
            <ac:cxnSpMk id="10" creationId="{36237E22-1DDE-4D4E-6A09-85AB865572CE}"/>
          </ac:cxnSpMkLst>
        </pc:cxnChg>
        <pc:cxnChg chg="mod">
          <ac:chgData name="Julio César Iturra Sanhueza" userId="e2de3052-3501-452a-9806-eb4e3c41687c" providerId="ADAL" clId="{0DAA9FA8-BE77-4EA9-B591-74DF6F2D8488}" dt="2026-05-15T15:01:53.225" v="49" actId="20577"/>
          <ac:cxnSpMkLst>
            <pc:docMk/>
            <pc:sldMk cId="723249223" sldId="327"/>
            <ac:cxnSpMk id="28" creationId="{8CBA71FC-1A37-60E1-20F1-5E575653A50E}"/>
          </ac:cxnSpMkLst>
        </pc:cxnChg>
        <pc:cxnChg chg="mod">
          <ac:chgData name="Julio César Iturra Sanhueza" userId="e2de3052-3501-452a-9806-eb4e3c41687c" providerId="ADAL" clId="{0DAA9FA8-BE77-4EA9-B591-74DF6F2D8488}" dt="2026-05-15T15:01:53.225" v="49" actId="20577"/>
          <ac:cxnSpMkLst>
            <pc:docMk/>
            <pc:sldMk cId="723249223" sldId="327"/>
            <ac:cxnSpMk id="40" creationId="{56F5D1F6-61F5-84D4-B567-BCA2014E0E98}"/>
          </ac:cxnSpMkLst>
        </pc:cxnChg>
      </pc:sldChg>
      <pc:sldChg chg="addSp delSp modSp add mod">
        <pc:chgData name="Julio César Iturra Sanhueza" userId="e2de3052-3501-452a-9806-eb4e3c41687c" providerId="ADAL" clId="{0DAA9FA8-BE77-4EA9-B591-74DF6F2D8488}" dt="2026-05-26T13:10:36.470" v="229" actId="114"/>
        <pc:sldMkLst>
          <pc:docMk/>
          <pc:sldMk cId="1540087267" sldId="331"/>
        </pc:sldMkLst>
        <pc:spChg chg="mod ord">
          <ac:chgData name="Julio César Iturra Sanhueza" userId="e2de3052-3501-452a-9806-eb4e3c41687c" providerId="ADAL" clId="{0DAA9FA8-BE77-4EA9-B591-74DF6F2D8488}" dt="2026-05-26T13:08:26.824" v="118" actId="166"/>
          <ac:spMkLst>
            <pc:docMk/>
            <pc:sldMk cId="1540087267" sldId="331"/>
            <ac:spMk id="9" creationId="{EFFBC94E-2BC6-6851-1E6A-182D4232CCE5}"/>
          </ac:spMkLst>
        </pc:spChg>
        <pc:spChg chg="add del mod">
          <ac:chgData name="Julio César Iturra Sanhueza" userId="e2de3052-3501-452a-9806-eb4e3c41687c" providerId="ADAL" clId="{0DAA9FA8-BE77-4EA9-B591-74DF6F2D8488}" dt="2026-05-26T13:10:36.470" v="229" actId="114"/>
          <ac:spMkLst>
            <pc:docMk/>
            <pc:sldMk cId="1540087267" sldId="331"/>
            <ac:spMk id="25" creationId="{380E41F3-9C34-57A4-D142-FA8ACDFC09D4}"/>
          </ac:spMkLst>
        </pc:spChg>
        <pc:spChg chg="add del">
          <ac:chgData name="Julio César Iturra Sanhueza" userId="e2de3052-3501-452a-9806-eb4e3c41687c" providerId="ADAL" clId="{0DAA9FA8-BE77-4EA9-B591-74DF6F2D8488}" dt="2026-05-26T13:09:55.661" v="220" actId="478"/>
          <ac:spMkLst>
            <pc:docMk/>
            <pc:sldMk cId="1540087267" sldId="331"/>
            <ac:spMk id="62" creationId="{73C58601-7B79-D066-D6D8-C1B9B722410E}"/>
          </ac:spMkLst>
        </pc:spChg>
        <pc:spChg chg="mod">
          <ac:chgData name="Julio César Iturra Sanhueza" userId="e2de3052-3501-452a-9806-eb4e3c41687c" providerId="ADAL" clId="{0DAA9FA8-BE77-4EA9-B591-74DF6F2D8488}" dt="2026-05-26T13:10:04.908" v="221" actId="1076"/>
          <ac:spMkLst>
            <pc:docMk/>
            <pc:sldMk cId="1540087267" sldId="331"/>
            <ac:spMk id="150" creationId="{0D3C532D-8C8A-5DE5-BAB0-F8DE682BCD2E}"/>
          </ac:spMkLst>
        </pc:spChg>
        <pc:spChg chg="mod">
          <ac:chgData name="Julio César Iturra Sanhueza" userId="e2de3052-3501-452a-9806-eb4e3c41687c" providerId="ADAL" clId="{0DAA9FA8-BE77-4EA9-B591-74DF6F2D8488}" dt="2026-05-26T13:10:04.908" v="221" actId="1076"/>
          <ac:spMkLst>
            <pc:docMk/>
            <pc:sldMk cId="1540087267" sldId="331"/>
            <ac:spMk id="151" creationId="{B3F63DC5-FB35-720D-27B9-AED1265FF2BC}"/>
          </ac:spMkLst>
        </pc:spChg>
        <pc:spChg chg="mod">
          <ac:chgData name="Julio César Iturra Sanhueza" userId="e2de3052-3501-452a-9806-eb4e3c41687c" providerId="ADAL" clId="{0DAA9FA8-BE77-4EA9-B591-74DF6F2D8488}" dt="2026-05-26T13:10:04.908" v="221" actId="1076"/>
          <ac:spMkLst>
            <pc:docMk/>
            <pc:sldMk cId="1540087267" sldId="331"/>
            <ac:spMk id="152" creationId="{11051A16-D4F7-97B2-A815-85F4A3248B18}"/>
          </ac:spMkLst>
        </pc:spChg>
        <pc:spChg chg="mod">
          <ac:chgData name="Julio César Iturra Sanhueza" userId="e2de3052-3501-452a-9806-eb4e3c41687c" providerId="ADAL" clId="{0DAA9FA8-BE77-4EA9-B591-74DF6F2D8488}" dt="2026-05-26T13:10:04.908" v="221" actId="1076"/>
          <ac:spMkLst>
            <pc:docMk/>
            <pc:sldMk cId="1540087267" sldId="331"/>
            <ac:spMk id="153" creationId="{E94A0374-7267-3AE8-2B55-077F084619B7}"/>
          </ac:spMkLst>
        </pc:spChg>
        <pc:spChg chg="mod">
          <ac:chgData name="Julio César Iturra Sanhueza" userId="e2de3052-3501-452a-9806-eb4e3c41687c" providerId="ADAL" clId="{0DAA9FA8-BE77-4EA9-B591-74DF6F2D8488}" dt="2026-05-26T13:10:04.908" v="221" actId="1076"/>
          <ac:spMkLst>
            <pc:docMk/>
            <pc:sldMk cId="1540087267" sldId="331"/>
            <ac:spMk id="154" creationId="{28D87794-8C36-1948-2B81-318882BF1953}"/>
          </ac:spMkLst>
        </pc:spChg>
        <pc:spChg chg="mod">
          <ac:chgData name="Julio César Iturra Sanhueza" userId="e2de3052-3501-452a-9806-eb4e3c41687c" providerId="ADAL" clId="{0DAA9FA8-BE77-4EA9-B591-74DF6F2D8488}" dt="2026-05-26T13:09:21.557" v="142" actId="1076"/>
          <ac:spMkLst>
            <pc:docMk/>
            <pc:sldMk cId="1540087267" sldId="331"/>
            <ac:spMk id="166" creationId="{C5ACDC3A-B160-AF88-E140-78AF060802E9}"/>
          </ac:spMkLst>
        </pc:spChg>
        <pc:spChg chg="mod">
          <ac:chgData name="Julio César Iturra Sanhueza" userId="e2de3052-3501-452a-9806-eb4e3c41687c" providerId="ADAL" clId="{0DAA9FA8-BE77-4EA9-B591-74DF6F2D8488}" dt="2026-05-26T13:09:21.557" v="142" actId="1076"/>
          <ac:spMkLst>
            <pc:docMk/>
            <pc:sldMk cId="1540087267" sldId="331"/>
            <ac:spMk id="167" creationId="{ED8780EE-0043-8605-3A4A-708E396BBB70}"/>
          </ac:spMkLst>
        </pc:spChg>
        <pc:spChg chg="mod">
          <ac:chgData name="Julio César Iturra Sanhueza" userId="e2de3052-3501-452a-9806-eb4e3c41687c" providerId="ADAL" clId="{0DAA9FA8-BE77-4EA9-B591-74DF6F2D8488}" dt="2026-05-26T13:09:21.557" v="142" actId="1076"/>
          <ac:spMkLst>
            <pc:docMk/>
            <pc:sldMk cId="1540087267" sldId="331"/>
            <ac:spMk id="168" creationId="{FCC92AB8-3F79-BA70-25D3-37208A73C6F0}"/>
          </ac:spMkLst>
        </pc:spChg>
        <pc:spChg chg="mod">
          <ac:chgData name="Julio César Iturra Sanhueza" userId="e2de3052-3501-452a-9806-eb4e3c41687c" providerId="ADAL" clId="{0DAA9FA8-BE77-4EA9-B591-74DF6F2D8488}" dt="2026-05-26T13:09:21.557" v="142" actId="1076"/>
          <ac:spMkLst>
            <pc:docMk/>
            <pc:sldMk cId="1540087267" sldId="331"/>
            <ac:spMk id="169" creationId="{8DE604CE-DD94-5A3A-2FF1-76F4D49F7541}"/>
          </ac:spMkLst>
        </pc:spChg>
        <pc:spChg chg="mod">
          <ac:chgData name="Julio César Iturra Sanhueza" userId="e2de3052-3501-452a-9806-eb4e3c41687c" providerId="ADAL" clId="{0DAA9FA8-BE77-4EA9-B591-74DF6F2D8488}" dt="2026-05-26T13:09:21.557" v="142" actId="1076"/>
          <ac:spMkLst>
            <pc:docMk/>
            <pc:sldMk cId="1540087267" sldId="331"/>
            <ac:spMk id="170" creationId="{98D7A34D-C7A3-CD19-31FC-DA894198C1B7}"/>
          </ac:spMkLst>
        </pc:spChg>
        <pc:cxnChg chg="mod">
          <ac:chgData name="Julio César Iturra Sanhueza" userId="e2de3052-3501-452a-9806-eb4e3c41687c" providerId="ADAL" clId="{0DAA9FA8-BE77-4EA9-B591-74DF6F2D8488}" dt="2026-05-26T13:10:10.884" v="223" actId="14100"/>
          <ac:cxnSpMkLst>
            <pc:docMk/>
            <pc:sldMk cId="1540087267" sldId="331"/>
            <ac:cxnSpMk id="37" creationId="{FE374A57-0ED0-D0F3-8F05-97DE9342E27B}"/>
          </ac:cxnSpMkLst>
        </pc:cxnChg>
        <pc:cxnChg chg="mod">
          <ac:chgData name="Julio César Iturra Sanhueza" userId="e2de3052-3501-452a-9806-eb4e3c41687c" providerId="ADAL" clId="{0DAA9FA8-BE77-4EA9-B591-74DF6F2D8488}" dt="2026-05-26T13:10:04.908" v="221" actId="1076"/>
          <ac:cxnSpMkLst>
            <pc:docMk/>
            <pc:sldMk cId="1540087267" sldId="331"/>
            <ac:cxnSpMk id="146" creationId="{3C2DB7C9-5A2B-E113-602A-EF5237B3D97D}"/>
          </ac:cxnSpMkLst>
        </pc:cxnChg>
        <pc:cxnChg chg="mod">
          <ac:chgData name="Julio César Iturra Sanhueza" userId="e2de3052-3501-452a-9806-eb4e3c41687c" providerId="ADAL" clId="{0DAA9FA8-BE77-4EA9-B591-74DF6F2D8488}" dt="2026-05-26T13:10:21.099" v="226" actId="14100"/>
          <ac:cxnSpMkLst>
            <pc:docMk/>
            <pc:sldMk cId="1540087267" sldId="331"/>
            <ac:cxnSpMk id="173" creationId="{63AAC7F8-B920-457B-64B4-6D0EA7318616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0c865d1a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0c865d1a1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50a27e95c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250a27e95c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24f29664ea_1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24f29664ea_1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4f42fc18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24f42fc18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9AF5370A-49CC-2D23-3D88-80570855A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4f42fc18a_0_0:notes">
            <a:extLst>
              <a:ext uri="{FF2B5EF4-FFF2-40B4-BE49-F238E27FC236}">
                <a16:creationId xmlns:a16="http://schemas.microsoft.com/office/drawing/2014/main" id="{FBA9202B-635E-E2A3-FE1A-445CC1B44A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24f42fc18a_0_0:notes">
            <a:extLst>
              <a:ext uri="{FF2B5EF4-FFF2-40B4-BE49-F238E27FC236}">
                <a16:creationId xmlns:a16="http://schemas.microsoft.com/office/drawing/2014/main" id="{FB7DF570-FFA1-406A-E6EB-56395C0CF0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00854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24f42fc18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24f42fc18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0c865d1a12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0c865d1a12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45609BEB-9945-F238-AD07-72896E0F7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4f42fc18a_0_48:notes">
            <a:extLst>
              <a:ext uri="{FF2B5EF4-FFF2-40B4-BE49-F238E27FC236}">
                <a16:creationId xmlns:a16="http://schemas.microsoft.com/office/drawing/2014/main" id="{475D8A41-9AA2-35C5-1659-790B61811B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24f42fc18a_0_48:notes">
            <a:extLst>
              <a:ext uri="{FF2B5EF4-FFF2-40B4-BE49-F238E27FC236}">
                <a16:creationId xmlns:a16="http://schemas.microsoft.com/office/drawing/2014/main" id="{5CA1ABBA-A8FD-3221-AE67-4FD8C71C15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0061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31F7CDB9-176E-ABC7-A339-BAE1674C1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4f42fc18a_0_48:notes">
            <a:extLst>
              <a:ext uri="{FF2B5EF4-FFF2-40B4-BE49-F238E27FC236}">
                <a16:creationId xmlns:a16="http://schemas.microsoft.com/office/drawing/2014/main" id="{8FD18108-AB28-1160-FFDB-1FC79926CA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24f42fc18a_0_48:notes">
            <a:extLst>
              <a:ext uri="{FF2B5EF4-FFF2-40B4-BE49-F238E27FC236}">
                <a16:creationId xmlns:a16="http://schemas.microsoft.com/office/drawing/2014/main" id="{3A0294C7-5504-4695-C40D-15ABB6CEE6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5117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0c865d1a12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0c865d1a12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Char char="-"/>
            </a:pPr>
            <a:endParaRPr sz="1200" i="1">
              <a:solidFill>
                <a:srgbClr val="333333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24f42fc18a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24f42fc18a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24f42fc18a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24f42fc18a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c865d1a12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c865d1a12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3e8f039492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3e8f039492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>
          <a:extLst>
            <a:ext uri="{FF2B5EF4-FFF2-40B4-BE49-F238E27FC236}">
              <a16:creationId xmlns:a16="http://schemas.microsoft.com/office/drawing/2014/main" id="{8581A192-DF47-3161-1811-724541D44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c865d1a12_0_82:notes">
            <a:extLst>
              <a:ext uri="{FF2B5EF4-FFF2-40B4-BE49-F238E27FC236}">
                <a16:creationId xmlns:a16="http://schemas.microsoft.com/office/drawing/2014/main" id="{2F04CA18-F034-9F08-D787-EF4FE06178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c865d1a12_0_82:notes">
            <a:extLst>
              <a:ext uri="{FF2B5EF4-FFF2-40B4-BE49-F238E27FC236}">
                <a16:creationId xmlns:a16="http://schemas.microsoft.com/office/drawing/2014/main" id="{165652AA-D468-4B34-0983-DA6ED50CB9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99801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24f42fc18a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24f42fc18a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0c865d1a12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0c865d1a12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24f94906c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24f94906c7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24f29664ea_1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24f29664ea_1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24f29664ea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324f29664ea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B3906AFF-6B8A-3434-F43E-CC963ED79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4f42fc18a_0_48:notes">
            <a:extLst>
              <a:ext uri="{FF2B5EF4-FFF2-40B4-BE49-F238E27FC236}">
                <a16:creationId xmlns:a16="http://schemas.microsoft.com/office/drawing/2014/main" id="{D5BB3E5F-B5CC-720E-F481-6A97DFAAD7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24f42fc18a_0_48:notes">
            <a:extLst>
              <a:ext uri="{FF2B5EF4-FFF2-40B4-BE49-F238E27FC236}">
                <a16:creationId xmlns:a16="http://schemas.microsoft.com/office/drawing/2014/main" id="{6AEE11F9-A974-1D88-E4AA-DEB7528424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97040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5ED74D1A-B8A6-E8FF-3B79-6516F0843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4f42fc18a_0_48:notes">
            <a:extLst>
              <a:ext uri="{FF2B5EF4-FFF2-40B4-BE49-F238E27FC236}">
                <a16:creationId xmlns:a16="http://schemas.microsoft.com/office/drawing/2014/main" id="{8D622629-DD86-5F2F-A17F-57D114878B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24f42fc18a_0_48:notes">
            <a:extLst>
              <a:ext uri="{FF2B5EF4-FFF2-40B4-BE49-F238E27FC236}">
                <a16:creationId xmlns:a16="http://schemas.microsoft.com/office/drawing/2014/main" id="{6B5161C2-B9B7-480E-CB5D-E220224491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00948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5804F83E-A849-FE17-D58B-79BDEA2C4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4f42fc18a_0_48:notes">
            <a:extLst>
              <a:ext uri="{FF2B5EF4-FFF2-40B4-BE49-F238E27FC236}">
                <a16:creationId xmlns:a16="http://schemas.microsoft.com/office/drawing/2014/main" id="{3DE8FAB6-3F1E-2947-F46D-4FAC8990EB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24f42fc18a_0_48:notes">
            <a:extLst>
              <a:ext uri="{FF2B5EF4-FFF2-40B4-BE49-F238E27FC236}">
                <a16:creationId xmlns:a16="http://schemas.microsoft.com/office/drawing/2014/main" id="{81BEA6E9-0A72-D9DD-1ECE-6651824105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1476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spd="med"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0" y="744575"/>
            <a:ext cx="91293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/>
            <a:br>
              <a:rPr lang="en-US" sz="2900" noProof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900" noProof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-ES" sz="2900" dirty="0">
                <a:latin typeface="Times New Roman"/>
                <a:ea typeface="Times New Roman"/>
                <a:cs typeface="Times New Roman"/>
                <a:sym typeface="Times New Roman"/>
              </a:rPr>
              <a:t>Características de los grupos sociales y cohesión social: Evidencia de un Experimento de Encuesta Factorial Comparativa en Chile y Alemania</a:t>
            </a:r>
            <a:br>
              <a:rPr lang="en-US" sz="2900" noProof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100" i="1" dirty="0">
                <a:latin typeface="Times New Roman"/>
                <a:ea typeface="Times New Roman"/>
                <a:cs typeface="Times New Roman"/>
                <a:sym typeface="Times New Roman"/>
              </a:rPr>
              <a:t>Social Groups </a:t>
            </a:r>
            <a:r>
              <a:rPr lang="en-US" sz="1100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Composition and Social Cohesion: Evidence from a Comparative Factorial Survey Experiment in Chile and Germany</a:t>
            </a:r>
            <a:endParaRPr lang="en-US" sz="2900" i="1" noProof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7650"/>
            <a:ext cx="1719073" cy="85953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100" y="2797175"/>
            <a:ext cx="91293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800" noProof="0" dirty="0">
                <a:latin typeface="Times New Roman"/>
                <a:ea typeface="Times New Roman"/>
                <a:cs typeface="Times New Roman"/>
                <a:sym typeface="Times New Roman"/>
              </a:rPr>
              <a:t>Julio Iturra-Sanhueza</a:t>
            </a:r>
            <a:br>
              <a:rPr lang="en-US" sz="1200" noProof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200" noProof="0" dirty="0">
                <a:latin typeface="Times New Roman"/>
                <a:ea typeface="Times New Roman"/>
                <a:cs typeface="Times New Roman"/>
                <a:sym typeface="Times New Roman"/>
              </a:rPr>
              <a:t>Bremen International Graduate School of Social Sciences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200" b="1" noProof="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Santiago de Chile, 2025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US" sz="1200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935"/>
            </a:pPr>
            <a:r>
              <a:rPr lang="en-US" sz="1200" b="1" noProof="0" dirty="0">
                <a:latin typeface="Times New Roman"/>
                <a:ea typeface="Times New Roman"/>
                <a:cs typeface="Times New Roman"/>
                <a:sym typeface="Times New Roman"/>
              </a:rPr>
              <a:t>Supervisors:</a:t>
            </a:r>
            <a:br>
              <a:rPr lang="en-US" sz="1200" b="1" noProof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200" noProof="0" dirty="0">
                <a:latin typeface="Times New Roman"/>
                <a:ea typeface="Times New Roman"/>
                <a:cs typeface="Times New Roman"/>
                <a:sym typeface="Times New Roman"/>
              </a:rPr>
              <a:t>Dr. Patrick </a:t>
            </a:r>
            <a:r>
              <a:rPr lang="en-US" sz="1200" noProof="0" dirty="0" err="1">
                <a:latin typeface="Times New Roman"/>
                <a:ea typeface="Times New Roman"/>
                <a:cs typeface="Times New Roman"/>
                <a:sym typeface="Times New Roman"/>
              </a:rPr>
              <a:t>Sachweh</a:t>
            </a:r>
            <a:r>
              <a:rPr lang="en-US" sz="1200" noProof="0" dirty="0">
                <a:latin typeface="Times New Roman"/>
                <a:ea typeface="Times New Roman"/>
                <a:cs typeface="Times New Roman"/>
                <a:sym typeface="Times New Roman"/>
              </a:rPr>
              <a:t> (U. Bremen)</a:t>
            </a:r>
            <a:br>
              <a:rPr lang="en-US" sz="1200" noProof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200" noProof="0" dirty="0">
                <a:latin typeface="Times New Roman"/>
                <a:ea typeface="Times New Roman"/>
                <a:cs typeface="Times New Roman"/>
                <a:sym typeface="Times New Roman"/>
              </a:rPr>
              <a:t>Dr. Olaf Groh-Samberg (U. Bremen)</a:t>
            </a:r>
          </a:p>
          <a:p>
            <a:pPr marL="0" lvl="0" indent="0">
              <a:buSzPts val="935"/>
            </a:pPr>
            <a:r>
              <a:rPr lang="en-US" sz="1200" noProof="0" dirty="0">
                <a:latin typeface="Times New Roman"/>
                <a:ea typeface="Times New Roman"/>
                <a:cs typeface="Times New Roman"/>
                <a:sym typeface="Times New Roman"/>
              </a:rPr>
              <a:t>Dr. Simone Schneider (U. Pompeu Fabra)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US" sz="1200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US" sz="1200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US" sz="690" noProof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4">
            <a:alphaModFix/>
          </a:blip>
          <a:srcRect l="225222" t="-195420" r="-166809" b="195420"/>
          <a:stretch/>
        </p:blipFill>
        <p:spPr>
          <a:xfrm>
            <a:off x="6286153" y="148950"/>
            <a:ext cx="1153377" cy="9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3047" y="59738"/>
            <a:ext cx="2158928" cy="9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025" y="333063"/>
            <a:ext cx="1864023" cy="4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2</a:t>
            </a:fld>
            <a:endParaRPr lang="en-US" noProof="0" dirty="0"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 err="1">
                <a:latin typeface="Georgia"/>
                <a:ea typeface="Georgia"/>
                <a:cs typeface="Georgia"/>
                <a:sym typeface="Georgia"/>
              </a:rPr>
              <a:t>Colaboración</a:t>
            </a:r>
            <a:r>
              <a:rPr lang="en-US" noProof="0" dirty="0">
                <a:latin typeface="Georgia"/>
                <a:ea typeface="Georgia"/>
                <a:cs typeface="Georgia"/>
                <a:sym typeface="Georgia"/>
              </a:rPr>
              <a:t> </a:t>
            </a:r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16" y="1575050"/>
            <a:ext cx="4065258" cy="162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 rotWithShape="1">
          <a:blip r:embed="rId4">
            <a:alphaModFix/>
          </a:blip>
          <a:srcRect t="23849" b="26524"/>
          <a:stretch/>
        </p:blipFill>
        <p:spPr>
          <a:xfrm>
            <a:off x="5495000" y="1673663"/>
            <a:ext cx="3274749" cy="162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3600" y="2398338"/>
            <a:ext cx="924675" cy="9246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925525" y="3323000"/>
            <a:ext cx="31863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Germany </a:t>
            </a:r>
            <a: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(U. Bremen)</a:t>
            </a:r>
            <a:b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Dr. Olaf Groh-Samberg</a:t>
            </a:r>
            <a:b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Jean-Yves Gerlitz</a:t>
            </a:r>
            <a:b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Nils </a:t>
            </a:r>
            <a:r>
              <a:rPr lang="en-US" sz="1800" noProof="0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Teichler</a:t>
            </a:r>
            <a: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Anne Speer</a:t>
            </a:r>
          </a:p>
        </p:txBody>
      </p:sp>
      <p:sp>
        <p:nvSpPr>
          <p:cNvPr id="90" name="Google Shape;90;p16"/>
          <p:cNvSpPr txBox="1"/>
          <p:nvPr/>
        </p:nvSpPr>
        <p:spPr>
          <a:xfrm>
            <a:off x="5651775" y="3323000"/>
            <a:ext cx="28206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Chile </a:t>
            </a:r>
            <a: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(U. de Chile)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Dr. Juan C. Castillo </a:t>
            </a:r>
            <a:b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Kevin Carrasco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Andreas </a:t>
            </a:r>
            <a:r>
              <a:rPr lang="en-US" sz="1800" noProof="0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Laffert</a:t>
            </a:r>
            <a:endParaRPr lang="en-US" sz="1800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4213600" y="4061900"/>
            <a:ext cx="736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</a:t>
            </a:r>
            <a:endParaRPr lang="en-US" sz="2400" noProof="0" dirty="0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311700" y="4703625"/>
            <a:ext cx="8124900" cy="1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s-ES" dirty="0"/>
              <a:t>Visiones teóricas sobre la cohesión social</a:t>
            </a:r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418830F-FF44-929D-DA5F-46010DF7C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>
            <a:noAutofit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Puede ser entendida como un estado de las cosas relativo a las interacciones:</a:t>
            </a:r>
          </a:p>
          <a:p>
            <a:pPr marL="171450" indent="-171450">
              <a:spcBef>
                <a:spcPts val="1200"/>
              </a:spcBef>
            </a:pP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verticales 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(entre el </a:t>
            </a: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Estado y sus ciudadanos y sus organizaciones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lang="es-ES" sz="1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indent="-171450">
              <a:spcBef>
                <a:spcPts val="1200"/>
              </a:spcBef>
            </a:pP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horizontales 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(entre </a:t>
            </a: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individuos y grupos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 de la sociedad),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(…) caracterizado por un conjunto de actitudes y normas que incluyen la </a:t>
            </a: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confianza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, el sentimiento de </a:t>
            </a: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pertenencia 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y la voluntad de </a:t>
            </a: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participar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 y </a:t>
            </a: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ayudar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, así como sus manifestaciones conductuales </a:t>
            </a:r>
            <a:r>
              <a:rPr lang="en-US" sz="1100"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Chan, To, &amp; Chan, 2006</a:t>
            </a:r>
            <a:r>
              <a:rPr lang="en-US" sz="1100" dirty="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La identificación de intereses, metas y valores en común y en conflicto da pie a la identificación de oportunidades de </a:t>
            </a: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cooperación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 motivadas por lazos de </a:t>
            </a: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confianza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 y al apoyo dentro de su </a:t>
            </a: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comunidad 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local o nacional </a:t>
            </a:r>
            <a:r>
              <a:rPr lang="en-US" sz="1100"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Green &amp; Janmaat, 2011</a:t>
            </a:r>
            <a:r>
              <a:rPr lang="en-US" sz="1100" dirty="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</a:p>
          <a:p>
            <a:pPr marL="0" lvl="0" indent="0">
              <a:spcBef>
                <a:spcPts val="1200"/>
              </a:spcBef>
              <a:buNone/>
            </a:pPr>
            <a:endParaRPr lang="en-US" sz="11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356A59C-94E3-0BBD-F7C4-6ECADA1D0AD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fontScale="77500" lnSpcReduction="20000"/>
          </a:bodyPr>
          <a:lstStyle/>
          <a:p>
            <a:pPr marL="139700" indent="0">
              <a:buNone/>
            </a:pP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Adicionalmente, estas expresiones actitudinales y conductuales contribuyen a la formación de medios (entornos o ambientes) sociales o </a:t>
            </a:r>
            <a:r>
              <a:rPr lang="es-ES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milieus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entendidos como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39700" indent="0">
              <a:buNone/>
            </a:pP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r">
              <a:buNone/>
            </a:pP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(…) grandes </a:t>
            </a:r>
            <a:r>
              <a:rPr lang="es-E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grupos latentes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definidos por una combinación de posición </a:t>
            </a:r>
            <a:r>
              <a:rPr lang="es-E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socioeconómica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(estratificación vertical) y </a:t>
            </a:r>
            <a:r>
              <a:rPr lang="es-E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valores culturales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compartidos (espacio de valores horizontal) </a:t>
            </a:r>
          </a:p>
          <a:p>
            <a:pPr marL="139700" indent="0" algn="r">
              <a:buNone/>
            </a:pP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CL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Groh-Samberg</a:t>
            </a:r>
            <a:r>
              <a:rPr lang="es-CL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al., 2023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>
              <a:buNone/>
            </a:pP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esta perspectiva, los individuos se encuentran integrados en </a:t>
            </a:r>
            <a:r>
              <a:rPr lang="es-E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milieus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los </a:t>
            </a:r>
            <a:r>
              <a:rPr lang="es-E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milieus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integran (más o menos) en la sociedad.  </a:t>
            </a:r>
          </a:p>
          <a:p>
            <a:pPr marL="139700" indent="0">
              <a:buNone/>
            </a:pP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Cohesión interna del</a:t>
            </a:r>
            <a:r>
              <a:rPr lang="es-E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milieu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la similitud de condiciones y valores favorece la confianza, la conformidad, el consenso y la cooperación.</a:t>
            </a:r>
            <a:b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Cohesión </a:t>
            </a:r>
            <a:r>
              <a:rPr lang="es-E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 </a:t>
            </a:r>
            <a:r>
              <a:rPr lang="es-ES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milieus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los vínculos entre grupos, la movilidad y las instituciones que gestionan las desigualdades y los conflictos de valores mantienen los medios conectados y el conflicto contenido. </a:t>
            </a:r>
          </a:p>
          <a:p>
            <a:pPr marL="139700" indent="0">
              <a:buNone/>
            </a:pP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Google Shape;98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3</a:t>
            </a:fld>
            <a:endParaRPr lang="en-US" noProof="0" dirty="0"/>
          </a:p>
        </p:txBody>
      </p:sp>
    </p:spTree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noProof="0" dirty="0" err="1">
                <a:latin typeface="Georgia" panose="02040502050405020303" pitchFamily="18" charset="0"/>
              </a:rPr>
              <a:t>Fuerzas</a:t>
            </a:r>
            <a:r>
              <a:rPr lang="en-US" sz="2400" noProof="0" dirty="0">
                <a:latin typeface="Georgia" panose="02040502050405020303" pitchFamily="18" charset="0"/>
              </a:rPr>
              <a:t> </a:t>
            </a:r>
            <a:r>
              <a:rPr lang="en-US" sz="2400" noProof="0" dirty="0" err="1">
                <a:latin typeface="Georgia" panose="02040502050405020303" pitchFamily="18" charset="0"/>
              </a:rPr>
              <a:t>promotoras</a:t>
            </a:r>
            <a:r>
              <a:rPr lang="en-US" sz="2400" noProof="0" dirty="0">
                <a:latin typeface="Georgia" panose="02040502050405020303" pitchFamily="18" charset="0"/>
              </a:rPr>
              <a:t> e </a:t>
            </a:r>
            <a:r>
              <a:rPr lang="en-US" sz="2400" noProof="0" dirty="0" err="1">
                <a:latin typeface="Georgia" panose="02040502050405020303" pitchFamily="18" charset="0"/>
              </a:rPr>
              <a:t>inhibidoras</a:t>
            </a:r>
            <a:r>
              <a:rPr lang="en-US" sz="2400" noProof="0" dirty="0">
                <a:latin typeface="Georgia" panose="02040502050405020303" pitchFamily="18" charset="0"/>
              </a:rPr>
              <a:t> de la </a:t>
            </a:r>
            <a:r>
              <a:rPr lang="en-US" sz="2400" noProof="0" dirty="0" err="1">
                <a:latin typeface="Georgia" panose="02040502050405020303" pitchFamily="18" charset="0"/>
              </a:rPr>
              <a:t>cohesi</a:t>
            </a:r>
            <a:r>
              <a:rPr lang="en-US" sz="2400" dirty="0" err="1">
                <a:latin typeface="Georgia" panose="02040502050405020303" pitchFamily="18" charset="0"/>
              </a:rPr>
              <a:t>ón</a:t>
            </a:r>
            <a:endParaRPr lang="en-US" sz="2400" noProof="0" dirty="0">
              <a:latin typeface="Georgia" panose="02040502050405020303" pitchFamily="18" charset="0"/>
            </a:endParaRPr>
          </a:p>
        </p:txBody>
      </p:sp>
      <p:sp>
        <p:nvSpPr>
          <p:cNvPr id="107" name="Google Shape;107;p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1200" b="1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Dominio </a:t>
            </a:r>
            <a:r>
              <a:rPr lang="en-US" sz="1200" b="1" dirty="0" err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socioeconómico</a:t>
            </a:r>
            <a:r>
              <a:rPr lang="en-US" sz="1200" b="1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indent="-298450">
              <a:spcBef>
                <a:spcPts val="1200"/>
              </a:spcBef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El </a:t>
            </a:r>
            <a:r>
              <a:rPr lang="en-US" sz="110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sostiene</a:t>
            </a:r>
            <a:r>
              <a:rPr lang="en-US" sz="11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10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que</a:t>
            </a:r>
            <a:r>
              <a:rPr lang="en-US" sz="11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la </a:t>
            </a:r>
            <a:r>
              <a:rPr lang="en-US" sz="110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desigualdad</a:t>
            </a:r>
            <a:r>
              <a:rPr lang="en-US" sz="11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10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económica</a:t>
            </a:r>
            <a:r>
              <a:rPr lang="en-US" sz="11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es “</a:t>
            </a:r>
            <a:r>
              <a:rPr lang="en-US" sz="110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corrosiva</a:t>
            </a:r>
            <a:r>
              <a:rPr lang="en-US" sz="11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” para la </a:t>
            </a:r>
            <a:r>
              <a:rPr lang="en-US" sz="110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cohesión</a:t>
            </a:r>
            <a:r>
              <a:rPr lang="en-US" sz="11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social </a:t>
            </a: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CL" sz="11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Delhey</a:t>
            </a:r>
            <a:r>
              <a:rPr lang="es-CL" sz="11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al., 2023</a:t>
            </a: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s-ES" sz="11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. En este contexto, una mayor </a:t>
            </a:r>
            <a:r>
              <a:rPr lang="es-E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disposición a esfuerzos colectivos suele explicarse por una mayor confianza social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100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Diprete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Gelman, </a:t>
            </a:r>
            <a:r>
              <a:rPr lang="en-US" sz="1100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Mccormick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Teitler, &amp; Zheng, 2011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 </a:t>
            </a:r>
          </a:p>
          <a:p>
            <a:pPr indent="-298450">
              <a:spcBef>
                <a:spcPts val="1200"/>
              </a:spcBef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Diferencias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1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socioeconómicas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1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verticales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11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pueden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E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trazar fronteras simbólicas de "respetabilidad" y "distinción" (</a:t>
            </a:r>
            <a:r>
              <a:rPr lang="es-ES" sz="1100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Groh-Samberg</a:t>
            </a:r>
            <a:r>
              <a:rPr lang="es-E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et al., 2023, p. 315</a:t>
            </a:r>
            <a:r>
              <a:rPr lang="es-E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b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8450">
              <a:buSzPts val="1100"/>
              <a:buFont typeface="Times New Roman"/>
              <a:buChar char="●"/>
            </a:pPr>
            <a:r>
              <a:rPr lang="es-E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nivel individual, el nivel socioeconómico (NSE) se asocia a menores riesgos percibidos en situaciones de intercambio, lo cual explicaría una mayor disposición a confiar en otros 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Fiske &amp; Markus, 2012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 Como </a:t>
            </a:r>
            <a:r>
              <a:rPr lang="en-US" sz="11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contrapartes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11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cooperación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s-CL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personas de NSE alto (credenciales e ingresos) son </a:t>
            </a:r>
            <a:r>
              <a:rPr lang="es-E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percibidas como más competentes, en contraste con individuos de menor NSE 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Salgado, Núñez, &amp; Mackenna, 2021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b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8450">
              <a:buSzPts val="1100"/>
              <a:buFont typeface="Times New Roman"/>
              <a:buChar char="●"/>
            </a:pPr>
            <a:endParaRPr lang="en-US"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8450">
              <a:buSzPts val="1100"/>
              <a:buFont typeface="Times New Roman"/>
              <a:buChar char="●"/>
            </a:pPr>
            <a:endParaRPr lang="en-US"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58750" lvl="0" indent="0">
              <a:buSzPts val="1100"/>
              <a:buNone/>
            </a:pPr>
            <a:endParaRPr lang="en-US"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8450">
              <a:buSzPts val="1100"/>
              <a:buFont typeface="Times New Roman"/>
              <a:buChar char="●"/>
            </a:pPr>
            <a:endParaRPr lang="en-US" sz="1100" noProof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4</a:t>
            </a:fld>
            <a:endParaRPr lang="en-US" noProof="0" dirty="0"/>
          </a:p>
        </p:txBody>
      </p:sp>
      <p:pic>
        <p:nvPicPr>
          <p:cNvPr id="2050" name="Picture 2" descr="15,000+ Social Ladder Stock Photos, Pictures &amp; Royalty-Free Images - iStock  | Upward mobility, Social class, Middle class">
            <a:extLst>
              <a:ext uri="{FF2B5EF4-FFF2-40B4-BE49-F238E27FC236}">
                <a16:creationId xmlns:a16="http://schemas.microsoft.com/office/drawing/2014/main" id="{03D25B9A-A3B7-A20B-7E6F-F9A19824D5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9849" y="1623136"/>
            <a:ext cx="3996959" cy="285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C961F500-3D24-1743-4A70-8BB8869A6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>
            <a:extLst>
              <a:ext uri="{FF2B5EF4-FFF2-40B4-BE49-F238E27FC236}">
                <a16:creationId xmlns:a16="http://schemas.microsoft.com/office/drawing/2014/main" id="{7939FD2E-A09A-2BD1-43B6-4FB8B8E3A2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noProof="0" dirty="0" err="1">
                <a:latin typeface="Georgia" panose="02040502050405020303" pitchFamily="18" charset="0"/>
              </a:rPr>
              <a:t>Fuerzas</a:t>
            </a:r>
            <a:r>
              <a:rPr lang="en-US" sz="2400" noProof="0" dirty="0">
                <a:latin typeface="Georgia" panose="02040502050405020303" pitchFamily="18" charset="0"/>
              </a:rPr>
              <a:t> </a:t>
            </a:r>
            <a:r>
              <a:rPr lang="en-US" sz="2400" noProof="0" dirty="0" err="1">
                <a:latin typeface="Georgia" panose="02040502050405020303" pitchFamily="18" charset="0"/>
              </a:rPr>
              <a:t>promotoras</a:t>
            </a:r>
            <a:r>
              <a:rPr lang="en-US" sz="2400" noProof="0" dirty="0">
                <a:latin typeface="Georgia" panose="02040502050405020303" pitchFamily="18" charset="0"/>
              </a:rPr>
              <a:t> e </a:t>
            </a:r>
            <a:r>
              <a:rPr lang="en-US" sz="2400" noProof="0" dirty="0" err="1">
                <a:latin typeface="Georgia" panose="02040502050405020303" pitchFamily="18" charset="0"/>
              </a:rPr>
              <a:t>inhibidoras</a:t>
            </a:r>
            <a:r>
              <a:rPr lang="en-US" sz="2400" noProof="0" dirty="0">
                <a:latin typeface="Georgia" panose="02040502050405020303" pitchFamily="18" charset="0"/>
              </a:rPr>
              <a:t> de la </a:t>
            </a:r>
            <a:r>
              <a:rPr lang="en-US" sz="2400" noProof="0" dirty="0" err="1">
                <a:latin typeface="Georgia" panose="02040502050405020303" pitchFamily="18" charset="0"/>
              </a:rPr>
              <a:t>cohesi</a:t>
            </a:r>
            <a:r>
              <a:rPr lang="en-US" sz="2400" dirty="0" err="1">
                <a:latin typeface="Georgia" panose="02040502050405020303" pitchFamily="18" charset="0"/>
              </a:rPr>
              <a:t>ón</a:t>
            </a:r>
            <a:endParaRPr lang="en-US" sz="2400" noProof="0" dirty="0">
              <a:latin typeface="Georgia" panose="02040502050405020303" pitchFamily="18" charset="0"/>
            </a:endParaRPr>
          </a:p>
        </p:txBody>
      </p:sp>
      <p:sp>
        <p:nvSpPr>
          <p:cNvPr id="108" name="Google Shape;108;p18">
            <a:extLst>
              <a:ext uri="{FF2B5EF4-FFF2-40B4-BE49-F238E27FC236}">
                <a16:creationId xmlns:a16="http://schemas.microsoft.com/office/drawing/2014/main" id="{658919AC-4F98-154C-0EAE-81BE0C3C67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900" noProof="0" smtClean="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5</a:t>
            </a:fld>
            <a:endParaRPr lang="en-US" sz="900" noProof="0"/>
          </a:p>
        </p:txBody>
      </p:sp>
      <p:sp>
        <p:nvSpPr>
          <p:cNvPr id="107" name="Google Shape;107;p18">
            <a:extLst>
              <a:ext uri="{FF2B5EF4-FFF2-40B4-BE49-F238E27FC236}">
                <a16:creationId xmlns:a16="http://schemas.microsoft.com/office/drawing/2014/main" id="{E6DC0880-9666-42CC-0754-F83289A8787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62500" y="1208225"/>
            <a:ext cx="4069800" cy="3264408"/>
          </a:xfrm>
        </p:spPr>
        <p:txBody>
          <a:bodyPr spcFirstLastPara="1" lIns="91425" tIns="91425" rIns="91425" bIns="91425" anchor="t" anchorCtr="0">
            <a:normAutofit fontScale="92500" lnSpcReduction="20000"/>
          </a:bodyPr>
          <a:lstStyle/>
          <a:p>
            <a:pPr marL="0" lvl="0" indent="0">
              <a:buNone/>
            </a:pPr>
            <a:r>
              <a:rPr lang="en-US" sz="1200" b="1" dirty="0" err="1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Dimensión</a:t>
            </a:r>
            <a:r>
              <a:rPr lang="en-US" sz="1200" b="1" dirty="0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1200" b="1" dirty="0" err="1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valores</a:t>
            </a:r>
            <a:endParaRPr lang="en-US" sz="1200" b="1" dirty="0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8450">
              <a:lnSpc>
                <a:spcPct val="100000"/>
              </a:lnSpc>
              <a:spcBef>
                <a:spcPts val="1200"/>
              </a:spcBef>
              <a:buSzPts val="1100"/>
              <a:buFont typeface="Times New Roman"/>
              <a:buChar char="●"/>
            </a:pPr>
            <a:r>
              <a:rPr lang="es-ES" sz="1200" dirty="0">
                <a:latin typeface="Times New Roman"/>
                <a:ea typeface="Times New Roman"/>
                <a:cs typeface="Times New Roman"/>
                <a:sym typeface="Times New Roman"/>
              </a:rPr>
              <a:t>En sociedades con mayor homogeneidad de valores muestran mayores niveles de confianza social, sugiriendo que objetivos comunes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se </a:t>
            </a:r>
            <a:r>
              <a:rPr lang="en-US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ven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promovidos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por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la </a:t>
            </a:r>
            <a:r>
              <a:rPr lang="en-US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similitud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en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la </a:t>
            </a:r>
            <a:r>
              <a:rPr lang="en-US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orientación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valórica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200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Uslaner</a:t>
            </a:r>
            <a:r>
              <a:rPr lang="en-US" sz="12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&amp; Brown, 2005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b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1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8450">
              <a:lnSpc>
                <a:spcPct val="100000"/>
              </a:lnSpc>
              <a:buSzPts val="1100"/>
            </a:pPr>
            <a:r>
              <a:rPr lang="es-ES" sz="1200" dirty="0">
                <a:latin typeface="Times New Roman"/>
                <a:ea typeface="Times New Roman"/>
                <a:cs typeface="Times New Roman"/>
                <a:sym typeface="Times New Roman"/>
              </a:rPr>
              <a:t>Según la teoría de los </a:t>
            </a:r>
            <a:r>
              <a:rPr lang="es-ES" sz="1200" b="1" dirty="0">
                <a:latin typeface="Times New Roman"/>
                <a:ea typeface="Times New Roman"/>
                <a:cs typeface="Times New Roman"/>
                <a:sym typeface="Times New Roman"/>
              </a:rPr>
              <a:t>valores humanos básicos</a:t>
            </a:r>
            <a:r>
              <a:rPr lang="es-ES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(Schwartz, </a:t>
            </a:r>
            <a:r>
              <a:rPr lang="en-US" sz="12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1992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), </a:t>
            </a:r>
            <a:r>
              <a:rPr lang="en-US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los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valores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ES" sz="1200" dirty="0">
                <a:latin typeface="Times New Roman"/>
                <a:ea typeface="Times New Roman"/>
                <a:cs typeface="Times New Roman"/>
                <a:sym typeface="Times New Roman"/>
              </a:rPr>
              <a:t>pueden dividirse en </a:t>
            </a:r>
            <a:r>
              <a:rPr lang="es-ES" sz="1200" b="1" dirty="0">
                <a:latin typeface="Times New Roman"/>
                <a:ea typeface="Times New Roman"/>
                <a:cs typeface="Times New Roman"/>
                <a:sym typeface="Times New Roman"/>
              </a:rPr>
              <a:t>cuatro valores</a:t>
            </a:r>
            <a:r>
              <a:rPr lang="es-ES" sz="1200" dirty="0">
                <a:latin typeface="Times New Roman"/>
                <a:ea typeface="Times New Roman"/>
                <a:cs typeface="Times New Roman"/>
                <a:sym typeface="Times New Roman"/>
              </a:rPr>
              <a:t> de orden superior en conflicto:</a:t>
            </a:r>
            <a:br>
              <a:rPr lang="es-ES" sz="12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lvl="1" indent="-298450">
              <a:lnSpc>
                <a:spcPct val="100000"/>
              </a:lnSpc>
              <a:buSzPts val="1100"/>
            </a:pPr>
            <a:r>
              <a:rPr lang="es-ES" sz="1000" b="1" dirty="0" err="1">
                <a:latin typeface="Times New Roman"/>
                <a:ea typeface="Times New Roman"/>
                <a:cs typeface="Times New Roman"/>
                <a:sym typeface="Times New Roman"/>
              </a:rPr>
              <a:t>Auto-trascendencia</a:t>
            </a:r>
            <a:r>
              <a:rPr lang="es-ES" sz="1000" dirty="0">
                <a:latin typeface="Times New Roman"/>
                <a:ea typeface="Times New Roman"/>
                <a:cs typeface="Times New Roman"/>
                <a:sym typeface="Times New Roman"/>
              </a:rPr>
              <a:t> (universalismo, benevolencia) </a:t>
            </a:r>
            <a:br>
              <a:rPr lang="es-ES" sz="1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-ES" sz="1000" dirty="0">
                <a:latin typeface="Times New Roman"/>
                <a:ea typeface="Times New Roman"/>
                <a:cs typeface="Times New Roman"/>
                <a:sym typeface="Times New Roman"/>
              </a:rPr>
              <a:t>vs. </a:t>
            </a:r>
            <a:r>
              <a:rPr lang="es-ES" sz="1000" b="1" dirty="0" err="1">
                <a:latin typeface="Times New Roman"/>
                <a:ea typeface="Times New Roman"/>
                <a:cs typeface="Times New Roman"/>
                <a:sym typeface="Times New Roman"/>
              </a:rPr>
              <a:t>auto-promoción</a:t>
            </a:r>
            <a:r>
              <a:rPr lang="es-ES" sz="10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ES" sz="1000" dirty="0">
                <a:latin typeface="Times New Roman"/>
                <a:ea typeface="Times New Roman"/>
                <a:cs typeface="Times New Roman"/>
                <a:sym typeface="Times New Roman"/>
              </a:rPr>
              <a:t>(logro, poder, placer)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</a:p>
          <a:p>
            <a:pPr lvl="1" indent="-298450">
              <a:lnSpc>
                <a:spcPct val="100000"/>
              </a:lnSpc>
              <a:buSzPts val="1100"/>
            </a:pPr>
            <a:endParaRPr lang="en-US" sz="1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1" indent="-298450">
              <a:lnSpc>
                <a:spcPct val="100000"/>
              </a:lnSpc>
              <a:buSzPts val="1100"/>
            </a:pPr>
            <a:r>
              <a:rPr lang="en-US" sz="1000" b="1" dirty="0">
                <a:latin typeface="Times New Roman"/>
                <a:ea typeface="Times New Roman"/>
                <a:cs typeface="Times New Roman"/>
                <a:sym typeface="Times New Roman"/>
              </a:rPr>
              <a:t>Apertura al </a:t>
            </a:r>
            <a:r>
              <a:rPr lang="en-US" sz="1000" b="1" dirty="0" err="1">
                <a:latin typeface="Times New Roman"/>
                <a:ea typeface="Times New Roman"/>
                <a:cs typeface="Times New Roman"/>
                <a:sym typeface="Times New Roman"/>
              </a:rPr>
              <a:t>cambio</a:t>
            </a:r>
            <a:r>
              <a:rPr lang="en-US" sz="10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000" dirty="0" err="1">
                <a:latin typeface="Times New Roman"/>
                <a:ea typeface="Times New Roman"/>
                <a:cs typeface="Times New Roman"/>
                <a:sym typeface="Times New Roman"/>
              </a:rPr>
              <a:t>estimulación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000" dirty="0" err="1">
                <a:latin typeface="Times New Roman"/>
                <a:ea typeface="Times New Roman"/>
                <a:cs typeface="Times New Roman"/>
                <a:sym typeface="Times New Roman"/>
              </a:rPr>
              <a:t>creatividad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b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vs. </a:t>
            </a:r>
            <a:r>
              <a:rPr lang="en-US" sz="1000" b="1" dirty="0">
                <a:latin typeface="Times New Roman"/>
                <a:ea typeface="Times New Roman"/>
                <a:cs typeface="Times New Roman"/>
                <a:sym typeface="Times New Roman"/>
              </a:rPr>
              <a:t>Conservación 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000" dirty="0" err="1">
                <a:latin typeface="Times New Roman"/>
                <a:ea typeface="Times New Roman"/>
                <a:cs typeface="Times New Roman"/>
                <a:sym typeface="Times New Roman"/>
              </a:rPr>
              <a:t>estabilidad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000" dirty="0" err="1">
                <a:latin typeface="Times New Roman"/>
                <a:ea typeface="Times New Roman"/>
                <a:cs typeface="Times New Roman"/>
                <a:sym typeface="Times New Roman"/>
              </a:rPr>
              <a:t>tradición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).         </a:t>
            </a:r>
          </a:p>
          <a:p>
            <a:pPr lvl="1" indent="-298450">
              <a:lnSpc>
                <a:spcPct val="100000"/>
              </a:lnSpc>
              <a:buSzPts val="1100"/>
            </a:pPr>
            <a:endParaRPr lang="en-US" sz="1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1" indent="-298450">
              <a:lnSpc>
                <a:spcPct val="100000"/>
              </a:lnSpc>
              <a:buSzPts val="1100"/>
            </a:pPr>
            <a:r>
              <a:rPr lang="en-US" sz="1000" i="1" dirty="0">
                <a:latin typeface="Times New Roman"/>
                <a:ea typeface="Times New Roman"/>
                <a:cs typeface="Times New Roman"/>
                <a:sym typeface="Times New Roman"/>
              </a:rPr>
              <a:t>Foco Social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000" b="1" dirty="0">
                <a:latin typeface="Times New Roman"/>
                <a:ea typeface="Times New Roman"/>
                <a:cs typeface="Times New Roman"/>
                <a:sym typeface="Times New Roman"/>
              </a:rPr>
              <a:t>Auto-</a:t>
            </a:r>
            <a:r>
              <a:rPr lang="en-US" sz="1000" b="1" dirty="0" err="1">
                <a:latin typeface="Times New Roman"/>
                <a:ea typeface="Times New Roman"/>
                <a:cs typeface="Times New Roman"/>
                <a:sym typeface="Times New Roman"/>
              </a:rPr>
              <a:t>trascendencia</a:t>
            </a:r>
            <a:r>
              <a:rPr lang="en-US" sz="10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US" sz="1000" b="1" dirty="0">
                <a:latin typeface="Times New Roman"/>
                <a:ea typeface="Times New Roman"/>
                <a:cs typeface="Times New Roman"/>
                <a:sym typeface="Times New Roman"/>
              </a:rPr>
              <a:t>Conservación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) vs</a:t>
            </a:r>
            <a:b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00" i="1" dirty="0">
                <a:latin typeface="Times New Roman"/>
                <a:ea typeface="Times New Roman"/>
                <a:cs typeface="Times New Roman"/>
                <a:sym typeface="Times New Roman"/>
              </a:rPr>
              <a:t>Foco Personal 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000" b="1" dirty="0">
                <a:latin typeface="Times New Roman"/>
                <a:ea typeface="Times New Roman"/>
                <a:cs typeface="Times New Roman"/>
                <a:sym typeface="Times New Roman"/>
              </a:rPr>
              <a:t>Apertura Cambio 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+ A</a:t>
            </a:r>
            <a:r>
              <a:rPr lang="en-US" sz="1000" b="1" dirty="0">
                <a:latin typeface="Times New Roman"/>
                <a:ea typeface="Times New Roman"/>
                <a:cs typeface="Times New Roman"/>
                <a:sym typeface="Times New Roman"/>
              </a:rPr>
              <a:t>uto-</a:t>
            </a:r>
            <a:r>
              <a:rPr lang="en-US" sz="1000" b="1" dirty="0" err="1">
                <a:latin typeface="Times New Roman"/>
                <a:ea typeface="Times New Roman"/>
                <a:cs typeface="Times New Roman"/>
                <a:sym typeface="Times New Roman"/>
              </a:rPr>
              <a:t>promoción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b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</a:t>
            </a: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8450">
              <a:lnSpc>
                <a:spcPct val="100000"/>
              </a:lnSpc>
              <a:buSzPts val="1100"/>
            </a:pPr>
            <a:r>
              <a:rPr lang="es-ES" sz="1200" dirty="0">
                <a:latin typeface="Times New Roman"/>
                <a:ea typeface="Times New Roman"/>
                <a:cs typeface="Times New Roman"/>
                <a:sym typeface="Times New Roman"/>
              </a:rPr>
              <a:t>Funcionan como criterios de evaluación, por lo que determinados perfiles de valores pueden promover o inhibir la cohesión 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2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Schröder, Speer, Sachweh, &amp; Groh-Samberg, 2022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lvl="0" indent="-298450" algn="ctr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ts val="1100"/>
              <a:buFont typeface="Arial"/>
              <a:buChar char="●"/>
            </a:pPr>
            <a:endParaRPr lang="en-US" sz="900" b="0" i="0" u="none" strike="noStrike" cap="none" noProof="0" dirty="0">
              <a:solidFill>
                <a:schemeClr val="dk1"/>
              </a:solidFill>
            </a:endParaRPr>
          </a:p>
        </p:txBody>
      </p:sp>
      <p:pic>
        <p:nvPicPr>
          <p:cNvPr id="2" name="Picture 2" descr="Hierarchical Cluster Analysis of Human Value Priorities and Associations  with Subjective Well-Being, Subjective General Health, Social Life, and  Depression across Europe">
            <a:extLst>
              <a:ext uri="{FF2B5EF4-FFF2-40B4-BE49-F238E27FC236}">
                <a16:creationId xmlns:a16="http://schemas.microsoft.com/office/drawing/2014/main" id="{E25ED32A-0585-1AD7-7AE3-6872AEFE8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0" y="1208225"/>
            <a:ext cx="3416299" cy="3383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0501180"/>
      </p:ext>
    </p:extLst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 err="1"/>
              <a:t>Fuerzas</a:t>
            </a:r>
            <a:r>
              <a:rPr lang="en-US" dirty="0"/>
              <a:t> </a:t>
            </a:r>
            <a:r>
              <a:rPr lang="en-US" dirty="0" err="1"/>
              <a:t>promotoras</a:t>
            </a:r>
            <a:r>
              <a:rPr lang="en-US" dirty="0"/>
              <a:t> e </a:t>
            </a:r>
            <a:r>
              <a:rPr lang="en-US" dirty="0" err="1"/>
              <a:t>inhibidoras</a:t>
            </a:r>
            <a:r>
              <a:rPr lang="en-US" dirty="0"/>
              <a:t> de la </a:t>
            </a:r>
            <a:r>
              <a:rPr lang="en-US" dirty="0" err="1"/>
              <a:t>cohesión</a:t>
            </a:r>
            <a:endParaRPr lang="en-US" noProof="0" dirty="0"/>
          </a:p>
        </p:txBody>
      </p:sp>
      <p:sp>
        <p:nvSpPr>
          <p:cNvPr id="114" name="Google Shape;114;p1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b="1" dirty="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</a:t>
            </a:r>
            <a:r>
              <a:rPr lang="en-US" b="1" dirty="0" err="1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ámbito</a:t>
            </a:r>
            <a:r>
              <a:rPr lang="en-US" b="1" dirty="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sociocultural</a:t>
            </a:r>
            <a:endParaRPr lang="en-US" sz="1200" b="1" dirty="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8450">
              <a:spcBef>
                <a:spcPts val="1200"/>
              </a:spcBef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s-E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 sociedades se esfuerzan por ser resilientes a las consecuencias que tiene la diversidad cultural sobre la cohesión social 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100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Baldassarri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&amp; Abascal, 2020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</a:p>
          <a:p>
            <a:pPr lvl="0" indent="-298450">
              <a:buClr>
                <a:schemeClr val="dk1"/>
              </a:buClr>
              <a:buSzPts val="1100"/>
            </a:pPr>
            <a:r>
              <a:rPr lang="es-E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 migrantes pueden percibirse como una amenaza económica, asociada al incremento de la percepción de la competencia laboral o cultural, vinculada a la pérdida de una identidad nacional 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Tropp &amp; Pettigrew, 2005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</a:p>
          <a:p>
            <a:pPr marL="158750" lvl="0" indent="0">
              <a:buClr>
                <a:schemeClr val="dk1"/>
              </a:buClr>
              <a:buSzPts val="1100"/>
              <a:buNone/>
            </a:pPr>
            <a:endParaRPr lang="en-US"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8450">
              <a:buClr>
                <a:schemeClr val="dk1"/>
              </a:buClr>
              <a:buSzPts val="1100"/>
            </a:pPr>
            <a:r>
              <a:rPr lang="es-E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pertenencia a grupos religiosos está asociada con las expectativas sobre el apego a las normas y valores sociales</a:t>
            </a:r>
            <a:r>
              <a:rPr lang="es-ES" sz="1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Rowatt &amp; Al-Kire, 2021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</a:p>
          <a:p>
            <a:pPr lvl="0" indent="-298450">
              <a:buClr>
                <a:schemeClr val="dk1"/>
              </a:buClr>
              <a:buSzPts val="1100"/>
            </a:pPr>
            <a:r>
              <a:rPr lang="es-E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 personas religiosas pueden ser percibidas como planificadoras lentas, no impulsivas y más dignas de confianza que las no religiosas.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Moon, </a:t>
            </a:r>
            <a:r>
              <a:rPr lang="en-US" sz="1100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Krems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&amp; Cohen, 2018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 </a:t>
            </a:r>
            <a:r>
              <a:rPr lang="es-E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Además, las minorías religiosas pueden ser percibidas como una amenaza para el poder dominante. 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culture.</a:t>
            </a:r>
            <a:endParaRPr lang="en-US" sz="1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noProof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</a:t>
            </a:r>
            <a:r>
              <a:rPr lang="en-US" b="1" dirty="0" err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ámbito</a:t>
            </a:r>
            <a:r>
              <a:rPr lang="en-US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político</a:t>
            </a:r>
            <a:r>
              <a:rPr lang="en-US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100" b="1" noProof="0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100" noProof="0" dirty="0"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</a:p>
          <a:p>
            <a:pPr lvl="0" indent="-298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 posiciones políticas influyen en las evaluaciones sociales, y la identidad política determina las percepciones de fiabilidad y apertura a la reciprocidad. </a:t>
            </a:r>
            <a:r>
              <a:rPr lang="en-US" sz="1200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200" noProof="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Groh-Samberg et al., 2023</a:t>
            </a:r>
            <a:r>
              <a:rPr lang="en-US" sz="1200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200" noProof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8450">
              <a:lnSpc>
                <a:spcPct val="100000"/>
              </a:lnSpc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división política pone de relieve las evaluaciones basadas en la pertenencia a grupos, en las que los individuos evalúan posiciones en un espectro izquierda-derecha que traza las identidades de los grupos políticos</a:t>
            </a:r>
            <a:r>
              <a:rPr lang="en-US" sz="1200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200" noProof="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Hernández-Lagos &amp; Minor, 2020</a:t>
            </a:r>
            <a:r>
              <a:rPr lang="en-US" sz="1200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lvl="0" indent="-298450">
              <a:lnSpc>
                <a:spcPct val="100000"/>
              </a:lnSpc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 centristas suelen ser vistos como más moderados, abiertos al compromiso y menos extremistas, lo que los hace más accesibles a personas de diversos orígenes políticos.</a:t>
            </a:r>
            <a:r>
              <a:rPr lang="en-US" sz="1200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200" noProof="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Hernández-Lagos &amp; Minor, 2020</a:t>
            </a:r>
            <a:r>
              <a:rPr lang="en-US" sz="1200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lang="en-US" sz="1200" noProof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6</a:t>
            </a:fld>
            <a:endParaRPr lang="en-US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 algn="l">
              <a:buSzPct val="30555"/>
            </a:pPr>
            <a:r>
              <a:rPr lang="es-ES" i="1" dirty="0">
                <a:latin typeface="Georgia"/>
                <a:ea typeface="Georgia"/>
                <a:cs typeface="Georgia"/>
                <a:sym typeface="Georgia"/>
              </a:rPr>
              <a:t>¿Cómo afectan las características de los grupos sociales a la cohesión social?</a:t>
            </a:r>
            <a:endParaRPr lang="en-US" i="1" noProof="0" dirty="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2" name="Google Shape;122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7</a:t>
            </a:fld>
            <a:endParaRPr lang="en-US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F29692D1-E564-A91C-4C07-934CE687F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B5CCD284-4559-3395-3B78-9978BF7E0E75}"/>
              </a:ext>
            </a:extLst>
          </p:cNvPr>
          <p:cNvSpPr txBox="1"/>
          <p:nvPr/>
        </p:nvSpPr>
        <p:spPr>
          <a:xfrm>
            <a:off x="1196074" y="577459"/>
            <a:ext cx="6978108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i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Respondente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i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Viñeta</a:t>
            </a:r>
            <a:endParaRPr lang="en-US" i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Google Shape;128;p21">
            <a:extLst>
              <a:ext uri="{FF2B5EF4-FFF2-40B4-BE49-F238E27FC236}">
                <a16:creationId xmlns:a16="http://schemas.microsoft.com/office/drawing/2014/main" id="{B5D6255B-4EB6-202D-59BA-2F96887CFA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FF9D31-A31A-D27F-3704-FBB26A774EBF}"/>
              </a:ext>
            </a:extLst>
          </p:cNvPr>
          <p:cNvSpPr txBox="1"/>
          <p:nvPr/>
        </p:nvSpPr>
        <p:spPr>
          <a:xfrm>
            <a:off x="1467400" y="2724093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4AE7008-3030-851B-7A54-5B91AFFE8C52}"/>
              </a:ext>
            </a:extLst>
          </p:cNvPr>
          <p:cNvGrpSpPr/>
          <p:nvPr/>
        </p:nvGrpSpPr>
        <p:grpSpPr>
          <a:xfrm>
            <a:off x="6114829" y="2946892"/>
            <a:ext cx="1440000" cy="1080000"/>
            <a:chOff x="6057900" y="3392309"/>
            <a:chExt cx="1440000" cy="108000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415F6E0-8F54-85A8-C595-D32C1EABD5C1}"/>
                </a:ext>
              </a:extLst>
            </p:cNvPr>
            <p:cNvSpPr txBox="1"/>
            <p:nvPr/>
          </p:nvSpPr>
          <p:spPr>
            <a:xfrm>
              <a:off x="6057900" y="3392309"/>
              <a:ext cx="1440000" cy="108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B19C7F8-1FB9-A43C-FFCE-2F534332F891}"/>
                </a:ext>
              </a:extLst>
            </p:cNvPr>
            <p:cNvSpPr txBox="1"/>
            <p:nvPr/>
          </p:nvSpPr>
          <p:spPr>
            <a:xfrm>
              <a:off x="6225540" y="3538745"/>
              <a:ext cx="1080000" cy="27699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200" b="1" noProof="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Confianza</a:t>
              </a:r>
              <a:endParaRPr lang="en-US" sz="12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ED339B4-D4CE-2C6C-21CF-557BA0FC9417}"/>
                </a:ext>
              </a:extLst>
            </p:cNvPr>
            <p:cNvSpPr txBox="1"/>
            <p:nvPr/>
          </p:nvSpPr>
          <p:spPr>
            <a:xfrm>
              <a:off x="6225540" y="4026425"/>
              <a:ext cx="1080000" cy="27699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200" noProof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Cooperación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55F57D3-D6FE-2751-7B70-18D0D3CD27DD}"/>
              </a:ext>
            </a:extLst>
          </p:cNvPr>
          <p:cNvSpPr txBox="1"/>
          <p:nvPr/>
        </p:nvSpPr>
        <p:spPr>
          <a:xfrm>
            <a:off x="1467400" y="3150153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Migración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4F7706-87DA-1B6F-2C51-6E48FBA8FE4E}"/>
              </a:ext>
            </a:extLst>
          </p:cNvPr>
          <p:cNvSpPr txBox="1"/>
          <p:nvPr/>
        </p:nvSpPr>
        <p:spPr>
          <a:xfrm>
            <a:off x="1467400" y="3486892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Religión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552909-20C6-EA26-12D4-FD26B3C2CD67}"/>
              </a:ext>
            </a:extLst>
          </p:cNvPr>
          <p:cNvSpPr txBox="1"/>
          <p:nvPr/>
        </p:nvSpPr>
        <p:spPr>
          <a:xfrm>
            <a:off x="1467400" y="3813011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Pos. Política (Cent.)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2A487E-D723-6760-4C88-85DABCAEE79F}"/>
              </a:ext>
            </a:extLst>
          </p:cNvPr>
          <p:cNvSpPr txBox="1"/>
          <p:nvPr/>
        </p:nvSpPr>
        <p:spPr>
          <a:xfrm>
            <a:off x="1467400" y="4146751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Autotrascendencia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E84186-1648-DEAD-95C3-575845871017}"/>
              </a:ext>
            </a:extLst>
          </p:cNvPr>
          <p:cNvCxnSpPr>
            <a:stCxn id="2" idx="3"/>
            <a:endCxn id="9" idx="1"/>
          </p:cNvCxnSpPr>
          <p:nvPr/>
        </p:nvCxnSpPr>
        <p:spPr>
          <a:xfrm>
            <a:off x="2907400" y="2862593"/>
            <a:ext cx="3207429" cy="62429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65634A5-3FB0-1D0D-80BE-5B8735D8A731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2907400" y="3288653"/>
            <a:ext cx="3207429" cy="19823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A996344-7FB7-8C7D-563D-445739B4DD9F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2907400" y="3486892"/>
            <a:ext cx="3207429" cy="13850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1FF8940-0C91-8D06-0CE5-332804E7219B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2907400" y="3486892"/>
            <a:ext cx="3207429" cy="46461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49E2841-2689-7BBC-5F7D-B6B67707402B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07400" y="3486892"/>
            <a:ext cx="3207429" cy="79835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1000C9F-3C5C-406F-AA2E-5A22F60C9997}"/>
              </a:ext>
            </a:extLst>
          </p:cNvPr>
          <p:cNvCxnSpPr>
            <a:cxnSpLocks/>
            <a:stCxn id="25" idx="1"/>
            <a:endCxn id="25" idx="3"/>
          </p:cNvCxnSpPr>
          <p:nvPr/>
        </p:nvCxnSpPr>
        <p:spPr>
          <a:xfrm>
            <a:off x="1196074" y="2562618"/>
            <a:ext cx="697810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4DFFCD5-F79D-7779-99F3-E5C9EDAA2B23}"/>
              </a:ext>
            </a:extLst>
          </p:cNvPr>
          <p:cNvSpPr txBox="1"/>
          <p:nvPr/>
        </p:nvSpPr>
        <p:spPr>
          <a:xfrm>
            <a:off x="3677025" y="2781306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2ABC1F1-54EA-1668-5525-75F7D5BB8F4A}"/>
              </a:ext>
            </a:extLst>
          </p:cNvPr>
          <p:cNvSpPr txBox="1"/>
          <p:nvPr/>
        </p:nvSpPr>
        <p:spPr>
          <a:xfrm>
            <a:off x="3659987" y="3866872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227655-2CEF-588E-8F91-C87A120EF61B}"/>
              </a:ext>
            </a:extLst>
          </p:cNvPr>
          <p:cNvSpPr txBox="1"/>
          <p:nvPr/>
        </p:nvSpPr>
        <p:spPr>
          <a:xfrm>
            <a:off x="3547960" y="3032122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-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5FD68B7-DE2B-34AE-5286-2320D14C5522}"/>
              </a:ext>
            </a:extLst>
          </p:cNvPr>
          <p:cNvSpPr txBox="1"/>
          <p:nvPr/>
        </p:nvSpPr>
        <p:spPr>
          <a:xfrm>
            <a:off x="3478660" y="3341604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0DD7653-0730-BE4A-2CC3-6231DB31C3F8}"/>
              </a:ext>
            </a:extLst>
          </p:cNvPr>
          <p:cNvSpPr txBox="1"/>
          <p:nvPr/>
        </p:nvSpPr>
        <p:spPr>
          <a:xfrm>
            <a:off x="3514685" y="3609431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9F7D669-55BE-3492-3014-0216DD13D658}"/>
              </a:ext>
            </a:extLst>
          </p:cNvPr>
          <p:cNvSpPr txBox="1"/>
          <p:nvPr/>
        </p:nvSpPr>
        <p:spPr>
          <a:xfrm>
            <a:off x="3547960" y="2809604"/>
            <a:ext cx="579040" cy="147689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80629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7C7A082D-3631-5118-7334-4FC442B29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3B5390AC-E6A1-5AD6-97AF-5424C10FEAC1}"/>
              </a:ext>
            </a:extLst>
          </p:cNvPr>
          <p:cNvSpPr txBox="1"/>
          <p:nvPr/>
        </p:nvSpPr>
        <p:spPr>
          <a:xfrm>
            <a:off x="1196074" y="577459"/>
            <a:ext cx="6978108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i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Respondente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i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Viñeta</a:t>
            </a:r>
            <a:endParaRPr lang="en-US" i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DFDE2A-CC59-D81A-8634-A7CC9DD74B48}"/>
              </a:ext>
            </a:extLst>
          </p:cNvPr>
          <p:cNvSpPr txBox="1"/>
          <p:nvPr/>
        </p:nvSpPr>
        <p:spPr>
          <a:xfrm>
            <a:off x="1385454" y="625948"/>
            <a:ext cx="1614055" cy="188203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noProof="0" dirty="0"/>
          </a:p>
        </p:txBody>
      </p:sp>
      <p:sp>
        <p:nvSpPr>
          <p:cNvPr id="128" name="Google Shape;128;p21">
            <a:extLst>
              <a:ext uri="{FF2B5EF4-FFF2-40B4-BE49-F238E27FC236}">
                <a16:creationId xmlns:a16="http://schemas.microsoft.com/office/drawing/2014/main" id="{E1487194-D584-2E1C-ED70-989ACBCD7F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C8F8B9-C6E2-1BCB-4655-4DB4F8F40041}"/>
              </a:ext>
            </a:extLst>
          </p:cNvPr>
          <p:cNvSpPr txBox="1"/>
          <p:nvPr/>
        </p:nvSpPr>
        <p:spPr>
          <a:xfrm>
            <a:off x="1467400" y="2724093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0E57EE-777B-831A-6746-A9DB91AB9302}"/>
              </a:ext>
            </a:extLst>
          </p:cNvPr>
          <p:cNvGrpSpPr/>
          <p:nvPr/>
        </p:nvGrpSpPr>
        <p:grpSpPr>
          <a:xfrm>
            <a:off x="6114829" y="2946892"/>
            <a:ext cx="1440000" cy="1080000"/>
            <a:chOff x="6057900" y="3392309"/>
            <a:chExt cx="1440000" cy="108000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7104D5C-11DC-1C57-7B3C-D6F277203F50}"/>
                </a:ext>
              </a:extLst>
            </p:cNvPr>
            <p:cNvSpPr txBox="1"/>
            <p:nvPr/>
          </p:nvSpPr>
          <p:spPr>
            <a:xfrm>
              <a:off x="6057900" y="3392309"/>
              <a:ext cx="1440000" cy="108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1D506B8-D652-0238-D421-17DA48744DCB}"/>
                </a:ext>
              </a:extLst>
            </p:cNvPr>
            <p:cNvSpPr txBox="1"/>
            <p:nvPr/>
          </p:nvSpPr>
          <p:spPr>
            <a:xfrm>
              <a:off x="6225540" y="3538745"/>
              <a:ext cx="1080000" cy="27699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200" b="1" noProof="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Confianza</a:t>
              </a:r>
              <a:endParaRPr lang="en-US" sz="12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AC4BA4D-0B7B-75AA-AC1B-E143CFA6111C}"/>
                </a:ext>
              </a:extLst>
            </p:cNvPr>
            <p:cNvSpPr txBox="1"/>
            <p:nvPr/>
          </p:nvSpPr>
          <p:spPr>
            <a:xfrm>
              <a:off x="6225540" y="4026425"/>
              <a:ext cx="1080000" cy="27699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200" noProof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Cooperación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EF63D45-0381-6604-3503-85EBB4BD85EC}"/>
              </a:ext>
            </a:extLst>
          </p:cNvPr>
          <p:cNvSpPr txBox="1"/>
          <p:nvPr/>
        </p:nvSpPr>
        <p:spPr>
          <a:xfrm>
            <a:off x="1467400" y="3150153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Migración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FE6412-0B96-376C-EF93-29FBFDA9B487}"/>
              </a:ext>
            </a:extLst>
          </p:cNvPr>
          <p:cNvSpPr txBox="1"/>
          <p:nvPr/>
        </p:nvSpPr>
        <p:spPr>
          <a:xfrm>
            <a:off x="1467400" y="3486892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Religión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5AEBC4-4D07-2974-7627-5CA5410FDBC9}"/>
              </a:ext>
            </a:extLst>
          </p:cNvPr>
          <p:cNvSpPr txBox="1"/>
          <p:nvPr/>
        </p:nvSpPr>
        <p:spPr>
          <a:xfrm>
            <a:off x="1467400" y="3813011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Pos. Política (Cent.)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E8E355-70B7-2986-B50C-2D7B571173C2}"/>
              </a:ext>
            </a:extLst>
          </p:cNvPr>
          <p:cNvSpPr txBox="1"/>
          <p:nvPr/>
        </p:nvSpPr>
        <p:spPr>
          <a:xfrm>
            <a:off x="1467400" y="4146751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Autotrascendencia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518F2D4-2CB4-028F-534E-56B0E72FA7C1}"/>
              </a:ext>
            </a:extLst>
          </p:cNvPr>
          <p:cNvCxnSpPr>
            <a:stCxn id="2" idx="3"/>
            <a:endCxn id="9" idx="1"/>
          </p:cNvCxnSpPr>
          <p:nvPr/>
        </p:nvCxnSpPr>
        <p:spPr>
          <a:xfrm>
            <a:off x="2907400" y="2862593"/>
            <a:ext cx="3207429" cy="62429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D04617E-D294-FE3F-B0F6-DD29AD123504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2907400" y="3288653"/>
            <a:ext cx="3207429" cy="19823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2173A9D-5928-DEEA-7110-BF0F1A67076D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2907400" y="3486892"/>
            <a:ext cx="3207429" cy="13850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4323AB8-4655-4637-DB67-AA5E437AA25D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2907400" y="3486892"/>
            <a:ext cx="3207429" cy="46461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6A7B80B-241E-5C09-CF2F-8908B2FAD4B6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07400" y="3486892"/>
            <a:ext cx="3207429" cy="79835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2217D9D-2A02-F662-4EAF-1BB0E77F9F39}"/>
              </a:ext>
            </a:extLst>
          </p:cNvPr>
          <p:cNvCxnSpPr>
            <a:cxnSpLocks/>
            <a:stCxn id="25" idx="1"/>
            <a:endCxn id="25" idx="3"/>
          </p:cNvCxnSpPr>
          <p:nvPr/>
        </p:nvCxnSpPr>
        <p:spPr>
          <a:xfrm>
            <a:off x="1196074" y="2562618"/>
            <a:ext cx="697810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6FE5CC8-7129-B667-98A3-AC2E8BD4700D}"/>
              </a:ext>
            </a:extLst>
          </p:cNvPr>
          <p:cNvSpPr txBox="1"/>
          <p:nvPr/>
        </p:nvSpPr>
        <p:spPr>
          <a:xfrm>
            <a:off x="1467400" y="698867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9F3221-1C39-1578-1B5F-2896545C3069}"/>
              </a:ext>
            </a:extLst>
          </p:cNvPr>
          <p:cNvSpPr txBox="1"/>
          <p:nvPr/>
        </p:nvSpPr>
        <p:spPr>
          <a:xfrm>
            <a:off x="1467400" y="1124927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Migración</a:t>
            </a:r>
            <a:endParaRPr lang="en-US" sz="12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25157E-2780-EC29-A019-A1D3A852BB37}"/>
              </a:ext>
            </a:extLst>
          </p:cNvPr>
          <p:cNvSpPr txBox="1"/>
          <p:nvPr/>
        </p:nvSpPr>
        <p:spPr>
          <a:xfrm>
            <a:off x="1467400" y="1461666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Religión</a:t>
            </a:r>
            <a:endParaRPr lang="en-US" sz="12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9DBF1C1-A147-6944-A553-60A705B0ED0A}"/>
              </a:ext>
            </a:extLst>
          </p:cNvPr>
          <p:cNvSpPr txBox="1"/>
          <p:nvPr/>
        </p:nvSpPr>
        <p:spPr>
          <a:xfrm>
            <a:off x="1467400" y="1787785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Ideología</a:t>
            </a:r>
            <a:r>
              <a:rPr lang="en-US" sz="12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Política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032BDC-103E-B71E-07FA-1931AB7804E2}"/>
              </a:ext>
            </a:extLst>
          </p:cNvPr>
          <p:cNvSpPr txBox="1"/>
          <p:nvPr/>
        </p:nvSpPr>
        <p:spPr>
          <a:xfrm>
            <a:off x="1467400" y="2121525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Valores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8977EE5-F3F2-7B6E-3B68-930D2597F52E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2999509" y="1566967"/>
            <a:ext cx="762000" cy="115712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8B9E6BD-4FFE-8B81-072C-F8D66FD353DF}"/>
              </a:ext>
            </a:extLst>
          </p:cNvPr>
          <p:cNvSpPr txBox="1"/>
          <p:nvPr/>
        </p:nvSpPr>
        <p:spPr>
          <a:xfrm>
            <a:off x="3677025" y="2781306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2A4285-B47F-6E19-682F-FE16BF761B69}"/>
              </a:ext>
            </a:extLst>
          </p:cNvPr>
          <p:cNvSpPr txBox="1"/>
          <p:nvPr/>
        </p:nvSpPr>
        <p:spPr>
          <a:xfrm>
            <a:off x="3659987" y="3866872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98EBD2-AFF9-73F8-D47E-96F1362549DD}"/>
              </a:ext>
            </a:extLst>
          </p:cNvPr>
          <p:cNvSpPr txBox="1"/>
          <p:nvPr/>
        </p:nvSpPr>
        <p:spPr>
          <a:xfrm>
            <a:off x="3547960" y="3032122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-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295B050-5046-37BE-50D0-A0C678689BD8}"/>
              </a:ext>
            </a:extLst>
          </p:cNvPr>
          <p:cNvSpPr txBox="1"/>
          <p:nvPr/>
        </p:nvSpPr>
        <p:spPr>
          <a:xfrm>
            <a:off x="3478660" y="3341604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DDA89A9-1478-69F0-18DF-4F01CC408278}"/>
              </a:ext>
            </a:extLst>
          </p:cNvPr>
          <p:cNvSpPr txBox="1"/>
          <p:nvPr/>
        </p:nvSpPr>
        <p:spPr>
          <a:xfrm>
            <a:off x="3514685" y="3609431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9EC105A-5AE3-B445-FF3A-9EFAFBB05C22}"/>
              </a:ext>
            </a:extLst>
          </p:cNvPr>
          <p:cNvSpPr txBox="1"/>
          <p:nvPr/>
        </p:nvSpPr>
        <p:spPr>
          <a:xfrm>
            <a:off x="3446901" y="1805535"/>
            <a:ext cx="2319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H6</a:t>
            </a:r>
          </a:p>
          <a:p>
            <a:r>
              <a:rPr 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ipótesis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homofilia</a:t>
            </a:r>
            <a:r>
              <a:rPr 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EE1EFE7-9514-6615-B0AF-EA8CDBE59764}"/>
              </a:ext>
            </a:extLst>
          </p:cNvPr>
          <p:cNvSpPr txBox="1"/>
          <p:nvPr/>
        </p:nvSpPr>
        <p:spPr>
          <a:xfrm>
            <a:off x="3547960" y="2809604"/>
            <a:ext cx="579040" cy="147689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1718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 err="1"/>
              <a:t>Experimento</a:t>
            </a:r>
            <a:r>
              <a:rPr lang="en-US" dirty="0"/>
              <a:t> de </a:t>
            </a:r>
            <a:r>
              <a:rPr lang="en-US" dirty="0" err="1"/>
              <a:t>encuesta</a:t>
            </a:r>
            <a:r>
              <a:rPr lang="en-US" dirty="0"/>
              <a:t> factorial</a:t>
            </a:r>
            <a:endParaRPr lang="en-US" noProof="0" dirty="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5" name="Google Shape;135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10</a:t>
            </a:fld>
            <a:endParaRPr lang="en-US" noProof="0" dirty="0"/>
          </a:p>
        </p:txBody>
      </p:sp>
      <p:sp>
        <p:nvSpPr>
          <p:cNvPr id="136" name="Google Shape;136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Diseño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del </a:t>
            </a:r>
            <a:r>
              <a:rPr lang="en-US" sz="13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estudio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s-E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 utiliza un estudio factorial de viñetas para explorar cómo las características específicas de los sujetos ficticios (viñetas) influyen en las evaluaciones de los observadores externos.</a:t>
            </a:r>
            <a:endParaRPr lang="en-US" sz="1300" noProof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Diseño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la </a:t>
            </a:r>
            <a:r>
              <a:rPr lang="en-US" sz="13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viñeta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lang="en-US" sz="1300" b="1" noProof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3111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Cada 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viñeta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incluye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atributos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como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características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demográficas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 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socioeconómicas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ejemplo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sexo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ingresos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r>
              <a:rPr lang="en-US" sz="1300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</a:p>
          <a:p>
            <a:pPr lvl="0" indent="-311150">
              <a:lnSpc>
                <a:spcPct val="100000"/>
              </a:lnSpc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s-E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 encuestados evalúan estas viñetas en función de los atributos proporcionados (Detalles diapositiva siguiente)</a:t>
            </a:r>
            <a:endParaRPr lang="en-US" sz="1300" noProof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2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>
              <a:buNone/>
            </a:pPr>
            <a:r>
              <a:rPr lang="en-US" sz="1300" b="1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Recogida</a:t>
            </a:r>
            <a:r>
              <a:rPr lang="en-US" sz="13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de </a:t>
            </a:r>
            <a:r>
              <a:rPr lang="en-US" sz="1300" b="1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datos</a:t>
            </a:r>
            <a:r>
              <a:rPr lang="en-US" sz="13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</a:t>
            </a:r>
          </a:p>
          <a:p>
            <a:pPr lvl="0" indent="-311150">
              <a:spcBef>
                <a:spcPts val="1200"/>
              </a:spcBef>
              <a:buSzPts val="1300"/>
              <a:buFont typeface="Times New Roman"/>
              <a:buChar char="-"/>
            </a:pPr>
            <a:r>
              <a:rPr lang="es-ES" sz="13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Alemania: </a:t>
            </a:r>
            <a:r>
              <a:rPr lang="es-ES" sz="13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septiembre-octubre de 2024 (CAWI). Submuestra de la 4.ª Ola del Panel de Cohesión Social.</a:t>
            </a:r>
            <a:endParaRPr lang="en-US" sz="1300" noProof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indent="-311150">
              <a:buSzPts val="1300"/>
              <a:buFont typeface="Times New Roman"/>
              <a:buChar char="-"/>
            </a:pPr>
            <a:r>
              <a:rPr lang="en-US" sz="1300" b="1" noProof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Chile</a:t>
            </a:r>
            <a:r>
              <a:rPr lang="en-US" sz="1300" noProof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</a:t>
            </a:r>
            <a:r>
              <a:rPr lang="es-ES" sz="13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diciembre de 2024 - enero de 2025 (CAWI), muestra por cuotas de conveniencia.</a:t>
            </a:r>
            <a:endParaRPr lang="en-US" sz="1300" noProof="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 b="1" noProof="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Datos y </a:t>
            </a:r>
            <a:r>
              <a:rPr lang="en-US" sz="1300" b="1" noProof="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métodos</a:t>
            </a:r>
            <a:endParaRPr lang="en-US" sz="1300" b="1" noProof="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91440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endParaRPr lang="en-US" sz="1300" noProof="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1">
              <a:lnSpc>
                <a:spcPct val="100000"/>
              </a:lnSpc>
              <a:buClr>
                <a:schemeClr val="dk1"/>
              </a:buClr>
              <a:buFont typeface="Times New Roman"/>
              <a:buChar char="○"/>
            </a:pPr>
            <a:r>
              <a:rPr lang="es-ES" sz="13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Alemania</a:t>
            </a:r>
            <a:r>
              <a:rPr lang="es-ES" sz="1300" i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N</a:t>
            </a:r>
            <a:r>
              <a:rPr lang="es-ES" sz="13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= 3.907</a:t>
            </a:r>
          </a:p>
          <a:p>
            <a:pPr lvl="1">
              <a:lnSpc>
                <a:spcPct val="100000"/>
              </a:lnSpc>
              <a:buClr>
                <a:schemeClr val="dk1"/>
              </a:buClr>
              <a:buFont typeface="Times New Roman"/>
              <a:buChar char="○"/>
            </a:pPr>
            <a:r>
              <a:rPr lang="en-US" sz="13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Chile:  </a:t>
            </a:r>
            <a:r>
              <a:rPr lang="en-US" sz="1300" i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</a:t>
            </a:r>
            <a:r>
              <a:rPr lang="en-US" sz="13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= 3.676</a:t>
            </a:r>
            <a:endParaRPr lang="en-US" sz="1300" noProof="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91440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en-US" sz="1300" noProof="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Modelos</a:t>
            </a:r>
            <a:r>
              <a:rPr lang="en-US" sz="1300" noProof="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de regression </a:t>
            </a:r>
            <a:r>
              <a:rPr lang="en-US" sz="1300" noProof="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multinivel</a:t>
            </a:r>
            <a:endParaRPr lang="en-US" sz="1300" noProof="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2">
              <a:lnSpc>
                <a:spcPct val="100000"/>
              </a:lnSpc>
              <a:buClr>
                <a:schemeClr val="dk1"/>
              </a:buClr>
              <a:buFont typeface="Times New Roman"/>
              <a:buChar char="○"/>
            </a:pPr>
            <a:r>
              <a:rPr lang="es-CL" sz="13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</a:t>
            </a:r>
            <a:r>
              <a:rPr lang="es-CL" sz="1300" noProof="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ntercepto</a:t>
            </a:r>
            <a:r>
              <a:rPr lang="es-CL" sz="1300" noProof="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y pendiente aleatoria (H1 a H5)</a:t>
            </a:r>
          </a:p>
          <a:p>
            <a:pPr lvl="2">
              <a:lnSpc>
                <a:spcPct val="100000"/>
              </a:lnSpc>
              <a:buClr>
                <a:schemeClr val="dk1"/>
              </a:buClr>
              <a:buFont typeface="Times New Roman"/>
              <a:buChar char="○"/>
            </a:pPr>
            <a:r>
              <a:rPr lang="es-CL" sz="13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Interacción </a:t>
            </a:r>
            <a:r>
              <a:rPr lang="es-CL" sz="130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cross-level</a:t>
            </a:r>
            <a:r>
              <a:rPr lang="es-CL" sz="13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(H6)</a:t>
            </a:r>
            <a:endParaRPr lang="es-CL" sz="1300" noProof="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60960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sz="1300" b="1" noProof="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11</a:t>
            </a:fld>
            <a:endParaRPr lang="en-US" noProof="0" dirty="0"/>
          </a:p>
        </p:txBody>
      </p:sp>
      <p:sp>
        <p:nvSpPr>
          <p:cNvPr id="143" name="Google Shape;143;p2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b="1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Administration: </a:t>
            </a:r>
            <a:r>
              <a:rPr lang="es-E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 garantizar una recogida de datos manejable, cada encuestado evalúa un número limitado de viñetas </a:t>
            </a:r>
            <a:endParaRPr lang="en-US" sz="1300" noProof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s-E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Este diseño mantiene la variación en las respuestas tanto dentro de los encuestados como entre ellos.</a:t>
            </a:r>
            <a:endParaRPr lang="en-US" b="1" i="1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spcBef>
                <a:spcPts val="1200"/>
              </a:spcBef>
              <a:buNone/>
            </a:pPr>
            <a:r>
              <a:rPr lang="en-US" b="1" i="1" noProof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Universo factorial:</a:t>
            </a:r>
            <a:r>
              <a:rPr lang="en-US" noProof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E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2*3*3*4*3*3*3*4*4 que representa un universo factorial de 31.104 combinaciones posibles (imposible de evaluar)</a:t>
            </a:r>
            <a:br>
              <a:rPr lang="es-E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noProof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b="1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Dos pasos (</a:t>
            </a:r>
            <a:r>
              <a:rPr lang="en-US" b="1" i="1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algoritmo</a:t>
            </a:r>
            <a:r>
              <a:rPr lang="en-US" b="1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D-efficient):</a:t>
            </a:r>
            <a:endParaRPr lang="en-US" noProof="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3370">
              <a:spcBef>
                <a:spcPts val="1200"/>
              </a:spcBef>
              <a:buSzPct val="100000"/>
              <a:buFont typeface="Times New Roman"/>
              <a:buChar char="-"/>
            </a:pPr>
            <a:r>
              <a:rPr lang="en-US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Selección</a:t>
            </a: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óptima</a:t>
            </a: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viñetas</a:t>
            </a: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noProof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144)</a:t>
            </a:r>
          </a:p>
          <a:p>
            <a:pPr lvl="0" indent="-293370">
              <a:buSzPct val="100000"/>
              <a:buFont typeface="Times New Roman"/>
              <a:buChar char="-"/>
            </a:pPr>
            <a:r>
              <a:rPr lang="en-US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Organícelos</a:t>
            </a: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</a:t>
            </a: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bloques</a:t>
            </a: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noProof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(15)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1" noProof="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Resultado</a:t>
            </a:r>
            <a:r>
              <a:rPr lang="en-US" b="1" i="1" noProof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s-E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Cada encuestado evalúa de 9 a 10 viñetas (1 minuto cada una)</a:t>
            </a:r>
            <a:endParaRPr lang="en-US" noProof="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pic>
        <p:nvPicPr>
          <p:cNvPr id="145" name="Google Shape;14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091" y="3394"/>
            <a:ext cx="4699508" cy="5133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12</a:t>
            </a:fld>
            <a:endParaRPr lang="en-US" noProof="0" dirty="0"/>
          </a:p>
        </p:txBody>
      </p:sp>
      <p:sp>
        <p:nvSpPr>
          <p:cNvPr id="151" name="Google Shape;151;p24"/>
          <p:cNvSpPr txBox="1"/>
          <p:nvPr/>
        </p:nvSpPr>
        <p:spPr>
          <a:xfrm>
            <a:off x="599350" y="1571305"/>
            <a:ext cx="8066700" cy="104641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Person A is a </a:t>
            </a:r>
            <a:r>
              <a:rPr lang="en-US" b="1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man </a:t>
            </a:r>
            <a:r>
              <a:rPr lang="en-US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and is </a:t>
            </a:r>
            <a:r>
              <a:rPr lang="en-US" b="1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45 years old</a:t>
            </a:r>
            <a:r>
              <a:rPr lang="en-US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. He was </a:t>
            </a:r>
            <a:r>
              <a:rPr lang="en-US" b="1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born in Syria, came to Germany</a:t>
            </a:r>
            <a:r>
              <a:rPr lang="en-US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 and is a devout </a:t>
            </a:r>
            <a:r>
              <a:rPr lang="en-US" b="1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Christian</a:t>
            </a:r>
            <a:r>
              <a:rPr lang="en-US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. Person A has completed </a:t>
            </a:r>
            <a:r>
              <a:rPr lang="en-US" b="1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vocational training after finishing secondary school</a:t>
            </a:r>
            <a:r>
              <a:rPr lang="en-US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, is full-time employed and has a monthly income of </a:t>
            </a:r>
            <a:r>
              <a:rPr lang="en-US" b="1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6,000€</a:t>
            </a:r>
            <a:r>
              <a:rPr lang="en-US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 at his disposal. He sees himself politically standing on the </a:t>
            </a:r>
            <a:r>
              <a:rPr lang="en-US" b="1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r>
              <a:rPr lang="en-US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. To person A it is </a:t>
            </a:r>
            <a:r>
              <a:rPr lang="en-US" b="1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important to make your own decisions and lead an entertaining and adventurous life</a:t>
            </a:r>
            <a:r>
              <a:rPr lang="en-US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87977E-D4D2-CC08-87B2-C5C07D51D90A}"/>
              </a:ext>
            </a:extLst>
          </p:cNvPr>
          <p:cNvSpPr txBox="1"/>
          <p:nvPr/>
        </p:nvSpPr>
        <p:spPr>
          <a:xfrm>
            <a:off x="599610" y="2813452"/>
            <a:ext cx="80667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i="1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82600" lvl="0" indent="-342900">
              <a:buSzPts val="1400"/>
              <a:buAutoNum type="arabicParenR"/>
            </a:pPr>
            <a:r>
              <a:rPr lang="es-ES" dirty="0">
                <a:latin typeface="Times New Roman"/>
                <a:ea typeface="Times New Roman"/>
                <a:cs typeface="Times New Roman"/>
                <a:sym typeface="Times New Roman"/>
              </a:rPr>
              <a:t>Imagina que conoces a una persona [ID] a través de tu círculo de conocidos. ¿Qué probabilidad hay de que te lleves bien con la persona [ID]?</a:t>
            </a:r>
            <a:r>
              <a:rPr lang="en-US" noProof="0" dirty="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b="1" noProof="0"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b="1" noProof="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Confianza</a:t>
            </a:r>
            <a:r>
              <a:rPr lang="en-US" b="1" noProof="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marL="482600" lvl="0" indent="-342900" algn="l" rtl="0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-US" noProof="0" dirty="0">
                <a:solidFill>
                  <a:schemeClr val="bg1">
                    <a:lumMod val="8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Imagine you are faced with a task that you cannot perform on your own. How likely would you be to ask the person [ID] for help? </a:t>
            </a:r>
            <a:r>
              <a:rPr lang="en-US" b="1" noProof="0" dirty="0">
                <a:solidFill>
                  <a:schemeClr val="bg1">
                    <a:lumMod val="8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(Cooperation)</a:t>
            </a:r>
            <a:br>
              <a:rPr lang="en-US" noProof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9700" lvl="0" algn="ctr">
              <a:buSzPts val="1400"/>
            </a:pPr>
            <a:r>
              <a:rPr lang="en-US" b="1" noProof="0" dirty="0">
                <a:latin typeface="Times New Roman"/>
                <a:ea typeface="Times New Roman"/>
                <a:cs typeface="Times New Roman"/>
                <a:sym typeface="Times New Roman"/>
              </a:rPr>
              <a:t>["Not likely at all”] </a:t>
            </a:r>
            <a:r>
              <a:rPr lang="en-US" noProof="0" dirty="0">
                <a:latin typeface="Times New Roman"/>
                <a:ea typeface="Times New Roman"/>
                <a:cs typeface="Times New Roman"/>
                <a:sym typeface="Times New Roman"/>
              </a:rPr>
              <a:t>0,1,2,3,4,5,6,7,8,9,10 </a:t>
            </a:r>
            <a:r>
              <a:rPr lang="en-US" b="1" noProof="0" dirty="0">
                <a:latin typeface="Times New Roman"/>
                <a:ea typeface="Times New Roman"/>
                <a:cs typeface="Times New Roman"/>
                <a:sym typeface="Times New Roman"/>
              </a:rPr>
              <a:t>[“Absolutely likely”]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7195A-4FCF-533A-5D5A-AF1DA20BA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B734D-A828-BFD1-2266-D43D667281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C5733-F3E3-637A-8F99-C9A111CC7B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13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8A9E63-91C3-74AC-51A2-C5E528E8B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26" y="285750"/>
            <a:ext cx="8832300" cy="44161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2CEDC7-B627-40B7-65D7-D25538B2DEC2}"/>
              </a:ext>
            </a:extLst>
          </p:cNvPr>
          <p:cNvSpPr txBox="1"/>
          <p:nvPr/>
        </p:nvSpPr>
        <p:spPr>
          <a:xfrm>
            <a:off x="738294" y="4674465"/>
            <a:ext cx="76470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noProof="0" dirty="0"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s-ES" b="1" dirty="0">
                <a:latin typeface="Times New Roman"/>
                <a:ea typeface="Times New Roman"/>
                <a:cs typeface="Times New Roman"/>
                <a:sym typeface="Times New Roman"/>
              </a:rPr>
              <a:t>"No es probable en absoluto"</a:t>
            </a:r>
            <a:r>
              <a:rPr lang="en-US" b="1" noProof="0" dirty="0"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noProof="0" dirty="0">
                <a:latin typeface="Times New Roman"/>
                <a:ea typeface="Times New Roman"/>
                <a:cs typeface="Times New Roman"/>
                <a:sym typeface="Times New Roman"/>
              </a:rPr>
              <a:t>0,1,2,3,4,5,6,7,8,9,10 </a:t>
            </a:r>
            <a:r>
              <a:rPr lang="en-US" b="1" noProof="0" dirty="0"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"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Absolutamente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probable"</a:t>
            </a:r>
            <a:r>
              <a:rPr lang="en-US" b="1" noProof="0" dirty="0"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1DAB53-130C-7F7F-68FD-00AF7AEA697F}"/>
              </a:ext>
            </a:extLst>
          </p:cNvPr>
          <p:cNvSpPr txBox="1"/>
          <p:nvPr/>
        </p:nvSpPr>
        <p:spPr>
          <a:xfrm>
            <a:off x="2858348" y="877211"/>
            <a:ext cx="15985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6.2, </a:t>
            </a:r>
            <a:r>
              <a:rPr lang="es-CL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 </a:t>
            </a: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2.74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EDB78B-D9B6-6BB0-2C08-27AC069C606E}"/>
              </a:ext>
            </a:extLst>
          </p:cNvPr>
          <p:cNvSpPr txBox="1"/>
          <p:nvPr/>
        </p:nvSpPr>
        <p:spPr>
          <a:xfrm>
            <a:off x="7372757" y="873826"/>
            <a:ext cx="15985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5.7, </a:t>
            </a:r>
            <a:r>
              <a:rPr lang="es-CL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 </a:t>
            </a: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2.36</a:t>
            </a:r>
          </a:p>
        </p:txBody>
      </p:sp>
    </p:spTree>
    <p:extLst>
      <p:ext uri="{BB962C8B-B14F-4D97-AF65-F5344CB8AC3E}">
        <p14:creationId xmlns:p14="http://schemas.microsoft.com/office/powerpoint/2010/main" val="2472115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dirty="0" err="1">
                <a:latin typeface="Georgia"/>
                <a:ea typeface="Georgia"/>
                <a:cs typeface="Georgia"/>
                <a:sym typeface="Georgia"/>
              </a:rPr>
              <a:t>Resultados</a:t>
            </a:r>
            <a:r>
              <a:rPr lang="en-US" dirty="0">
                <a:latin typeface="Georgia"/>
                <a:ea typeface="Georgia"/>
                <a:cs typeface="Georgia"/>
                <a:sym typeface="Georgia"/>
              </a:rPr>
              <a:t>: </a:t>
            </a:r>
            <a:r>
              <a:rPr lang="en-US" dirty="0" err="1">
                <a:latin typeface="Georgia"/>
                <a:ea typeface="Georgia"/>
                <a:cs typeface="Georgia"/>
                <a:sym typeface="Georgia"/>
              </a:rPr>
              <a:t>los</a:t>
            </a:r>
            <a:r>
              <a:rPr lang="en-US" dirty="0"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dirty="0" err="1">
                <a:latin typeface="Georgia"/>
                <a:ea typeface="Georgia"/>
                <a:cs typeface="Georgia"/>
                <a:sym typeface="Georgia"/>
              </a:rPr>
              <a:t>otros</a:t>
            </a:r>
            <a:endParaRPr lang="en-US" noProof="0" dirty="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7" name="Google Shape;157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7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4E457D8D-05A5-4967-B4AB-D41D3B652EF8}" type="slidenum">
              <a:rPr lang="en-US" noProof="0" smtClean="0"/>
              <a:t>14</a:t>
            </a:fld>
            <a:fld id="{F29C51C9-3AE0-4E26-8213-438B9701BA42}" type="slidenum">
              <a:rPr lang="en-US" noProof="0" smtClean="0"/>
              <a:t>14</a:t>
            </a:fld>
            <a:fld id="{70408E1F-C39A-4225-ADAF-3E22F443AB58}" type="slidenum">
              <a:rPr lang="en-US" noProof="0" smtClean="0"/>
              <a:t>14</a:t>
            </a:fld>
            <a:endParaRPr lang="en-US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98" y="0"/>
            <a:ext cx="7834163" cy="52257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CB521B7-013D-8520-96DB-01859F78442D}"/>
              </a:ext>
            </a:extLst>
          </p:cNvPr>
          <p:cNvSpPr/>
          <p:nvPr/>
        </p:nvSpPr>
        <p:spPr>
          <a:xfrm>
            <a:off x="152400" y="453813"/>
            <a:ext cx="7834163" cy="1178560"/>
          </a:xfrm>
          <a:prstGeom prst="round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0250B3A-B6EC-401F-F269-C353CE141D1D}"/>
              </a:ext>
            </a:extLst>
          </p:cNvPr>
          <p:cNvCxnSpPr/>
          <p:nvPr/>
        </p:nvCxnSpPr>
        <p:spPr>
          <a:xfrm>
            <a:off x="5161280" y="1246293"/>
            <a:ext cx="209973" cy="318347"/>
          </a:xfrm>
          <a:prstGeom prst="straightConnector1">
            <a:avLst/>
          </a:prstGeom>
          <a:ln w="19050" cap="flat" cmpd="sng" algn="ctr">
            <a:solidFill>
              <a:srgbClr val="F8766D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F0E39E-B9F1-6C8B-A110-B1101792F91B}"/>
              </a:ext>
            </a:extLst>
          </p:cNvPr>
          <p:cNvSpPr/>
          <p:nvPr/>
        </p:nvSpPr>
        <p:spPr>
          <a:xfrm>
            <a:off x="152400" y="1632373"/>
            <a:ext cx="7834162" cy="1320800"/>
          </a:xfrm>
          <a:prstGeom prst="round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33C6DED-79BB-166B-8552-4507BEDA4B4C}"/>
              </a:ext>
            </a:extLst>
          </p:cNvPr>
          <p:cNvSpPr/>
          <p:nvPr/>
        </p:nvSpPr>
        <p:spPr>
          <a:xfrm>
            <a:off x="152400" y="2970108"/>
            <a:ext cx="7834162" cy="720511"/>
          </a:xfrm>
          <a:prstGeom prst="round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AC75BE7-60C7-53BD-E64C-B49DC76F07BA}"/>
              </a:ext>
            </a:extLst>
          </p:cNvPr>
          <p:cNvSpPr/>
          <p:nvPr/>
        </p:nvSpPr>
        <p:spPr>
          <a:xfrm>
            <a:off x="152399" y="3738033"/>
            <a:ext cx="7834163" cy="768772"/>
          </a:xfrm>
          <a:prstGeom prst="roundRect">
            <a:avLst/>
          </a:prstGeom>
          <a:noFill/>
          <a:ln w="1905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4FE051A-C621-06DE-F327-C708C032BC1C}"/>
              </a:ext>
            </a:extLst>
          </p:cNvPr>
          <p:cNvCxnSpPr>
            <a:cxnSpLocks/>
          </p:cNvCxnSpPr>
          <p:nvPr/>
        </p:nvCxnSpPr>
        <p:spPr>
          <a:xfrm flipH="1">
            <a:off x="4429760" y="731520"/>
            <a:ext cx="325120" cy="257387"/>
          </a:xfrm>
          <a:prstGeom prst="straightConnector1">
            <a:avLst/>
          </a:prstGeom>
          <a:ln w="19050" cap="flat" cmpd="sng" algn="ctr">
            <a:solidFill>
              <a:srgbClr val="F8766D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Arc 30">
            <a:extLst>
              <a:ext uri="{FF2B5EF4-FFF2-40B4-BE49-F238E27FC236}">
                <a16:creationId xmlns:a16="http://schemas.microsoft.com/office/drawing/2014/main" id="{6DBBD95A-C46A-D5C5-C7E5-0BC899944712}"/>
              </a:ext>
            </a:extLst>
          </p:cNvPr>
          <p:cNvSpPr/>
          <p:nvPr/>
        </p:nvSpPr>
        <p:spPr>
          <a:xfrm rot="5400000">
            <a:off x="4912628" y="625637"/>
            <a:ext cx="357185" cy="325119"/>
          </a:xfrm>
          <a:prstGeom prst="arc">
            <a:avLst>
              <a:gd name="adj1" fmla="val 10628203"/>
              <a:gd name="adj2" fmla="val 722114"/>
            </a:avLst>
          </a:prstGeom>
          <a:ln w="19050" cap="flat" cmpd="sng" algn="ctr">
            <a:solidFill>
              <a:srgbClr val="00BFC4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42F33FE-94C0-9EA9-ACC2-0C08F5010A2E}"/>
              </a:ext>
            </a:extLst>
          </p:cNvPr>
          <p:cNvCxnSpPr/>
          <p:nvPr/>
        </p:nvCxnSpPr>
        <p:spPr>
          <a:xfrm>
            <a:off x="5253780" y="1246293"/>
            <a:ext cx="209973" cy="318347"/>
          </a:xfrm>
          <a:prstGeom prst="straightConnector1">
            <a:avLst/>
          </a:prstGeom>
          <a:ln w="19050" cap="flat" cmpd="sng" algn="ctr">
            <a:solidFill>
              <a:srgbClr val="00BFC4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744A941-A30E-70AF-8A01-001D05977B49}"/>
              </a:ext>
            </a:extLst>
          </p:cNvPr>
          <p:cNvCxnSpPr>
            <a:cxnSpLocks/>
          </p:cNvCxnSpPr>
          <p:nvPr/>
        </p:nvCxnSpPr>
        <p:spPr>
          <a:xfrm flipH="1">
            <a:off x="5003800" y="1927012"/>
            <a:ext cx="169966" cy="430108"/>
          </a:xfrm>
          <a:prstGeom prst="straightConnector1">
            <a:avLst/>
          </a:prstGeom>
          <a:ln w="19050" cap="flat" cmpd="sng" algn="ctr">
            <a:solidFill>
              <a:srgbClr val="F8766D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44B4B44-E2A1-F1C2-074B-9872C88AF86A}"/>
              </a:ext>
            </a:extLst>
          </p:cNvPr>
          <p:cNvCxnSpPr>
            <a:cxnSpLocks/>
          </p:cNvCxnSpPr>
          <p:nvPr/>
        </p:nvCxnSpPr>
        <p:spPr>
          <a:xfrm flipH="1">
            <a:off x="5096402" y="1927012"/>
            <a:ext cx="157378" cy="474931"/>
          </a:xfrm>
          <a:prstGeom prst="straightConnector1">
            <a:avLst/>
          </a:prstGeom>
          <a:ln w="19050" cap="flat" cmpd="sng" algn="ctr">
            <a:solidFill>
              <a:srgbClr val="00BFC4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0E16961-46F0-4A64-F9BE-D3F4BAA859FC}"/>
              </a:ext>
            </a:extLst>
          </p:cNvPr>
          <p:cNvCxnSpPr>
            <a:cxnSpLocks/>
          </p:cNvCxnSpPr>
          <p:nvPr/>
        </p:nvCxnSpPr>
        <p:spPr>
          <a:xfrm flipH="1">
            <a:off x="4032251" y="2612898"/>
            <a:ext cx="502919" cy="200152"/>
          </a:xfrm>
          <a:prstGeom prst="straightConnector1">
            <a:avLst/>
          </a:prstGeom>
          <a:ln w="19050" cap="flat" cmpd="sng" algn="ctr">
            <a:solidFill>
              <a:srgbClr val="F8766D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223F57F-2D35-2C16-C2F3-ABD6A5B9B531}"/>
              </a:ext>
            </a:extLst>
          </p:cNvPr>
          <p:cNvCxnSpPr>
            <a:cxnSpLocks/>
          </p:cNvCxnSpPr>
          <p:nvPr/>
        </p:nvCxnSpPr>
        <p:spPr>
          <a:xfrm>
            <a:off x="5143500" y="2612898"/>
            <a:ext cx="0" cy="330119"/>
          </a:xfrm>
          <a:prstGeom prst="straightConnector1">
            <a:avLst/>
          </a:prstGeom>
          <a:ln w="19050" cap="flat" cmpd="sng" algn="ctr">
            <a:solidFill>
              <a:srgbClr val="00BFC4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1" name="Arc 130">
            <a:extLst>
              <a:ext uri="{FF2B5EF4-FFF2-40B4-BE49-F238E27FC236}">
                <a16:creationId xmlns:a16="http://schemas.microsoft.com/office/drawing/2014/main" id="{3690CA77-E886-EF0B-327E-5E35E63E2CBE}"/>
              </a:ext>
            </a:extLst>
          </p:cNvPr>
          <p:cNvSpPr/>
          <p:nvPr/>
        </p:nvSpPr>
        <p:spPr>
          <a:xfrm rot="5400000" flipV="1">
            <a:off x="3417194" y="3209080"/>
            <a:ext cx="357185" cy="375711"/>
          </a:xfrm>
          <a:prstGeom prst="arc">
            <a:avLst>
              <a:gd name="adj1" fmla="val 10628203"/>
              <a:gd name="adj2" fmla="val 722114"/>
            </a:avLst>
          </a:prstGeom>
          <a:ln w="19050" cap="flat" cmpd="sng" algn="ctr">
            <a:solidFill>
              <a:srgbClr val="00BFC4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2" name="Arc 131">
            <a:extLst>
              <a:ext uri="{FF2B5EF4-FFF2-40B4-BE49-F238E27FC236}">
                <a16:creationId xmlns:a16="http://schemas.microsoft.com/office/drawing/2014/main" id="{C4ECF90F-6D4B-70AF-E8BC-BC7B4D9BD789}"/>
              </a:ext>
            </a:extLst>
          </p:cNvPr>
          <p:cNvSpPr/>
          <p:nvPr/>
        </p:nvSpPr>
        <p:spPr>
          <a:xfrm rot="5400000" flipV="1">
            <a:off x="3980761" y="3221355"/>
            <a:ext cx="357185" cy="375711"/>
          </a:xfrm>
          <a:prstGeom prst="arc">
            <a:avLst>
              <a:gd name="adj1" fmla="val 10628203"/>
              <a:gd name="adj2" fmla="val 722114"/>
            </a:avLst>
          </a:prstGeom>
          <a:ln w="19050" cap="flat" cmpd="sng" algn="ctr">
            <a:solidFill>
              <a:srgbClr val="F8766D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8F5B3A44-79EF-C9B4-7253-483EA8F62A53}"/>
              </a:ext>
            </a:extLst>
          </p:cNvPr>
          <p:cNvCxnSpPr>
            <a:cxnSpLocks/>
          </p:cNvCxnSpPr>
          <p:nvPr/>
        </p:nvCxnSpPr>
        <p:spPr>
          <a:xfrm>
            <a:off x="5881217" y="3981401"/>
            <a:ext cx="430683" cy="393749"/>
          </a:xfrm>
          <a:prstGeom prst="straightConnector1">
            <a:avLst/>
          </a:prstGeom>
          <a:ln w="19050" cap="flat" cmpd="sng" algn="ctr">
            <a:solidFill>
              <a:srgbClr val="F8766D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4486DFB-8B4B-2718-359E-E7C462FB3309}"/>
              </a:ext>
            </a:extLst>
          </p:cNvPr>
          <p:cNvCxnSpPr>
            <a:cxnSpLocks/>
          </p:cNvCxnSpPr>
          <p:nvPr/>
        </p:nvCxnSpPr>
        <p:spPr>
          <a:xfrm>
            <a:off x="7327900" y="3975100"/>
            <a:ext cx="393700" cy="400050"/>
          </a:xfrm>
          <a:prstGeom prst="straightConnector1">
            <a:avLst/>
          </a:prstGeom>
          <a:ln w="19050" cap="flat" cmpd="sng" algn="ctr">
            <a:solidFill>
              <a:srgbClr val="00BFC4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6" grpId="0" animBg="1"/>
      <p:bldP spid="21" grpId="0" animBg="1"/>
      <p:bldP spid="22" grpId="0" animBg="1"/>
      <p:bldP spid="31" grpId="0" animBg="1"/>
      <p:bldP spid="131" grpId="0" animBg="1"/>
      <p:bldP spid="1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258D3B8F-4BAA-C6B7-BACC-939BAAECF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>
            <a:extLst>
              <a:ext uri="{FF2B5EF4-FFF2-40B4-BE49-F238E27FC236}">
                <a16:creationId xmlns:a16="http://schemas.microsoft.com/office/drawing/2014/main" id="{A8235934-316C-849D-E416-F53FD0151B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s-ES" dirty="0">
                <a:latin typeface="Georgia"/>
                <a:ea typeface="Georgia"/>
                <a:cs typeface="Georgia"/>
                <a:sym typeface="Georgia"/>
              </a:rPr>
              <a:t>Resultados: los que son como yo</a:t>
            </a:r>
            <a:endParaRPr lang="en-US" noProof="0" dirty="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7" name="Google Shape;157;p25">
            <a:extLst>
              <a:ext uri="{FF2B5EF4-FFF2-40B4-BE49-F238E27FC236}">
                <a16:creationId xmlns:a16="http://schemas.microsoft.com/office/drawing/2014/main" id="{2082100C-4821-C626-419F-482F8B423C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990067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722A-3FD8-BC27-63E9-79D82FE55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283037-813B-EDD2-7859-0942A39156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pic>
        <p:nvPicPr>
          <p:cNvPr id="5" name="Picture 4" descr="A graph of a graph showing the difference between a line and a line&#10;&#10;AI-generated content may be incorrect.">
            <a:extLst>
              <a:ext uri="{FF2B5EF4-FFF2-40B4-BE49-F238E27FC236}">
                <a16:creationId xmlns:a16="http://schemas.microsoft.com/office/drawing/2014/main" id="{C805FE61-D577-8009-EA5C-763D9B7C2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75" y="475737"/>
            <a:ext cx="8638050" cy="43190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495640-4526-8851-FEAE-2AF46F391A55}"/>
              </a:ext>
            </a:extLst>
          </p:cNvPr>
          <p:cNvSpPr txBox="1"/>
          <p:nvPr/>
        </p:nvSpPr>
        <p:spPr>
          <a:xfrm>
            <a:off x="360000" y="292100"/>
            <a:ext cx="6110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rgbClr val="C00000"/>
                </a:solidFill>
                <a:latin typeface="Georgia" panose="02040502050405020303" pitchFamily="18" charset="0"/>
              </a:rPr>
              <a:t>Nivel Socioeconómico:</a:t>
            </a:r>
            <a:r>
              <a:rPr lang="es-CL" b="1" dirty="0">
                <a:solidFill>
                  <a:srgbClr val="00B050"/>
                </a:solidFill>
                <a:latin typeface="Georgia" panose="02040502050405020303" pitchFamily="18" charset="0"/>
              </a:rPr>
              <a:t> </a:t>
            </a:r>
            <a:r>
              <a:rPr lang="es-CL" b="1" dirty="0">
                <a:latin typeface="Georgia" panose="02040502050405020303" pitchFamily="18" charset="0"/>
              </a:rPr>
              <a:t>Educación</a:t>
            </a:r>
          </a:p>
        </p:txBody>
      </p:sp>
    </p:spTree>
    <p:extLst>
      <p:ext uri="{BB962C8B-B14F-4D97-AF65-F5344CB8AC3E}">
        <p14:creationId xmlns:p14="http://schemas.microsoft.com/office/powerpoint/2010/main" val="368219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2B82E90-6DFF-31F9-2CCB-DC306D5D7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s-CL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8FBB411-2366-8AF1-81CF-82713DA6B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3D54C8-2951-4284-E638-1DD2AF7FA4D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/>
          <a:lstStyle/>
          <a:p>
            <a:pPr lvl="0"/>
            <a:fld id="{00000000-1234-1234-1234-123412341234}" type="slidenum">
              <a:rPr lang="en" smtClean="0"/>
              <a:pPr lvl="0"/>
              <a:t>18</a:t>
            </a:fld>
            <a:endParaRPr lang="en"/>
          </a:p>
        </p:txBody>
      </p:sp>
      <p:pic>
        <p:nvPicPr>
          <p:cNvPr id="18" name="Picture 17" descr="A graph with a line graph&#10;&#10;AI-generated content may be incorrect.">
            <a:extLst>
              <a:ext uri="{FF2B5EF4-FFF2-40B4-BE49-F238E27FC236}">
                <a16:creationId xmlns:a16="http://schemas.microsoft.com/office/drawing/2014/main" id="{F581F34C-C452-A415-7929-A89DE51B8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75" y="475737"/>
            <a:ext cx="8638050" cy="431902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88F1792-2E5F-A4C2-830B-7B33167BB7F0}"/>
              </a:ext>
            </a:extLst>
          </p:cNvPr>
          <p:cNvSpPr txBox="1"/>
          <p:nvPr/>
        </p:nvSpPr>
        <p:spPr>
          <a:xfrm>
            <a:off x="360000" y="292100"/>
            <a:ext cx="6110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rgbClr val="C00000"/>
                </a:solidFill>
                <a:latin typeface="Georgia" panose="02040502050405020303" pitchFamily="18" charset="0"/>
              </a:rPr>
              <a:t>Nivel Socioeconómico:</a:t>
            </a:r>
            <a:r>
              <a:rPr lang="es-CL" b="1" dirty="0">
                <a:solidFill>
                  <a:srgbClr val="00B050"/>
                </a:solidFill>
                <a:latin typeface="Georgia" panose="02040502050405020303" pitchFamily="18" charset="0"/>
              </a:rPr>
              <a:t> </a:t>
            </a:r>
            <a:r>
              <a:rPr lang="es-CL" b="1" dirty="0">
                <a:latin typeface="Georgia" panose="02040502050405020303" pitchFamily="18" charset="0"/>
              </a:rPr>
              <a:t>Ingresos</a:t>
            </a:r>
          </a:p>
        </p:txBody>
      </p:sp>
    </p:spTree>
    <p:extLst>
      <p:ext uri="{BB962C8B-B14F-4D97-AF65-F5344CB8AC3E}">
        <p14:creationId xmlns:p14="http://schemas.microsoft.com/office/powerpoint/2010/main" val="31113677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C8DD6-1D29-9BD0-C08F-DF047CB24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 fontScale="90000"/>
          </a:bodyPr>
          <a:lstStyle/>
          <a:p>
            <a:endParaRPr lang="es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6B849-0D51-31A4-491B-725B05C79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b"/>
          <a:lstStyle/>
          <a:p>
            <a:endParaRPr lang="es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3D988-3F88-6707-D364-B0BED289B6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BDA2AAE-7358-DD3C-D64C-22416B13E8DD}"/>
              </a:ext>
            </a:extLst>
          </p:cNvPr>
          <p:cNvGrpSpPr/>
          <p:nvPr/>
        </p:nvGrpSpPr>
        <p:grpSpPr>
          <a:xfrm>
            <a:off x="360000" y="720000"/>
            <a:ext cx="8638050" cy="4319025"/>
            <a:chOff x="310125" y="685287"/>
            <a:chExt cx="8638050" cy="4319025"/>
          </a:xfrm>
        </p:grpSpPr>
        <p:pic>
          <p:nvPicPr>
            <p:cNvPr id="6" name="Picture 5" descr="A graph with different colored points&#10;&#10;AI-generated content may be incorrect.">
              <a:extLst>
                <a:ext uri="{FF2B5EF4-FFF2-40B4-BE49-F238E27FC236}">
                  <a16:creationId xmlns:a16="http://schemas.microsoft.com/office/drawing/2014/main" id="{8C2BDD2F-8470-55FD-60EA-9AAFA8580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0125" y="685287"/>
              <a:ext cx="8638050" cy="4319025"/>
            </a:xfrm>
            <a:prstGeom prst="rect">
              <a:avLst/>
            </a:prstGeom>
          </p:spPr>
        </p:pic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5A4DD943-3858-6283-3288-5501856BF7DD}"/>
                </a:ext>
              </a:extLst>
            </p:cNvPr>
            <p:cNvSpPr/>
            <p:nvPr/>
          </p:nvSpPr>
          <p:spPr>
            <a:xfrm>
              <a:off x="7239000" y="1492250"/>
              <a:ext cx="914400" cy="1149350"/>
            </a:xfrm>
            <a:prstGeom prst="roundRect">
              <a:avLst/>
            </a:prstGeom>
            <a:noFill/>
            <a:ln w="28575" cap="flat" cmpd="sng" algn="ctr">
              <a:solidFill>
                <a:srgbClr val="F8766D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b"/>
            <a:lstStyle/>
            <a:p>
              <a:pPr algn="ctr"/>
              <a:endParaRPr lang="es-CL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34D621C-4161-A0DB-C04C-FA1702AB4443}"/>
                </a:ext>
              </a:extLst>
            </p:cNvPr>
            <p:cNvSpPr/>
            <p:nvPr/>
          </p:nvSpPr>
          <p:spPr>
            <a:xfrm>
              <a:off x="3441700" y="1492250"/>
              <a:ext cx="914400" cy="1149350"/>
            </a:xfrm>
            <a:prstGeom prst="roundRect">
              <a:avLst/>
            </a:prstGeom>
            <a:noFill/>
            <a:ln w="28575" cap="flat" cmpd="sng" algn="ctr">
              <a:solidFill>
                <a:srgbClr val="F8766D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b"/>
            <a:lstStyle/>
            <a:p>
              <a:pPr algn="ctr"/>
              <a:endParaRPr lang="es-CL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BFC612D-FC74-A4D7-E02D-FEF6287EBA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0800" y="1749637"/>
              <a:ext cx="216825" cy="622300"/>
            </a:xfrm>
            <a:prstGeom prst="straightConnector1">
              <a:avLst/>
            </a:prstGeom>
            <a:ln w="19050">
              <a:solidFill>
                <a:srgbClr val="F8766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5FC6E2C-77C1-419C-90CF-56875409DE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975" y="1654387"/>
              <a:ext cx="171450" cy="639203"/>
            </a:xfrm>
            <a:prstGeom prst="straightConnector1">
              <a:avLst/>
            </a:prstGeom>
            <a:ln w="19050">
              <a:solidFill>
                <a:srgbClr val="F8766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A4CE646-613B-EFCA-DF80-E43EEC028ABD}"/>
              </a:ext>
            </a:extLst>
          </p:cNvPr>
          <p:cNvSpPr txBox="1"/>
          <p:nvPr/>
        </p:nvSpPr>
        <p:spPr>
          <a:xfrm>
            <a:off x="360000" y="292100"/>
            <a:ext cx="6110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rgbClr val="00B050"/>
                </a:solidFill>
                <a:latin typeface="Georgia" panose="02040502050405020303" pitchFamily="18" charset="0"/>
              </a:rPr>
              <a:t>Human </a:t>
            </a:r>
            <a:r>
              <a:rPr lang="es-CL" b="1" dirty="0" err="1">
                <a:solidFill>
                  <a:srgbClr val="00B050"/>
                </a:solidFill>
                <a:latin typeface="Georgia" panose="02040502050405020303" pitchFamily="18" charset="0"/>
              </a:rPr>
              <a:t>Values</a:t>
            </a:r>
            <a:r>
              <a:rPr lang="es-CL" b="1" dirty="0">
                <a:solidFill>
                  <a:srgbClr val="00B050"/>
                </a:solidFill>
                <a:latin typeface="Georgia" panose="02040502050405020303" pitchFamily="18" charset="0"/>
              </a:rPr>
              <a:t>: </a:t>
            </a:r>
            <a:r>
              <a:rPr lang="es-CL" b="1" dirty="0" err="1">
                <a:latin typeface="Georgia" panose="02040502050405020303" pitchFamily="18" charset="0"/>
              </a:rPr>
              <a:t>Self-transendence</a:t>
            </a:r>
            <a:r>
              <a:rPr lang="es-CL" b="1" dirty="0">
                <a:latin typeface="Georgia" panose="02040502050405020303" pitchFamily="18" charset="0"/>
              </a:rPr>
              <a:t> (Social Focus)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E1C57A5-5AED-578B-0212-411208DF460C}"/>
              </a:ext>
            </a:extLst>
          </p:cNvPr>
          <p:cNvSpPr/>
          <p:nvPr/>
        </p:nvSpPr>
        <p:spPr>
          <a:xfrm>
            <a:off x="5434675" y="1520613"/>
            <a:ext cx="914400" cy="1149350"/>
          </a:xfrm>
          <a:prstGeom prst="roundRect">
            <a:avLst/>
          </a:prstGeom>
          <a:noFill/>
          <a:ln w="28575" cap="flat" cmpd="sng" algn="ctr">
            <a:solidFill>
              <a:srgbClr val="00BFC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b"/>
          <a:lstStyle/>
          <a:p>
            <a:pPr algn="ctr"/>
            <a:endParaRPr lang="es-CL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ECDACA0-D7B6-0B73-328E-FAB59600F548}"/>
              </a:ext>
            </a:extLst>
          </p:cNvPr>
          <p:cNvSpPr/>
          <p:nvPr/>
        </p:nvSpPr>
        <p:spPr>
          <a:xfrm>
            <a:off x="1637375" y="1520613"/>
            <a:ext cx="914400" cy="1149350"/>
          </a:xfrm>
          <a:prstGeom prst="roundRect">
            <a:avLst/>
          </a:prstGeom>
          <a:noFill/>
          <a:ln w="28575" cap="flat" cmpd="sng" algn="ctr">
            <a:solidFill>
              <a:srgbClr val="00BFC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b"/>
          <a:lstStyle/>
          <a:p>
            <a:pPr algn="ctr"/>
            <a:endParaRPr lang="es-CL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910E67E-5299-4168-D268-07842449AB10}"/>
              </a:ext>
            </a:extLst>
          </p:cNvPr>
          <p:cNvCxnSpPr>
            <a:cxnSpLocks/>
          </p:cNvCxnSpPr>
          <p:nvPr/>
        </p:nvCxnSpPr>
        <p:spPr>
          <a:xfrm flipV="1">
            <a:off x="1987550" y="2101850"/>
            <a:ext cx="196850" cy="371263"/>
          </a:xfrm>
          <a:prstGeom prst="straightConnector1">
            <a:avLst/>
          </a:prstGeom>
          <a:ln w="19050">
            <a:solidFill>
              <a:srgbClr val="00BF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6DECE76-7F7A-227E-FDE3-97EE40C97D40}"/>
              </a:ext>
            </a:extLst>
          </p:cNvPr>
          <p:cNvCxnSpPr>
            <a:cxnSpLocks/>
          </p:cNvCxnSpPr>
          <p:nvPr/>
        </p:nvCxnSpPr>
        <p:spPr>
          <a:xfrm flipV="1">
            <a:off x="5829300" y="1974850"/>
            <a:ext cx="234950" cy="431800"/>
          </a:xfrm>
          <a:prstGeom prst="straightConnector1">
            <a:avLst/>
          </a:prstGeom>
          <a:ln w="19050">
            <a:solidFill>
              <a:srgbClr val="00BF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1002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8F4-3260-336B-08EB-6070D67E0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s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EAAC4-3C36-60A0-330C-BCAE45703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4EFB3-8EEB-21B3-CBB0-CA85A008D9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pic>
        <p:nvPicPr>
          <p:cNvPr id="6" name="Picture 5" descr="A graph with different colored points&#10;&#10;AI-generated content may be incorrect.">
            <a:extLst>
              <a:ext uri="{FF2B5EF4-FFF2-40B4-BE49-F238E27FC236}">
                <a16:creationId xmlns:a16="http://schemas.microsoft.com/office/drawing/2014/main" id="{E2507619-CF8D-5428-B4F0-E0A093E91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720000"/>
            <a:ext cx="8638050" cy="431902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37CD563-935E-9BA6-1231-A5DDCFC41F6F}"/>
              </a:ext>
            </a:extLst>
          </p:cNvPr>
          <p:cNvSpPr/>
          <p:nvPr/>
        </p:nvSpPr>
        <p:spPr>
          <a:xfrm>
            <a:off x="3473450" y="1200150"/>
            <a:ext cx="914400" cy="1149350"/>
          </a:xfrm>
          <a:prstGeom prst="roundRect">
            <a:avLst/>
          </a:prstGeom>
          <a:noFill/>
          <a:ln w="28575" cap="flat" cmpd="sng" algn="ctr">
            <a:solidFill>
              <a:srgbClr val="F8766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18163D9-FE7F-6AAF-C788-A2156A646B14}"/>
              </a:ext>
            </a:extLst>
          </p:cNvPr>
          <p:cNvSpPr/>
          <p:nvPr/>
        </p:nvSpPr>
        <p:spPr>
          <a:xfrm>
            <a:off x="7327900" y="1200150"/>
            <a:ext cx="914400" cy="1149350"/>
          </a:xfrm>
          <a:prstGeom prst="roundRect">
            <a:avLst/>
          </a:prstGeom>
          <a:noFill/>
          <a:ln w="28575" cap="flat" cmpd="sng" algn="ctr">
            <a:solidFill>
              <a:srgbClr val="F8766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5D4A8B2-8E24-B709-263A-BC184CE077F2}"/>
              </a:ext>
            </a:extLst>
          </p:cNvPr>
          <p:cNvCxnSpPr>
            <a:cxnSpLocks/>
          </p:cNvCxnSpPr>
          <p:nvPr/>
        </p:nvCxnSpPr>
        <p:spPr>
          <a:xfrm>
            <a:off x="3721100" y="1454150"/>
            <a:ext cx="209550" cy="571500"/>
          </a:xfrm>
          <a:prstGeom prst="straightConnector1">
            <a:avLst/>
          </a:prstGeom>
          <a:ln w="19050">
            <a:solidFill>
              <a:srgbClr val="F876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183A312-CD0E-AA84-0BA1-33D4F51E9945}"/>
              </a:ext>
            </a:extLst>
          </p:cNvPr>
          <p:cNvCxnSpPr>
            <a:cxnSpLocks/>
          </p:cNvCxnSpPr>
          <p:nvPr/>
        </p:nvCxnSpPr>
        <p:spPr>
          <a:xfrm>
            <a:off x="7785100" y="1339850"/>
            <a:ext cx="203200" cy="641350"/>
          </a:xfrm>
          <a:prstGeom prst="straightConnector1">
            <a:avLst/>
          </a:prstGeom>
          <a:ln w="19050">
            <a:solidFill>
              <a:srgbClr val="F876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6D3D579-0895-E780-C77A-D40943E988AA}"/>
              </a:ext>
            </a:extLst>
          </p:cNvPr>
          <p:cNvSpPr txBox="1"/>
          <p:nvPr/>
        </p:nvSpPr>
        <p:spPr>
          <a:xfrm>
            <a:off x="360000" y="292100"/>
            <a:ext cx="6110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rgbClr val="00B050"/>
                </a:solidFill>
                <a:latin typeface="Georgia" panose="02040502050405020303" pitchFamily="18" charset="0"/>
              </a:rPr>
              <a:t>Human </a:t>
            </a:r>
            <a:r>
              <a:rPr lang="es-CL" b="1" dirty="0" err="1">
                <a:solidFill>
                  <a:srgbClr val="00B050"/>
                </a:solidFill>
                <a:latin typeface="Georgia" panose="02040502050405020303" pitchFamily="18" charset="0"/>
              </a:rPr>
              <a:t>Values</a:t>
            </a:r>
            <a:r>
              <a:rPr lang="es-CL" b="1" dirty="0">
                <a:latin typeface="Georgia" panose="02040502050405020303" pitchFamily="18" charset="0"/>
              </a:rPr>
              <a:t>: </a:t>
            </a:r>
            <a:r>
              <a:rPr lang="es-CL" b="1" dirty="0" err="1">
                <a:latin typeface="Georgia" panose="02040502050405020303" pitchFamily="18" charset="0"/>
              </a:rPr>
              <a:t>Self-enhancement</a:t>
            </a:r>
            <a:r>
              <a:rPr lang="es-CL" b="1" dirty="0">
                <a:latin typeface="Georgia" panose="02040502050405020303" pitchFamily="18" charset="0"/>
              </a:rPr>
              <a:t> (Personal Focus)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DD124A6-B8DE-448D-F037-19324C15B689}"/>
              </a:ext>
            </a:extLst>
          </p:cNvPr>
          <p:cNvSpPr/>
          <p:nvPr/>
        </p:nvSpPr>
        <p:spPr>
          <a:xfrm>
            <a:off x="1562100" y="1200150"/>
            <a:ext cx="914400" cy="1149350"/>
          </a:xfrm>
          <a:prstGeom prst="roundRect">
            <a:avLst/>
          </a:prstGeom>
          <a:noFill/>
          <a:ln w="28575" cap="flat" cmpd="sng" algn="ctr">
            <a:solidFill>
              <a:srgbClr val="00BFC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E6922D9-C3E7-2744-D8C4-F5D68A5FB4C3}"/>
              </a:ext>
            </a:extLst>
          </p:cNvPr>
          <p:cNvSpPr/>
          <p:nvPr/>
        </p:nvSpPr>
        <p:spPr>
          <a:xfrm>
            <a:off x="5416550" y="1200150"/>
            <a:ext cx="914400" cy="1149350"/>
          </a:xfrm>
          <a:prstGeom prst="roundRect">
            <a:avLst/>
          </a:prstGeom>
          <a:noFill/>
          <a:ln w="28575" cap="flat" cmpd="sng" algn="ctr">
            <a:solidFill>
              <a:srgbClr val="00BFC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96D11CB-083E-4B52-D5BF-F17476E63104}"/>
              </a:ext>
            </a:extLst>
          </p:cNvPr>
          <p:cNvCxnSpPr>
            <a:cxnSpLocks/>
          </p:cNvCxnSpPr>
          <p:nvPr/>
        </p:nvCxnSpPr>
        <p:spPr>
          <a:xfrm>
            <a:off x="2032000" y="1816100"/>
            <a:ext cx="184150" cy="336550"/>
          </a:xfrm>
          <a:prstGeom prst="straightConnector1">
            <a:avLst/>
          </a:prstGeom>
          <a:ln w="19050">
            <a:solidFill>
              <a:srgbClr val="00BF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2772F09-64B8-5172-002C-515F13D83456}"/>
              </a:ext>
            </a:extLst>
          </p:cNvPr>
          <p:cNvCxnSpPr>
            <a:cxnSpLocks/>
          </p:cNvCxnSpPr>
          <p:nvPr/>
        </p:nvCxnSpPr>
        <p:spPr>
          <a:xfrm>
            <a:off x="5861050" y="1657350"/>
            <a:ext cx="184150" cy="368300"/>
          </a:xfrm>
          <a:prstGeom prst="straightConnector1">
            <a:avLst/>
          </a:prstGeom>
          <a:ln w="19050">
            <a:solidFill>
              <a:srgbClr val="00BF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801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noProof="0" dirty="0" err="1">
                <a:latin typeface="Georgia"/>
                <a:ea typeface="Georgia"/>
                <a:cs typeface="Georgia"/>
                <a:sym typeface="Georgia"/>
              </a:rPr>
              <a:t>Conclusiones</a:t>
            </a:r>
            <a:r>
              <a:rPr lang="en-US" noProof="0" dirty="0">
                <a:latin typeface="Georgia"/>
                <a:ea typeface="Georgia"/>
                <a:cs typeface="Georgia"/>
                <a:sym typeface="Georgia"/>
              </a:rPr>
              <a:t> </a:t>
            </a:r>
          </a:p>
        </p:txBody>
      </p:sp>
      <p:sp>
        <p:nvSpPr>
          <p:cNvPr id="189" name="Google Shape;189;p3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Nivel </a:t>
            </a:r>
            <a:r>
              <a:rPr lang="en-US" sz="1200" b="1" noProof="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Socioeconómico</a:t>
            </a:r>
            <a:r>
              <a:rPr lang="en-US" sz="1200" b="1" noProof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medida que aumenta el nivel educativo, también lo hace la confianza.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ocurre lo mismo con los grupos de ingresos: en Alemania, se confía más en los de clase media; en Chile, en los de clase baja y media.</a:t>
            </a:r>
          </a:p>
          <a:p>
            <a:pPr marL="0" indent="0">
              <a:buNone/>
            </a:pPr>
            <a:endParaRPr lang="es-ES"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buNone/>
            </a:pPr>
            <a:endParaRPr lang="es-ES"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Valores </a:t>
            </a:r>
            <a:r>
              <a:rPr lang="en-US" sz="1200" b="1" dirty="0" err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humanos</a:t>
            </a:r>
            <a:r>
              <a:rPr lang="en-US" sz="1200" b="1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perfil de valores de </a:t>
            </a:r>
            <a:r>
              <a:rPr lang="es-ES" sz="1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auto-trascendencia</a:t>
            </a: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s-ES" sz="12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foco social</a:t>
            </a: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es preferible al de </a:t>
            </a:r>
            <a:r>
              <a:rPr lang="es-ES" sz="1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auto-promoción</a:t>
            </a: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s-ES" sz="12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foco personal</a:t>
            </a: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lang="en-US"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9D0BE1-2905-3C8F-9731-C7DC1763105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1200" b="1" dirty="0" err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Posición</a:t>
            </a:r>
            <a:r>
              <a:rPr lang="en-US" sz="12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b="1" dirty="0" err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política</a:t>
            </a:r>
            <a:r>
              <a:rPr lang="en-US" sz="12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ambos contextos se prefiere el perfil político de "Centro" (moderado) frente a los grupos de izquierda y derecha.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Alemania, las personas de derechas son las menos confiables. Además, los "desinteresados" por la política en Alemania son menos fiables que en Chile.</a:t>
            </a:r>
            <a:endParaRPr lang="en-US"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None/>
            </a:pPr>
            <a:r>
              <a:rPr lang="en-US" sz="1200" b="1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Migración</a:t>
            </a:r>
            <a:r>
              <a:rPr lang="en-US" sz="12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 </a:t>
            </a:r>
            <a:r>
              <a:rPr lang="en-US" sz="1200" b="1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Religión</a:t>
            </a:r>
            <a:r>
              <a:rPr lang="en-US" sz="12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Religión y origen migratorio constituyen parámetros divisorios en ambos contextos.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Migración parece no ser relevante en Alemania, no así en Chile.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Grupos religiosos: los musulmanes (Alemania) y evangélicos (Chile) en los grupos en los que menos se confía.</a:t>
            </a:r>
            <a:endParaRPr lang="en-US" sz="1200" dirty="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indent="-285750">
              <a:spcBef>
                <a:spcPts val="1200"/>
              </a:spcBef>
              <a:spcAft>
                <a:spcPts val="1200"/>
              </a:spcAft>
            </a:pPr>
            <a:endParaRPr lang="en-US" sz="1200" i="1" dirty="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s-CL" sz="1200" dirty="0"/>
          </a:p>
        </p:txBody>
      </p:sp>
      <p:sp>
        <p:nvSpPr>
          <p:cNvPr id="188" name="Google Shape;188;p3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21</a:t>
            </a:fld>
            <a:endParaRPr lang="en-US" noProof="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2E08D-9F46-C077-358B-F998ADE41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 dirty="0">
                <a:latin typeface="Georgia" panose="02040502050405020303" pitchFamily="18" charset="0"/>
              </a:rPr>
              <a:t>Conclusiones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80442-06CD-B01A-BA12-270CD2423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s-ES" sz="12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Hipótesis de </a:t>
            </a:r>
            <a:r>
              <a:rPr lang="es-ES" sz="1200" b="1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homofilia</a:t>
            </a:r>
            <a:r>
              <a:rPr lang="es-ES" sz="12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 preferencias por los círculos transversales muestran un patrón de preferencias </a:t>
            </a:r>
            <a:r>
              <a:rPr lang="es-ES" sz="12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homófilas</a:t>
            </a:r>
            <a:r>
              <a:rPr lang="es-E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pero también de distanciamiento social respecto a otros diferentes.</a:t>
            </a:r>
          </a:p>
          <a:p>
            <a:pPr marL="114300" indent="0">
              <a:buNone/>
            </a:pPr>
            <a:endParaRPr lang="es-E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Vemos que el nivel socioeconómico traza divisiones: principalmente en los individuos de NSE más bajos, confían más en los suyos que en los grupos intermedio y alto. Aquellos con NSE alto, muestran 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 personas con mayor </a:t>
            </a:r>
            <a:r>
              <a:rPr lang="es-ES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autotrasendencia</a:t>
            </a:r>
            <a:r>
              <a:rPr lang="es-E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ES" sz="1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self-transcendence</a:t>
            </a: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muestran mayor confianza en los individuos de conservación y </a:t>
            </a:r>
            <a:r>
              <a:rPr lang="es-E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autotrasendencia</a:t>
            </a: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s-ES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Foco social</a:t>
            </a: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No muestran diferencias significativas respecto a autopromoción o apertura al cambio (</a:t>
            </a:r>
            <a:r>
              <a:rPr lang="es-ES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Foco personal</a:t>
            </a: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Personas con mayor foco en </a:t>
            </a:r>
            <a:r>
              <a:rPr lang="es-E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autopromoción </a:t>
            </a: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ES" sz="1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self-enhancement</a:t>
            </a: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muestran una </a:t>
            </a:r>
            <a:r>
              <a:rPr lang="es-E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homofilia</a:t>
            </a: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valores acotada, así como un distanciamiento significativo de perfiles valóricos con </a:t>
            </a:r>
            <a:r>
              <a:rPr lang="es-ES" sz="1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foco social </a:t>
            </a:r>
            <a:r>
              <a:rPr lang="es-ES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ES" sz="1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self-transcendence</a:t>
            </a:r>
            <a:r>
              <a:rPr lang="es-ES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s-ES" sz="1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conservation</a:t>
            </a:r>
            <a:r>
              <a:rPr lang="es-ES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buFont typeface="Arial" panose="020B0604020202020204" pitchFamily="34" charset="0"/>
              <a:buChar char="•"/>
            </a:pPr>
            <a:endParaRPr lang="es-CL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EAB8B-EA2E-F831-A9AD-615FC8509B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439834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Georgia"/>
                <a:ea typeface="Georgia"/>
                <a:cs typeface="Georgia"/>
                <a:sym typeface="Georgia"/>
              </a:rPr>
              <a:t>¡Gracias!</a:t>
            </a:r>
          </a:p>
        </p:txBody>
      </p:sp>
      <p:sp>
        <p:nvSpPr>
          <p:cNvPr id="202" name="Google Shape;202;p3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Georgia"/>
                <a:ea typeface="Georgia"/>
                <a:cs typeface="Georgia"/>
                <a:sym typeface="Georgia"/>
              </a:rPr>
              <a:t>jiturra@bigsss.uni-bremen.de</a:t>
            </a:r>
          </a:p>
        </p:txBody>
      </p:sp>
      <p:sp>
        <p:nvSpPr>
          <p:cNvPr id="203" name="Google Shape;203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23</a:t>
            </a:fld>
            <a:endParaRPr lang="en-US" noProof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0D1BF-A0B3-D5D2-455F-BA4E59D93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47F2F3-5DD9-BD88-A63B-BBC409945C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  <p:pic>
        <p:nvPicPr>
          <p:cNvPr id="5" name="Picture 4" descr="A graph with different colored points&#10;&#10;AI-generated content may be incorrect.">
            <a:extLst>
              <a:ext uri="{FF2B5EF4-FFF2-40B4-BE49-F238E27FC236}">
                <a16:creationId xmlns:a16="http://schemas.microsoft.com/office/drawing/2014/main" id="{22A6F279-2E69-0416-5D85-5F7B44504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75" y="443987"/>
            <a:ext cx="8638050" cy="431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7935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2ED56-6123-CB73-64DD-D78902EA7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5A92AB-6ADF-D804-95FE-4B6A4B2616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  <p:pic>
        <p:nvPicPr>
          <p:cNvPr id="5" name="Picture 4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7EB51803-F369-275A-E1DB-366ED6A67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75" y="412237"/>
            <a:ext cx="8638050" cy="431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7006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sp>
        <p:nvSpPr>
          <p:cNvPr id="209" name="Google Shape;209;p3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pic>
        <p:nvPicPr>
          <p:cNvPr id="210" name="Google Shape;21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06318"/>
            <a:ext cx="9144000" cy="3330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lang="en-US" sz="2000" i="1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2000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What is the role of </a:t>
            </a:r>
            <a:r>
              <a:rPr lang="en-US" sz="2000" b="1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interpersonal networks</a:t>
            </a:r>
            <a:r>
              <a:rPr lang="en-US" sz="2000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 in </a:t>
            </a:r>
            <a:r>
              <a:rPr lang="en-US" sz="2000" b="1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attitudes towards inequality</a:t>
            </a:r>
            <a:r>
              <a:rPr lang="en-US" sz="2000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lang="en-US" sz="2000" i="1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lang="en-US" sz="2000" i="1" noProof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noProof="0" dirty="0">
                <a:latin typeface="Georgia"/>
                <a:ea typeface="Georgia"/>
                <a:cs typeface="Georgia"/>
                <a:sym typeface="Georgia"/>
              </a:rPr>
              <a:t>Research question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endParaRPr lang="en-US" sz="1800" noProof="0" dirty="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27</a:t>
            </a:fld>
            <a:endParaRPr lang="en-US" noProof="0" dirty="0"/>
          </a:p>
        </p:txBody>
      </p:sp>
    </p:spTree>
  </p:cSld>
  <p:clrMapOvr>
    <a:masterClrMapping/>
  </p:clrMapOvr>
  <p:transition spd="med"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290760" y="56258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noProof="0" dirty="0">
                <a:latin typeface="Times New Roman"/>
                <a:ea typeface="Times New Roman"/>
                <a:cs typeface="Times New Roman"/>
                <a:sym typeface="Times New Roman"/>
              </a:rPr>
              <a:t>Study 1</a:t>
            </a:r>
            <a:endParaRPr lang="en-US" noProof="0" dirty="0"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290760" y="1396580"/>
            <a:ext cx="2808000" cy="3179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52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i="1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Class-based network segregation, economic </a:t>
            </a:r>
            <a:r>
              <a:rPr lang="en-US" i="1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200" i="1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nequality and redistributive </a:t>
            </a:r>
            <a:r>
              <a:rPr lang="en-US" i="1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1200" i="1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 across societies</a:t>
            </a:r>
            <a:endParaRPr lang="en-US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52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b="1" noProof="0" dirty="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Cross-national</a:t>
            </a:r>
            <a:r>
              <a:rPr lang="en-US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comparison</a:t>
            </a:r>
            <a:endParaRPr lang="en-US" noProof="0" dirty="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32.000 individuals, 31 countries</a:t>
            </a:r>
            <a:endParaRPr lang="en-US" noProof="0" dirty="0"/>
          </a:p>
          <a:p>
            <a:pPr marL="152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52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R-gap:</a:t>
            </a:r>
            <a:endParaRPr lang="en-US" noProof="0" dirty="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-"/>
            </a:pPr>
            <a:r>
              <a:rPr lang="en-US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lang="en-US" b="1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segregation</a:t>
            </a:r>
            <a:r>
              <a:rPr lang="en-US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social networks influence redistributive preferences (RP)</a:t>
            </a:r>
            <a:endParaRPr lang="en-US" noProof="0" dirty="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-"/>
            </a:pPr>
            <a:r>
              <a:rPr lang="en-US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Income inequality as moderator of </a:t>
            </a:r>
            <a:r>
              <a:rPr lang="en-US" b="1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relations</a:t>
            </a:r>
            <a:r>
              <a:rPr lang="en-US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RP</a:t>
            </a:r>
            <a:endParaRPr lang="en-US" noProof="0" dirty="0"/>
          </a:p>
          <a:p>
            <a:pPr marL="152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52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noProof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451518" y="467019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28</a:t>
            </a:fld>
            <a:endParaRPr lang="en-US" noProof="0" dirty="0"/>
          </a:p>
        </p:txBody>
      </p:sp>
      <p:sp>
        <p:nvSpPr>
          <p:cNvPr id="74" name="Google Shape;74;p15"/>
          <p:cNvSpPr txBox="1"/>
          <p:nvPr/>
        </p:nvSpPr>
        <p:spPr>
          <a:xfrm>
            <a:off x="3241489" y="552788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 2</a:t>
            </a:r>
            <a:endParaRPr lang="en-US" noProof="0" dirty="0"/>
          </a:p>
        </p:txBody>
      </p:sp>
      <p:sp>
        <p:nvSpPr>
          <p:cNvPr id="75" name="Google Shape;75;p15"/>
          <p:cNvSpPr txBox="1"/>
          <p:nvPr/>
        </p:nvSpPr>
        <p:spPr>
          <a:xfrm>
            <a:off x="3241489" y="1386788"/>
            <a:ext cx="2808000" cy="3179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52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0" i="1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Changes </a:t>
            </a:r>
            <a:r>
              <a:rPr lang="en-US" sz="1200" i="1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socioeconomic diversity </a:t>
            </a:r>
            <a:r>
              <a:rPr lang="en-US" sz="1200" b="0" i="1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1200" i="1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justice preferences in Chile</a:t>
            </a:r>
            <a:endParaRPr lang="en-US" sz="1200" b="0" i="0" u="none" strike="noStrike" cap="none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-US" sz="1200" b="1" i="0" u="none" strike="noStrike" cap="none" noProof="0" dirty="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Longitudinal </a:t>
            </a:r>
            <a:r>
              <a:rPr lang="en-US" sz="12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panel design</a:t>
            </a:r>
            <a:endParaRPr lang="en-US" noProof="0" dirty="0"/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-US" sz="12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of Chile </a:t>
            </a:r>
            <a:endParaRPr lang="en-US" noProof="0" dirty="0"/>
          </a:p>
          <a:p>
            <a: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endParaRPr lang="en-US" sz="1200" b="0" i="0" u="none" strike="noStrike" cap="none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52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R-gap:</a:t>
            </a:r>
            <a:endParaRPr lang="en-US" noProof="0" dirty="0"/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-US" sz="12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Individual </a:t>
            </a:r>
            <a:r>
              <a:rPr lang="en-US" sz="1200" b="1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changes </a:t>
            </a:r>
            <a:r>
              <a:rPr lang="en-US" sz="12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network composition cause changes on market justice preferences (e.g. education, health or pensions)</a:t>
            </a:r>
            <a:endParaRPr lang="en-US" noProof="0" dirty="0"/>
          </a:p>
        </p:txBody>
      </p:sp>
      <p:sp>
        <p:nvSpPr>
          <p:cNvPr id="76" name="Google Shape;76;p15"/>
          <p:cNvSpPr txBox="1"/>
          <p:nvPr/>
        </p:nvSpPr>
        <p:spPr>
          <a:xfrm>
            <a:off x="11259518" y="46604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 noProof="0" smtClean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</a:t>
            </a:fld>
            <a:endParaRPr lang="en-US" sz="1000" b="0" i="0" u="none" strike="noStrike" cap="none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6192218" y="552788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 3</a:t>
            </a:r>
            <a:endParaRPr lang="en-US" noProof="0" dirty="0"/>
          </a:p>
        </p:txBody>
      </p:sp>
      <p:sp>
        <p:nvSpPr>
          <p:cNvPr id="78" name="Google Shape;78;p15"/>
          <p:cNvSpPr txBox="1"/>
          <p:nvPr/>
        </p:nvSpPr>
        <p:spPr>
          <a:xfrm>
            <a:off x="6185291" y="1386788"/>
            <a:ext cx="2808000" cy="3179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52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0" i="1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 groups and social solidarity: evidence from a comparative factorial survey in Chile and Germany</a:t>
            </a:r>
            <a:endParaRPr lang="en-US" noProof="0" dirty="0"/>
          </a:p>
          <a:p>
            <a:pPr marL="152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endParaRPr lang="en-US" sz="1200" b="0" i="0" u="none" strike="noStrike" cap="none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200"/>
              <a:buChar char="●"/>
            </a:pPr>
            <a:r>
              <a:rPr lang="en-US" sz="1200" b="1" noProof="0" dirty="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200" b="1" i="0" u="none" strike="noStrike" cap="none" noProof="0" dirty="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ignette </a:t>
            </a:r>
            <a:r>
              <a:rPr lang="en-US" sz="1200" b="1" noProof="0" dirty="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</a:t>
            </a:r>
            <a:endParaRPr lang="en-US" b="1" noProof="0" dirty="0">
              <a:solidFill>
                <a:srgbClr val="CC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-US" sz="12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cohesion attitudes in relation to</a:t>
            </a:r>
            <a:r>
              <a:rPr lang="en-US" sz="12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social groups</a:t>
            </a:r>
            <a:endParaRPr lang="en-US" noProof="0" dirty="0"/>
          </a:p>
          <a:p>
            <a:pPr marL="152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endParaRPr lang="en-US" sz="1200" b="0" i="0" u="none" strike="noStrike" cap="none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52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R-gap:</a:t>
            </a:r>
            <a:endParaRPr lang="en-US" noProof="0" dirty="0"/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-US" sz="12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 social solidarity (trust, </a:t>
            </a:r>
            <a:r>
              <a:rPr lang="en-US" sz="1200" b="0" i="0" u="none" strike="noStrike" cap="none" noProof="0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cooperation,</a:t>
            </a:r>
            <a:r>
              <a:rPr lang="en-US" sz="1200" noProof="0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conflict</a:t>
            </a:r>
            <a:r>
              <a:rPr lang="en-US" sz="12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in </a:t>
            </a:r>
            <a:r>
              <a:rPr lang="en-US" sz="1200" b="1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 (comparative) </a:t>
            </a:r>
            <a:r>
              <a:rPr lang="en-US" sz="12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 how individuals react to diverse social groups (e.g. SES or ethnic, religion)</a:t>
            </a:r>
            <a:endParaRPr lang="en-US" noProof="0" dirty="0"/>
          </a:p>
          <a:p>
            <a:pPr marL="152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endParaRPr lang="en-US" sz="1200" b="0" i="0" u="none" strike="noStrike" cap="none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14352976" y="46604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 noProof="0" smtClean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</a:t>
            </a:fld>
            <a:endParaRPr lang="en-US" sz="1000" b="0" i="0" u="none" strike="noStrike" cap="none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C9931CF8-F02C-0954-352E-3C48585135B6}"/>
              </a:ext>
            </a:extLst>
          </p:cNvPr>
          <p:cNvSpPr txBox="1"/>
          <p:nvPr/>
        </p:nvSpPr>
        <p:spPr>
          <a:xfrm>
            <a:off x="1141310" y="2449147"/>
            <a:ext cx="6678008" cy="1384995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s-C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CE2E96-C589-7EBD-3E3C-892D6743E3D0}"/>
              </a:ext>
            </a:extLst>
          </p:cNvPr>
          <p:cNvSpPr txBox="1"/>
          <p:nvPr/>
        </p:nvSpPr>
        <p:spPr>
          <a:xfrm>
            <a:off x="5100321" y="2936402"/>
            <a:ext cx="1440000" cy="54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Attitudes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</a:p>
          <a:p>
            <a:pPr algn="ctr"/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Behaviors</a:t>
            </a:r>
            <a:endParaRPr lang="es-C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E96F2C-10C7-0D70-0D98-9D4B4CF8B55E}"/>
              </a:ext>
            </a:extLst>
          </p:cNvPr>
          <p:cNvSpPr txBox="1"/>
          <p:nvPr/>
        </p:nvSpPr>
        <p:spPr>
          <a:xfrm>
            <a:off x="1141310" y="346311"/>
            <a:ext cx="1733973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Contextual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  <a:endParaRPr lang="es-C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6237E22-1DDE-4D4E-6A09-85AB865572CE}"/>
              </a:ext>
            </a:extLst>
          </p:cNvPr>
          <p:cNvCxnSpPr>
            <a:cxnSpLocks/>
            <a:stCxn id="9" idx="2"/>
            <a:endCxn id="5" idx="1"/>
          </p:cNvCxnSpPr>
          <p:nvPr/>
        </p:nvCxnSpPr>
        <p:spPr>
          <a:xfrm>
            <a:off x="2008297" y="869531"/>
            <a:ext cx="3092024" cy="233687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548D0691-4728-659F-AB43-18B5DD8BA13F}"/>
              </a:ext>
            </a:extLst>
          </p:cNvPr>
          <p:cNvSpPr/>
          <p:nvPr/>
        </p:nvSpPr>
        <p:spPr>
          <a:xfrm>
            <a:off x="6091319" y="121921"/>
            <a:ext cx="1728000" cy="97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Cohesion</a:t>
            </a:r>
            <a:endParaRPr lang="es-C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8D50FC4-E2A9-308E-23E4-6DC3296093B5}"/>
              </a:ext>
            </a:extLst>
          </p:cNvPr>
          <p:cNvCxnSpPr>
            <a:cxnSpLocks/>
            <a:stCxn id="5" idx="3"/>
            <a:endCxn id="24" idx="4"/>
          </p:cNvCxnSpPr>
          <p:nvPr/>
        </p:nvCxnSpPr>
        <p:spPr>
          <a:xfrm flipV="1">
            <a:off x="6540321" y="1093921"/>
            <a:ext cx="414998" cy="211248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CBA71FC-1A37-60E1-20F1-5E575653A50E}"/>
              </a:ext>
            </a:extLst>
          </p:cNvPr>
          <p:cNvCxnSpPr>
            <a:cxnSpLocks/>
            <a:stCxn id="9" idx="3"/>
            <a:endCxn id="24" idx="2"/>
          </p:cNvCxnSpPr>
          <p:nvPr/>
        </p:nvCxnSpPr>
        <p:spPr>
          <a:xfrm>
            <a:off x="2875283" y="607921"/>
            <a:ext cx="3216036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4B51116-0A09-948A-9476-F8D50D29F792}"/>
              </a:ext>
            </a:extLst>
          </p:cNvPr>
          <p:cNvSpPr txBox="1"/>
          <p:nvPr/>
        </p:nvSpPr>
        <p:spPr>
          <a:xfrm>
            <a:off x="2523064" y="2936402"/>
            <a:ext cx="1440000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</a:t>
            </a:r>
          </a:p>
          <a:p>
            <a:pPr algn="ctr"/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Positions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BF629DC-BB86-F0E1-D42C-5C9970A0AA05}"/>
              </a:ext>
            </a:extLst>
          </p:cNvPr>
          <p:cNvCxnSpPr>
            <a:cxnSpLocks/>
            <a:stCxn id="36" idx="3"/>
            <a:endCxn id="5" idx="1"/>
          </p:cNvCxnSpPr>
          <p:nvPr/>
        </p:nvCxnSpPr>
        <p:spPr>
          <a:xfrm>
            <a:off x="3963064" y="3198012"/>
            <a:ext cx="1137257" cy="83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6F5D1F6-61F5-84D4-B567-BCA2014E0E98}"/>
              </a:ext>
            </a:extLst>
          </p:cNvPr>
          <p:cNvCxnSpPr>
            <a:cxnSpLocks/>
            <a:stCxn id="9" idx="2"/>
            <a:endCxn id="36" idx="0"/>
          </p:cNvCxnSpPr>
          <p:nvPr/>
        </p:nvCxnSpPr>
        <p:spPr>
          <a:xfrm>
            <a:off x="2008297" y="869531"/>
            <a:ext cx="1234767" cy="206687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A3E31A86-1120-39A4-D871-F54E2AEF607E}"/>
              </a:ext>
            </a:extLst>
          </p:cNvPr>
          <p:cNvSpPr txBox="1"/>
          <p:nvPr/>
        </p:nvSpPr>
        <p:spPr>
          <a:xfrm>
            <a:off x="894079" y="3962401"/>
            <a:ext cx="73558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Structural</a:t>
            </a:r>
            <a:r>
              <a:rPr lang="es-C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/Societal </a:t>
            </a:r>
            <a:r>
              <a:rPr lang="es-CL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r>
              <a:rPr lang="es-C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Inequality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Heterogeneity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climate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s-C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Positions 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Status,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Migration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Religion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Political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s-CL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Attitudes</a:t>
            </a:r>
            <a:r>
              <a:rPr lang="es-C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s-CL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s-C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Trust,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Cooperation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Partipation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232492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272DA-D4D7-8F8C-A71F-B48AF1C49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F9896335-9368-4332-710E-B466F892297C}"/>
              </a:ext>
            </a:extLst>
          </p:cNvPr>
          <p:cNvSpPr txBox="1"/>
          <p:nvPr/>
        </p:nvSpPr>
        <p:spPr>
          <a:xfrm>
            <a:off x="528320" y="2032000"/>
            <a:ext cx="5350932" cy="1384995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dirty="0" err="1"/>
              <a:t>This</a:t>
            </a:r>
            <a:r>
              <a:rPr lang="es-CL" dirty="0"/>
              <a:t> </a:t>
            </a:r>
            <a:r>
              <a:rPr lang="es-CL" dirty="0" err="1"/>
              <a:t>study</a:t>
            </a:r>
            <a:r>
              <a:rPr lang="es-CL" dirty="0"/>
              <a:t>: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47AA7-8659-7477-2D86-1151EA11CB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30</a:t>
            </a:fld>
            <a:endParaRPr lang="e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6AEF1-F19D-CCB3-E42F-30EAAB475A7C}"/>
              </a:ext>
            </a:extLst>
          </p:cNvPr>
          <p:cNvSpPr txBox="1"/>
          <p:nvPr/>
        </p:nvSpPr>
        <p:spPr>
          <a:xfrm>
            <a:off x="3713479" y="2648374"/>
            <a:ext cx="1733973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dirty="0" err="1"/>
              <a:t>Attitudes</a:t>
            </a:r>
            <a:r>
              <a:rPr lang="es-CL" dirty="0"/>
              <a:t> and</a:t>
            </a:r>
          </a:p>
          <a:p>
            <a:r>
              <a:rPr lang="es-CL" dirty="0" err="1"/>
              <a:t>Behaviors</a:t>
            </a:r>
            <a:endParaRPr lang="es-C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E2EBEE-DC27-CB99-1D0A-1CE2A7DB9A19}"/>
              </a:ext>
            </a:extLst>
          </p:cNvPr>
          <p:cNvSpPr txBox="1"/>
          <p:nvPr/>
        </p:nvSpPr>
        <p:spPr>
          <a:xfrm>
            <a:off x="670558" y="686647"/>
            <a:ext cx="1733973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dirty="0" err="1"/>
              <a:t>Structural</a:t>
            </a:r>
            <a:r>
              <a:rPr lang="es-CL" dirty="0"/>
              <a:t> </a:t>
            </a:r>
            <a:r>
              <a:rPr lang="es-CL" dirty="0" err="1"/>
              <a:t>parameters</a:t>
            </a:r>
            <a:r>
              <a:rPr lang="es-CL"/>
              <a:t> </a:t>
            </a:r>
            <a:endParaRPr lang="es-CL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26A7824-AE5A-F9E7-4250-BB01F1FB84F1}"/>
              </a:ext>
            </a:extLst>
          </p:cNvPr>
          <p:cNvCxnSpPr>
            <a:cxnSpLocks/>
            <a:stCxn id="9" idx="2"/>
            <a:endCxn id="5" idx="1"/>
          </p:cNvCxnSpPr>
          <p:nvPr/>
        </p:nvCxnSpPr>
        <p:spPr>
          <a:xfrm>
            <a:off x="1537545" y="1209867"/>
            <a:ext cx="2175934" cy="170011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12A4105A-C589-E09E-A0E2-FF8E1D4E2CC6}"/>
              </a:ext>
            </a:extLst>
          </p:cNvPr>
          <p:cNvSpPr/>
          <p:nvPr/>
        </p:nvSpPr>
        <p:spPr>
          <a:xfrm>
            <a:off x="6685279" y="465233"/>
            <a:ext cx="1605280" cy="96604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err="1"/>
              <a:t>Cohesion</a:t>
            </a:r>
            <a:endParaRPr lang="es-CL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BC56F69-9BE7-7737-7759-56C9D1B72AC9}"/>
              </a:ext>
            </a:extLst>
          </p:cNvPr>
          <p:cNvCxnSpPr>
            <a:cxnSpLocks/>
            <a:stCxn id="5" idx="3"/>
            <a:endCxn id="24" idx="4"/>
          </p:cNvCxnSpPr>
          <p:nvPr/>
        </p:nvCxnSpPr>
        <p:spPr>
          <a:xfrm flipV="1">
            <a:off x="5447452" y="1431280"/>
            <a:ext cx="2040467" cy="147870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817EA86-7542-4801-F60C-6A6DD6618364}"/>
              </a:ext>
            </a:extLst>
          </p:cNvPr>
          <p:cNvCxnSpPr>
            <a:cxnSpLocks/>
            <a:stCxn id="9" idx="3"/>
            <a:endCxn id="24" idx="2"/>
          </p:cNvCxnSpPr>
          <p:nvPr/>
        </p:nvCxnSpPr>
        <p:spPr>
          <a:xfrm>
            <a:off x="2404531" y="948257"/>
            <a:ext cx="4280748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2FC4CE7-A004-1709-585C-BB37D5B47C91}"/>
              </a:ext>
            </a:extLst>
          </p:cNvPr>
          <p:cNvSpPr txBox="1"/>
          <p:nvPr/>
        </p:nvSpPr>
        <p:spPr>
          <a:xfrm>
            <a:off x="741680" y="2648373"/>
            <a:ext cx="1733973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dirty="0"/>
              <a:t>Individual </a:t>
            </a:r>
            <a:r>
              <a:rPr lang="es-CL" dirty="0" err="1"/>
              <a:t>parameters</a:t>
            </a:r>
            <a:endParaRPr lang="es-CL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AE966FE-A4EE-5B8D-BB2C-D4F3A37B3258}"/>
              </a:ext>
            </a:extLst>
          </p:cNvPr>
          <p:cNvCxnSpPr>
            <a:cxnSpLocks/>
            <a:stCxn id="36" idx="3"/>
            <a:endCxn id="5" idx="1"/>
          </p:cNvCxnSpPr>
          <p:nvPr/>
        </p:nvCxnSpPr>
        <p:spPr>
          <a:xfrm>
            <a:off x="2475653" y="2909983"/>
            <a:ext cx="1237826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632A20F-CD21-D85C-ACC0-1128A6978725}"/>
              </a:ext>
            </a:extLst>
          </p:cNvPr>
          <p:cNvCxnSpPr>
            <a:cxnSpLocks/>
            <a:stCxn id="9" idx="2"/>
            <a:endCxn id="36" idx="0"/>
          </p:cNvCxnSpPr>
          <p:nvPr/>
        </p:nvCxnSpPr>
        <p:spPr>
          <a:xfrm>
            <a:off x="1537545" y="1209867"/>
            <a:ext cx="71122" cy="143850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33B31CB-497F-453F-9F05-3AC4D16038E5}"/>
              </a:ext>
            </a:extLst>
          </p:cNvPr>
          <p:cNvSpPr txBox="1"/>
          <p:nvPr/>
        </p:nvSpPr>
        <p:spPr>
          <a:xfrm>
            <a:off x="670558" y="3840480"/>
            <a:ext cx="73558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err="1"/>
              <a:t>Structural</a:t>
            </a:r>
            <a:r>
              <a:rPr lang="es-CL" dirty="0"/>
              <a:t> </a:t>
            </a:r>
            <a:r>
              <a:rPr lang="es-CL" dirty="0" err="1"/>
              <a:t>parameters</a:t>
            </a:r>
            <a:r>
              <a:rPr lang="es-CL" dirty="0"/>
              <a:t>: </a:t>
            </a:r>
            <a:r>
              <a:rPr lang="es-CL" dirty="0" err="1"/>
              <a:t>Wealth</a:t>
            </a:r>
            <a:r>
              <a:rPr lang="es-CL" dirty="0"/>
              <a:t>, </a:t>
            </a:r>
            <a:r>
              <a:rPr lang="es-CL" dirty="0" err="1"/>
              <a:t>Inequality</a:t>
            </a:r>
            <a:r>
              <a:rPr lang="es-CL" dirty="0"/>
              <a:t>, </a:t>
            </a:r>
            <a:r>
              <a:rPr lang="es-CL" dirty="0" err="1"/>
              <a:t>Heterogeneity</a:t>
            </a:r>
            <a:r>
              <a:rPr lang="es-CL" dirty="0"/>
              <a:t>, </a:t>
            </a:r>
            <a:r>
              <a:rPr lang="es-CL" dirty="0" err="1"/>
              <a:t>Polarization</a:t>
            </a:r>
            <a:r>
              <a:rPr lang="es-CL" dirty="0"/>
              <a:t>, </a:t>
            </a:r>
            <a:r>
              <a:rPr lang="es-CL" dirty="0" err="1"/>
              <a:t>Consensus</a:t>
            </a:r>
            <a:r>
              <a:rPr lang="es-CL" dirty="0"/>
              <a:t> </a:t>
            </a:r>
          </a:p>
          <a:p>
            <a:r>
              <a:rPr lang="es-CL" dirty="0"/>
              <a:t>Individual </a:t>
            </a:r>
            <a:r>
              <a:rPr lang="es-CL" dirty="0" err="1"/>
              <a:t>parameters</a:t>
            </a:r>
            <a:r>
              <a:rPr lang="es-CL" dirty="0"/>
              <a:t>: Social </a:t>
            </a:r>
            <a:r>
              <a:rPr lang="es-CL" dirty="0" err="1"/>
              <a:t>Class</a:t>
            </a:r>
            <a:r>
              <a:rPr lang="es-CL" dirty="0"/>
              <a:t>, </a:t>
            </a:r>
            <a:r>
              <a:rPr lang="es-CL" dirty="0" err="1"/>
              <a:t>Religion</a:t>
            </a:r>
            <a:r>
              <a:rPr lang="es-CL" dirty="0"/>
              <a:t>, </a:t>
            </a:r>
            <a:r>
              <a:rPr lang="es-CL" dirty="0" err="1"/>
              <a:t>Political</a:t>
            </a:r>
            <a:r>
              <a:rPr lang="es-CL" dirty="0"/>
              <a:t> </a:t>
            </a:r>
            <a:r>
              <a:rPr lang="es-CL" dirty="0" err="1"/>
              <a:t>Party</a:t>
            </a:r>
            <a:r>
              <a:rPr lang="es-CL" dirty="0"/>
              <a:t>, </a:t>
            </a:r>
            <a:r>
              <a:rPr lang="es-CL" dirty="0" err="1"/>
              <a:t>Values</a:t>
            </a:r>
            <a:endParaRPr lang="es-CL" dirty="0"/>
          </a:p>
          <a:p>
            <a:r>
              <a:rPr lang="es-CL" dirty="0" err="1"/>
              <a:t>Attitudes</a:t>
            </a:r>
            <a:r>
              <a:rPr lang="es-CL" dirty="0"/>
              <a:t> and </a:t>
            </a:r>
            <a:r>
              <a:rPr lang="es-CL" dirty="0" err="1"/>
              <a:t>Behavior</a:t>
            </a:r>
            <a:r>
              <a:rPr lang="es-CL" dirty="0"/>
              <a:t>: Trust, </a:t>
            </a:r>
            <a:r>
              <a:rPr lang="es-CL" dirty="0" err="1"/>
              <a:t>Participation</a:t>
            </a:r>
            <a:r>
              <a:rPr lang="es-CL" dirty="0"/>
              <a:t>, Networks</a:t>
            </a:r>
          </a:p>
        </p:txBody>
      </p:sp>
    </p:spTree>
    <p:extLst>
      <p:ext uri="{BB962C8B-B14F-4D97-AF65-F5344CB8AC3E}">
        <p14:creationId xmlns:p14="http://schemas.microsoft.com/office/powerpoint/2010/main" val="33061306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25FDA814-67EA-754E-BAB8-5DBC50C78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>
            <a:extLst>
              <a:ext uri="{FF2B5EF4-FFF2-40B4-BE49-F238E27FC236}">
                <a16:creationId xmlns:a16="http://schemas.microsoft.com/office/drawing/2014/main" id="{E441529B-F249-A2AE-A5C3-33E600410853}"/>
              </a:ext>
            </a:extLst>
          </p:cNvPr>
          <p:cNvSpPr txBox="1"/>
          <p:nvPr/>
        </p:nvSpPr>
        <p:spPr>
          <a:xfrm>
            <a:off x="3547960" y="2809604"/>
            <a:ext cx="579040" cy="30777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EAD770-2119-7E45-8832-FBD30D920DF9}"/>
              </a:ext>
            </a:extLst>
          </p:cNvPr>
          <p:cNvSpPr txBox="1"/>
          <p:nvPr/>
        </p:nvSpPr>
        <p:spPr>
          <a:xfrm>
            <a:off x="1177620" y="577459"/>
            <a:ext cx="6978108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Respondent</a:t>
            </a: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Vignette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375C31-4D0A-1861-84E7-4E89046264A4}"/>
              </a:ext>
            </a:extLst>
          </p:cNvPr>
          <p:cNvSpPr txBox="1"/>
          <p:nvPr/>
        </p:nvSpPr>
        <p:spPr>
          <a:xfrm>
            <a:off x="6333840" y="3145984"/>
            <a:ext cx="1342760" cy="57888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Cohesive Attitudes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3E13BAE-3769-609C-140B-A5690F067ACD}"/>
              </a:ext>
            </a:extLst>
          </p:cNvPr>
          <p:cNvCxnSpPr>
            <a:cxnSpLocks/>
            <a:stCxn id="25" idx="1"/>
            <a:endCxn id="25" idx="3"/>
          </p:cNvCxnSpPr>
          <p:nvPr/>
        </p:nvCxnSpPr>
        <p:spPr>
          <a:xfrm>
            <a:off x="1177620" y="2562618"/>
            <a:ext cx="697810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C1E6F10B-CE21-942B-AE78-773A2860A596}"/>
              </a:ext>
            </a:extLst>
          </p:cNvPr>
          <p:cNvCxnSpPr>
            <a:cxnSpLocks/>
            <a:stCxn id="150" idx="3"/>
            <a:endCxn id="9" idx="1"/>
          </p:cNvCxnSpPr>
          <p:nvPr/>
        </p:nvCxnSpPr>
        <p:spPr>
          <a:xfrm flipV="1">
            <a:off x="3050360" y="3435425"/>
            <a:ext cx="3283480" cy="1796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82CFF197-1EFE-07B9-7067-105D2CBC28E7}"/>
              </a:ext>
            </a:extLst>
          </p:cNvPr>
          <p:cNvSpPr txBox="1"/>
          <p:nvPr/>
        </p:nvSpPr>
        <p:spPr>
          <a:xfrm>
            <a:off x="1358360" y="2733385"/>
            <a:ext cx="1692000" cy="14400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noProof="0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BA92C8E-2F4F-1626-C876-8DE60C0BFC95}"/>
              </a:ext>
            </a:extLst>
          </p:cNvPr>
          <p:cNvSpPr txBox="1"/>
          <p:nvPr/>
        </p:nvSpPr>
        <p:spPr>
          <a:xfrm>
            <a:off x="1467400" y="2794427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Socio-economic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5CADB8FB-8CD0-100A-44B5-0F1BEE74652A}"/>
              </a:ext>
            </a:extLst>
          </p:cNvPr>
          <p:cNvSpPr txBox="1"/>
          <p:nvPr/>
        </p:nvSpPr>
        <p:spPr>
          <a:xfrm>
            <a:off x="1467400" y="3145984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Socio-cultural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D991ADB-B50F-66E4-1E1E-432F5513935E}"/>
              </a:ext>
            </a:extLst>
          </p:cNvPr>
          <p:cNvSpPr txBox="1"/>
          <p:nvPr/>
        </p:nvSpPr>
        <p:spPr>
          <a:xfrm>
            <a:off x="1467400" y="3490087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Political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DC977B5B-C39B-0938-89DD-5E2C294A2C3E}"/>
              </a:ext>
            </a:extLst>
          </p:cNvPr>
          <p:cNvSpPr txBox="1"/>
          <p:nvPr/>
        </p:nvSpPr>
        <p:spPr>
          <a:xfrm>
            <a:off x="1467400" y="3828882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2566B2D7-C8D8-E952-580B-429A88827CCB}"/>
              </a:ext>
            </a:extLst>
          </p:cNvPr>
          <p:cNvSpPr txBox="1"/>
          <p:nvPr/>
        </p:nvSpPr>
        <p:spPr>
          <a:xfrm>
            <a:off x="3742600" y="846996"/>
            <a:ext cx="1764000" cy="15480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noProof="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7A2E2988-B1E7-F42C-6C53-BE6140031EF5}"/>
              </a:ext>
            </a:extLst>
          </p:cNvPr>
          <p:cNvSpPr txBox="1"/>
          <p:nvPr/>
        </p:nvSpPr>
        <p:spPr>
          <a:xfrm>
            <a:off x="3892250" y="934612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Socio-economic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C0248755-6C4F-DC36-5875-350128F4536C}"/>
              </a:ext>
            </a:extLst>
          </p:cNvPr>
          <p:cNvSpPr txBox="1"/>
          <p:nvPr/>
        </p:nvSpPr>
        <p:spPr>
          <a:xfrm>
            <a:off x="3892250" y="1286169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Socio-cultural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07985B01-0BDC-670E-6771-F65A31CF52DB}"/>
              </a:ext>
            </a:extLst>
          </p:cNvPr>
          <p:cNvSpPr txBox="1"/>
          <p:nvPr/>
        </p:nvSpPr>
        <p:spPr>
          <a:xfrm>
            <a:off x="3892250" y="1630272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Political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2EE69CC-20FE-A32F-F819-F4071802B934}"/>
              </a:ext>
            </a:extLst>
          </p:cNvPr>
          <p:cNvSpPr txBox="1"/>
          <p:nvPr/>
        </p:nvSpPr>
        <p:spPr>
          <a:xfrm>
            <a:off x="3892250" y="1969067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3F2827F9-0E3B-72F0-789A-0B9F85854CF7}"/>
              </a:ext>
            </a:extLst>
          </p:cNvPr>
          <p:cNvCxnSpPr>
            <a:cxnSpLocks/>
            <a:stCxn id="166" idx="2"/>
          </p:cNvCxnSpPr>
          <p:nvPr/>
        </p:nvCxnSpPr>
        <p:spPr>
          <a:xfrm>
            <a:off x="4624600" y="2394996"/>
            <a:ext cx="0" cy="102798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53368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E8CB9CC2-DB0E-4C93-C653-1AE1322C1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380E41F3-9C34-57A4-D142-FA8ACDFC09D4}"/>
              </a:ext>
            </a:extLst>
          </p:cNvPr>
          <p:cNvSpPr txBox="1"/>
          <p:nvPr/>
        </p:nvSpPr>
        <p:spPr>
          <a:xfrm>
            <a:off x="1170692" y="466717"/>
            <a:ext cx="6978108" cy="246221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Respondent</a:t>
            </a:r>
            <a:br>
              <a:rPr 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i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Vignette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E374A57-0ED0-D0F3-8F05-97DE9342E27B}"/>
              </a:ext>
            </a:extLst>
          </p:cNvPr>
          <p:cNvCxnSpPr>
            <a:cxnSpLocks/>
          </p:cNvCxnSpPr>
          <p:nvPr/>
        </p:nvCxnSpPr>
        <p:spPr>
          <a:xfrm>
            <a:off x="1257566" y="2571750"/>
            <a:ext cx="5849816" cy="0"/>
          </a:xfrm>
          <a:prstGeom prst="line">
            <a:avLst/>
          </a:prstGeom>
          <a:ln w="19050" cap="flat" cmpd="sng" algn="ctr">
            <a:solidFill>
              <a:schemeClr val="bg1">
                <a:lumMod val="8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3C2DB7C9-5A2B-E113-602A-EF5237B3D97D}"/>
              </a:ext>
            </a:extLst>
          </p:cNvPr>
          <p:cNvCxnSpPr>
            <a:cxnSpLocks/>
            <a:stCxn id="150" idx="3"/>
            <a:endCxn id="9" idx="1"/>
          </p:cNvCxnSpPr>
          <p:nvPr/>
        </p:nvCxnSpPr>
        <p:spPr>
          <a:xfrm flipV="1">
            <a:off x="3050360" y="2573278"/>
            <a:ext cx="3392520" cy="104550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0D3C532D-8C8A-5DE5-BAB0-F8DE682BCD2E}"/>
              </a:ext>
            </a:extLst>
          </p:cNvPr>
          <p:cNvSpPr txBox="1"/>
          <p:nvPr/>
        </p:nvSpPr>
        <p:spPr>
          <a:xfrm>
            <a:off x="1358360" y="2898786"/>
            <a:ext cx="1692000" cy="14400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noProof="0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3F63DC5-FB35-720D-27B9-AED1265FF2BC}"/>
              </a:ext>
            </a:extLst>
          </p:cNvPr>
          <p:cNvSpPr txBox="1"/>
          <p:nvPr/>
        </p:nvSpPr>
        <p:spPr>
          <a:xfrm>
            <a:off x="1467400" y="2959828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Socio-economic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1051A16-D4F7-97B2-A815-85F4A3248B18}"/>
              </a:ext>
            </a:extLst>
          </p:cNvPr>
          <p:cNvSpPr txBox="1"/>
          <p:nvPr/>
        </p:nvSpPr>
        <p:spPr>
          <a:xfrm>
            <a:off x="1467400" y="3311385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Socio-cultural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E94A0374-7267-3AE8-2B55-077F084619B7}"/>
              </a:ext>
            </a:extLst>
          </p:cNvPr>
          <p:cNvSpPr txBox="1"/>
          <p:nvPr/>
        </p:nvSpPr>
        <p:spPr>
          <a:xfrm>
            <a:off x="1467400" y="3655488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Political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28D87794-8C36-1948-2B81-318882BF1953}"/>
              </a:ext>
            </a:extLst>
          </p:cNvPr>
          <p:cNvSpPr txBox="1"/>
          <p:nvPr/>
        </p:nvSpPr>
        <p:spPr>
          <a:xfrm>
            <a:off x="1467400" y="3994283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C5ACDC3A-B160-AF88-E140-78AF060802E9}"/>
              </a:ext>
            </a:extLst>
          </p:cNvPr>
          <p:cNvSpPr txBox="1"/>
          <p:nvPr/>
        </p:nvSpPr>
        <p:spPr>
          <a:xfrm>
            <a:off x="1358360" y="668073"/>
            <a:ext cx="1764000" cy="15480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noProof="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ED8780EE-0043-8605-3A4A-708E396BBB70}"/>
              </a:ext>
            </a:extLst>
          </p:cNvPr>
          <p:cNvSpPr txBox="1"/>
          <p:nvPr/>
        </p:nvSpPr>
        <p:spPr>
          <a:xfrm>
            <a:off x="1508010" y="755689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Socio-economic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CC92AB8-3F79-BA70-25D3-37208A73C6F0}"/>
              </a:ext>
            </a:extLst>
          </p:cNvPr>
          <p:cNvSpPr txBox="1"/>
          <p:nvPr/>
        </p:nvSpPr>
        <p:spPr>
          <a:xfrm>
            <a:off x="1508010" y="1107246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Socio-cultural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8DE604CE-DD94-5A3A-2FF1-76F4D49F7541}"/>
              </a:ext>
            </a:extLst>
          </p:cNvPr>
          <p:cNvSpPr txBox="1"/>
          <p:nvPr/>
        </p:nvSpPr>
        <p:spPr>
          <a:xfrm>
            <a:off x="1508010" y="1451349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Political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98D7A34D-C7A3-CD19-31FC-DA894198C1B7}"/>
              </a:ext>
            </a:extLst>
          </p:cNvPr>
          <p:cNvSpPr txBox="1"/>
          <p:nvPr/>
        </p:nvSpPr>
        <p:spPr>
          <a:xfrm>
            <a:off x="1508010" y="1790144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63AAC7F8-B920-457B-64B4-6D0EA7318616}"/>
              </a:ext>
            </a:extLst>
          </p:cNvPr>
          <p:cNvCxnSpPr>
            <a:cxnSpLocks/>
            <a:stCxn id="166" idx="3"/>
          </p:cNvCxnSpPr>
          <p:nvPr/>
        </p:nvCxnSpPr>
        <p:spPr>
          <a:xfrm>
            <a:off x="3122360" y="1442073"/>
            <a:ext cx="1792794" cy="151775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FBC94E-2BC6-6851-1E6A-182D4232CCE5}"/>
              </a:ext>
            </a:extLst>
          </p:cNvPr>
          <p:cNvSpPr txBox="1"/>
          <p:nvPr/>
        </p:nvSpPr>
        <p:spPr>
          <a:xfrm>
            <a:off x="6442880" y="2283837"/>
            <a:ext cx="1342760" cy="57888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Interactional expectations</a:t>
            </a:r>
          </a:p>
        </p:txBody>
      </p:sp>
    </p:spTree>
    <p:extLst>
      <p:ext uri="{BB962C8B-B14F-4D97-AF65-F5344CB8AC3E}">
        <p14:creationId xmlns:p14="http://schemas.microsoft.com/office/powerpoint/2010/main" val="15400872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A5511CAC-9996-126C-6118-5031741E1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9E4D6BC8-5B64-090F-1F4F-DB2CB9218BF0}"/>
              </a:ext>
            </a:extLst>
          </p:cNvPr>
          <p:cNvSpPr txBox="1"/>
          <p:nvPr/>
        </p:nvSpPr>
        <p:spPr>
          <a:xfrm>
            <a:off x="1196074" y="577459"/>
            <a:ext cx="6978108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i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Respondente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i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Viñeta</a:t>
            </a:r>
            <a:endParaRPr lang="en-US" i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4BB50C-5E24-7150-12DE-48E6211ADFD6}"/>
              </a:ext>
            </a:extLst>
          </p:cNvPr>
          <p:cNvSpPr txBox="1"/>
          <p:nvPr/>
        </p:nvSpPr>
        <p:spPr>
          <a:xfrm>
            <a:off x="1385454" y="625948"/>
            <a:ext cx="1614055" cy="188203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noProof="0" dirty="0"/>
          </a:p>
        </p:txBody>
      </p:sp>
      <p:sp>
        <p:nvSpPr>
          <p:cNvPr id="128" name="Google Shape;128;p21">
            <a:extLst>
              <a:ext uri="{FF2B5EF4-FFF2-40B4-BE49-F238E27FC236}">
                <a16:creationId xmlns:a16="http://schemas.microsoft.com/office/drawing/2014/main" id="{903B1A41-2F56-3B08-21E8-16E43553DD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E3472F-C617-07CD-54A5-BA24D4B07B31}"/>
              </a:ext>
            </a:extLst>
          </p:cNvPr>
          <p:cNvSpPr txBox="1"/>
          <p:nvPr/>
        </p:nvSpPr>
        <p:spPr>
          <a:xfrm>
            <a:off x="1467400" y="2724093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F30E8A6-6468-8C33-B31F-1F81A6771985}"/>
              </a:ext>
            </a:extLst>
          </p:cNvPr>
          <p:cNvGrpSpPr/>
          <p:nvPr/>
        </p:nvGrpSpPr>
        <p:grpSpPr>
          <a:xfrm>
            <a:off x="6114829" y="2946892"/>
            <a:ext cx="1440000" cy="1080000"/>
            <a:chOff x="6057900" y="3392309"/>
            <a:chExt cx="1440000" cy="108000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B33F61E-8FD0-F030-3AD9-9F19232D2038}"/>
                </a:ext>
              </a:extLst>
            </p:cNvPr>
            <p:cNvSpPr txBox="1"/>
            <p:nvPr/>
          </p:nvSpPr>
          <p:spPr>
            <a:xfrm>
              <a:off x="6057900" y="3392309"/>
              <a:ext cx="1440000" cy="108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BFAA548-D82A-EFE4-4878-4E1FD99F962F}"/>
                </a:ext>
              </a:extLst>
            </p:cNvPr>
            <p:cNvSpPr txBox="1"/>
            <p:nvPr/>
          </p:nvSpPr>
          <p:spPr>
            <a:xfrm>
              <a:off x="6225540" y="3538745"/>
              <a:ext cx="1080000" cy="27699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200" b="1" noProof="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Confianza</a:t>
              </a:r>
              <a:endParaRPr lang="en-US" sz="12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229D8AB-9FC7-9ED7-501E-826A17DC7510}"/>
                </a:ext>
              </a:extLst>
            </p:cNvPr>
            <p:cNvSpPr txBox="1"/>
            <p:nvPr/>
          </p:nvSpPr>
          <p:spPr>
            <a:xfrm>
              <a:off x="6225540" y="4026425"/>
              <a:ext cx="1080000" cy="27699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200" noProof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Cooperación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7DC6F22-1C63-711B-A25E-813A61F82FF0}"/>
              </a:ext>
            </a:extLst>
          </p:cNvPr>
          <p:cNvSpPr txBox="1"/>
          <p:nvPr/>
        </p:nvSpPr>
        <p:spPr>
          <a:xfrm>
            <a:off x="1467400" y="3150153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Migración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BC74D0-F87D-7881-FE64-D7A264D80C20}"/>
              </a:ext>
            </a:extLst>
          </p:cNvPr>
          <p:cNvSpPr txBox="1"/>
          <p:nvPr/>
        </p:nvSpPr>
        <p:spPr>
          <a:xfrm>
            <a:off x="1467400" y="3486892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Religión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6F4C88-EAF6-249D-A7D3-69AB5652E131}"/>
              </a:ext>
            </a:extLst>
          </p:cNvPr>
          <p:cNvSpPr txBox="1"/>
          <p:nvPr/>
        </p:nvSpPr>
        <p:spPr>
          <a:xfrm>
            <a:off x="1467400" y="3813011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Pos. Política (Cent.)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3463B3-36B9-C504-A180-5CE7B50C7214}"/>
              </a:ext>
            </a:extLst>
          </p:cNvPr>
          <p:cNvSpPr txBox="1"/>
          <p:nvPr/>
        </p:nvSpPr>
        <p:spPr>
          <a:xfrm>
            <a:off x="1467400" y="4146751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Autotrascendencia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F4781CA-D271-9194-AA2F-20D8B9B9C302}"/>
              </a:ext>
            </a:extLst>
          </p:cNvPr>
          <p:cNvCxnSpPr>
            <a:stCxn id="2" idx="3"/>
            <a:endCxn id="9" idx="1"/>
          </p:cNvCxnSpPr>
          <p:nvPr/>
        </p:nvCxnSpPr>
        <p:spPr>
          <a:xfrm>
            <a:off x="2907400" y="2862593"/>
            <a:ext cx="3207429" cy="62429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9E1DBB0-6ADA-36D7-28C9-67E5B1EE61B1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2907400" y="3288653"/>
            <a:ext cx="3207429" cy="19823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F5ED64-D329-D50B-F66C-6B14A9B4E91D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2907400" y="3486892"/>
            <a:ext cx="3207429" cy="13850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03C3A79-C5F6-7713-E62E-165CEB8940D6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2907400" y="3486892"/>
            <a:ext cx="3207429" cy="46461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818A324-CE3B-2241-9D06-B35ADE07FD43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07400" y="3486892"/>
            <a:ext cx="3207429" cy="79835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9B8526C-1DC5-B222-FD1D-5B6AD4511F3A}"/>
              </a:ext>
            </a:extLst>
          </p:cNvPr>
          <p:cNvCxnSpPr>
            <a:cxnSpLocks/>
            <a:stCxn id="25" idx="1"/>
            <a:endCxn id="25" idx="3"/>
          </p:cNvCxnSpPr>
          <p:nvPr/>
        </p:nvCxnSpPr>
        <p:spPr>
          <a:xfrm>
            <a:off x="1196074" y="2562618"/>
            <a:ext cx="697810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A6D2107-2D9B-1CD2-D2C6-D66EFAF50DF9}"/>
              </a:ext>
            </a:extLst>
          </p:cNvPr>
          <p:cNvSpPr txBox="1"/>
          <p:nvPr/>
        </p:nvSpPr>
        <p:spPr>
          <a:xfrm>
            <a:off x="1467400" y="698867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BFF1ECA-B117-FB0F-97ED-B683EFBF006F}"/>
              </a:ext>
            </a:extLst>
          </p:cNvPr>
          <p:cNvSpPr txBox="1"/>
          <p:nvPr/>
        </p:nvSpPr>
        <p:spPr>
          <a:xfrm>
            <a:off x="1467400" y="1124927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Migración</a:t>
            </a:r>
            <a:endParaRPr lang="en-US" sz="12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C43681-7F62-F231-C523-4750DA42B8FD}"/>
              </a:ext>
            </a:extLst>
          </p:cNvPr>
          <p:cNvSpPr txBox="1"/>
          <p:nvPr/>
        </p:nvSpPr>
        <p:spPr>
          <a:xfrm>
            <a:off x="1467400" y="1461666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Religión</a:t>
            </a:r>
            <a:endParaRPr lang="en-US" sz="12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F87D2B3-C8E1-09B5-46A5-D8EA11BE95E8}"/>
              </a:ext>
            </a:extLst>
          </p:cNvPr>
          <p:cNvSpPr txBox="1"/>
          <p:nvPr/>
        </p:nvSpPr>
        <p:spPr>
          <a:xfrm>
            <a:off x="1467400" y="1787785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Ideología</a:t>
            </a:r>
            <a:r>
              <a:rPr lang="en-US" sz="12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Política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FDAC25A-E6B7-5C85-389D-CB9B3A04C66B}"/>
              </a:ext>
            </a:extLst>
          </p:cNvPr>
          <p:cNvSpPr txBox="1"/>
          <p:nvPr/>
        </p:nvSpPr>
        <p:spPr>
          <a:xfrm>
            <a:off x="1467400" y="2121525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Valores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4E0489B-51C2-1D82-94A7-0C1E7FC77AAC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2999509" y="1566967"/>
            <a:ext cx="762000" cy="115712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25788F1-4ADF-0E03-8622-BAA9F3724536}"/>
              </a:ext>
            </a:extLst>
          </p:cNvPr>
          <p:cNvSpPr txBox="1"/>
          <p:nvPr/>
        </p:nvSpPr>
        <p:spPr>
          <a:xfrm>
            <a:off x="3677025" y="2781306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9C726C7-92C4-EADC-B68F-76429A6D1132}"/>
              </a:ext>
            </a:extLst>
          </p:cNvPr>
          <p:cNvSpPr txBox="1"/>
          <p:nvPr/>
        </p:nvSpPr>
        <p:spPr>
          <a:xfrm>
            <a:off x="3659987" y="3866872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72A4FA1-052F-BF6A-9654-B4F821F524A9}"/>
              </a:ext>
            </a:extLst>
          </p:cNvPr>
          <p:cNvSpPr txBox="1"/>
          <p:nvPr/>
        </p:nvSpPr>
        <p:spPr>
          <a:xfrm>
            <a:off x="3547960" y="3032122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-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150AD05-DC1C-AA4A-1953-28F96426A461}"/>
              </a:ext>
            </a:extLst>
          </p:cNvPr>
          <p:cNvSpPr txBox="1"/>
          <p:nvPr/>
        </p:nvSpPr>
        <p:spPr>
          <a:xfrm>
            <a:off x="3478660" y="3341604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C4433CC-3D92-34A0-DDFC-8580A9F6275D}"/>
              </a:ext>
            </a:extLst>
          </p:cNvPr>
          <p:cNvSpPr txBox="1"/>
          <p:nvPr/>
        </p:nvSpPr>
        <p:spPr>
          <a:xfrm>
            <a:off x="3514685" y="3609431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63C430F-6F1F-43BC-65AC-EAB6F11353CB}"/>
              </a:ext>
            </a:extLst>
          </p:cNvPr>
          <p:cNvSpPr txBox="1"/>
          <p:nvPr/>
        </p:nvSpPr>
        <p:spPr>
          <a:xfrm>
            <a:off x="3446901" y="1805535"/>
            <a:ext cx="2319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H6</a:t>
            </a:r>
          </a:p>
          <a:p>
            <a:r>
              <a:rPr 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ipótesis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homofilia</a:t>
            </a:r>
            <a:r>
              <a:rPr 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A6C7CAD-0729-7461-554F-E2E2F5BB6EC2}"/>
              </a:ext>
            </a:extLst>
          </p:cNvPr>
          <p:cNvSpPr txBox="1"/>
          <p:nvPr/>
        </p:nvSpPr>
        <p:spPr>
          <a:xfrm>
            <a:off x="3547960" y="2809604"/>
            <a:ext cx="579040" cy="147689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9856857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2266</Words>
  <Application>Microsoft Office PowerPoint</Application>
  <PresentationFormat>On-screen Show (16:9)</PresentationFormat>
  <Paragraphs>271</Paragraphs>
  <Slides>33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Georgia</vt:lpstr>
      <vt:lpstr>Times New Roman</vt:lpstr>
      <vt:lpstr>Simple Light</vt:lpstr>
      <vt:lpstr>  Características de los grupos sociales y cohesión social: Evidencia de un Experimento de Encuesta Factorial Comparativa en Chile y Alemania Social Groups Composition and Social Cohesion: Evidence from a Comparative Factorial Survey Experiment in Chile and Germany</vt:lpstr>
      <vt:lpstr>Colaboración </vt:lpstr>
      <vt:lpstr>Visiones teóricas sobre la cohesión social</vt:lpstr>
      <vt:lpstr>Fuerzas promotoras e inhibidoras de la cohesión</vt:lpstr>
      <vt:lpstr>Fuerzas promotoras e inhibidoras de la cohesión</vt:lpstr>
      <vt:lpstr>Fuerzas promotoras e inhibidoras de la cohesión</vt:lpstr>
      <vt:lpstr>¿Cómo afectan las características de los grupos sociales a la cohesión social?</vt:lpstr>
      <vt:lpstr>PowerPoint Presentation</vt:lpstr>
      <vt:lpstr>PowerPoint Presentation</vt:lpstr>
      <vt:lpstr>Experimento de encuesta factorial</vt:lpstr>
      <vt:lpstr>PowerPoint Presentation</vt:lpstr>
      <vt:lpstr>PowerPoint Presentation</vt:lpstr>
      <vt:lpstr>PowerPoint Presentation</vt:lpstr>
      <vt:lpstr>Resultados: los otros</vt:lpstr>
      <vt:lpstr>PowerPoint Presentation</vt:lpstr>
      <vt:lpstr>Resultados: los que son como yo</vt:lpstr>
      <vt:lpstr>PowerPoint Presentation</vt:lpstr>
      <vt:lpstr>PowerPoint Presentation</vt:lpstr>
      <vt:lpstr>PowerPoint Presentation</vt:lpstr>
      <vt:lpstr>PowerPoint Presentation</vt:lpstr>
      <vt:lpstr>Conclusiones </vt:lpstr>
      <vt:lpstr>Conclusiones</vt:lpstr>
      <vt:lpstr>¡Gracias!</vt:lpstr>
      <vt:lpstr>PowerPoint Presentation</vt:lpstr>
      <vt:lpstr>PowerPoint Presentation</vt:lpstr>
      <vt:lpstr>PowerPoint Presentation</vt:lpstr>
      <vt:lpstr>Research question </vt:lpstr>
      <vt:lpstr>Study 1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Julio César Iturra Sanhueza</cp:lastModifiedBy>
  <cp:revision>59</cp:revision>
  <dcterms:modified xsi:type="dcterms:W3CDTF">2026-05-26T13:10:39Z</dcterms:modified>
</cp:coreProperties>
</file>