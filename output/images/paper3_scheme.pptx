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saveSubsetFonts="1" autoCompressPictures="0">
  <p:sldMasterIdLst>
    <p:sldMasterId id="2147483659" r:id="rId1"/>
  </p:sldMasterIdLst>
  <p:notesMasterIdLst>
    <p:notesMasterId r:id="rId31"/>
  </p:notesMasterIdLst>
  <p:sldIdLst>
    <p:sldId id="256" r:id="rId2"/>
    <p:sldId id="259" r:id="rId3"/>
    <p:sldId id="260" r:id="rId4"/>
    <p:sldId id="314" r:id="rId5"/>
    <p:sldId id="317" r:id="rId6"/>
    <p:sldId id="315" r:id="rId7"/>
    <p:sldId id="316" r:id="rId8"/>
    <p:sldId id="326" r:id="rId9"/>
    <p:sldId id="297" r:id="rId10"/>
    <p:sldId id="265" r:id="rId11"/>
    <p:sldId id="266" r:id="rId12"/>
    <p:sldId id="294" r:id="rId13"/>
    <p:sldId id="308" r:id="rId14"/>
    <p:sldId id="268" r:id="rId15"/>
    <p:sldId id="269" r:id="rId16"/>
    <p:sldId id="313" r:id="rId17"/>
    <p:sldId id="318" r:id="rId18"/>
    <p:sldId id="319" r:id="rId19"/>
    <p:sldId id="321" r:id="rId20"/>
    <p:sldId id="322" r:id="rId21"/>
    <p:sldId id="307" r:id="rId22"/>
    <p:sldId id="323" r:id="rId23"/>
    <p:sldId id="275" r:id="rId24"/>
    <p:sldId id="324" r:id="rId25"/>
    <p:sldId id="325" r:id="rId26"/>
    <p:sldId id="276" r:id="rId27"/>
    <p:sldId id="257" r:id="rId28"/>
    <p:sldId id="258" r:id="rId29"/>
    <p:sldId id="327" r:id="rId30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521415D9-36F7-43E2-AB2F-B90AF26B5E84}">
      <p14:sectionLst xmlns:p14="http://schemas.microsoft.com/office/powerpoint/2010/main">
        <p14:section name="Default Section" id="{E944F7FE-C5D1-441F-98D7-08F74BF82EC6}">
          <p14:sldIdLst>
            <p14:sldId id="256"/>
            <p14:sldId id="259"/>
            <p14:sldId id="260"/>
            <p14:sldId id="314"/>
            <p14:sldId id="317"/>
            <p14:sldId id="315"/>
            <p14:sldId id="316"/>
            <p14:sldId id="326"/>
            <p14:sldId id="297"/>
            <p14:sldId id="265"/>
            <p14:sldId id="266"/>
            <p14:sldId id="294"/>
            <p14:sldId id="308"/>
            <p14:sldId id="268"/>
            <p14:sldId id="269"/>
            <p14:sldId id="313"/>
            <p14:sldId id="318"/>
            <p14:sldId id="319"/>
            <p14:sldId id="321"/>
            <p14:sldId id="322"/>
            <p14:sldId id="307"/>
            <p14:sldId id="323"/>
            <p14:sldId id="275"/>
            <p14:sldId id="324"/>
            <p14:sldId id="325"/>
            <p14:sldId id="276"/>
          </p14:sldIdLst>
        </p14:section>
        <p14:section name="Untitled Section" id="{5F83A641-8CD7-4938-A646-0232E8ED99EF}">
          <p14:sldIdLst>
            <p14:sldId id="257"/>
            <p14:sldId id="258"/>
            <p14:sldId id="327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88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BFC4"/>
    <a:srgbClr val="F8766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417090E2-8BA2-4DE9-9036-707C3FF0FA69}">
  <a:tblStyle styleId="{417090E2-8BA2-4DE9-9036-707C3FF0FA69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543" autoAdjust="0"/>
    <p:restoredTop sz="94660"/>
  </p:normalViewPr>
  <p:slideViewPr>
    <p:cSldViewPr snapToGrid="0">
      <p:cViewPr varScale="1">
        <p:scale>
          <a:sx n="103" d="100"/>
          <a:sy n="103" d="100"/>
        </p:scale>
        <p:origin x="810" y="96"/>
      </p:cViewPr>
      <p:guideLst>
        <p:guide orient="horz" pos="288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ulio César Iturra Sanhueza" userId="e2de3052-3501-452a-9806-eb4e3c41687c" providerId="ADAL" clId="{9573727F-4811-45D9-A52A-5B3A3BCA0CD9}"/>
    <pc:docChg chg="undo custSel addSld delSld modSld sldOrd addSection modSection">
      <pc:chgData name="Julio César Iturra Sanhueza" userId="e2de3052-3501-452a-9806-eb4e3c41687c" providerId="ADAL" clId="{9573727F-4811-45D9-A52A-5B3A3BCA0CD9}" dt="2026-03-24T10:09:05.744" v="1024" actId="2711"/>
      <pc:docMkLst>
        <pc:docMk/>
      </pc:docMkLst>
      <pc:sldChg chg="addSp delSp modSp new mod">
        <pc:chgData name="Julio César Iturra Sanhueza" userId="e2de3052-3501-452a-9806-eb4e3c41687c" providerId="ADAL" clId="{9573727F-4811-45D9-A52A-5B3A3BCA0CD9}" dt="2026-03-24T10:09:05.744" v="1024" actId="2711"/>
        <pc:sldMkLst>
          <pc:docMk/>
          <pc:sldMk cId="723249223" sldId="327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30c865d1a12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g30c865d1a12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250a27e95c_0_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3250a27e95c_0_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g324f29664ea_1_1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" name="Google Shape;95;g324f29664ea_1_13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g324f42fc18a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3" name="Google Shape;103;g324f42fc18a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1">
          <a:extLst>
            <a:ext uri="{FF2B5EF4-FFF2-40B4-BE49-F238E27FC236}">
              <a16:creationId xmlns:a16="http://schemas.microsoft.com/office/drawing/2014/main" id="{9AF5370A-49CC-2D23-3D88-80570855AB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g324f42fc18a_0_0:notes">
            <a:extLst>
              <a:ext uri="{FF2B5EF4-FFF2-40B4-BE49-F238E27FC236}">
                <a16:creationId xmlns:a16="http://schemas.microsoft.com/office/drawing/2014/main" id="{FBA9202B-635E-E2A3-FE1A-445CC1B44AF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3" name="Google Shape;103;g324f42fc18a_0_0:notes">
            <a:extLst>
              <a:ext uri="{FF2B5EF4-FFF2-40B4-BE49-F238E27FC236}">
                <a16:creationId xmlns:a16="http://schemas.microsoft.com/office/drawing/2014/main" id="{FB7DF570-FFA1-406A-E6EB-56395C0CF06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4008547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g324f42fc18a_0_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1" name="Google Shape;111;g324f42fc18a_0_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g30c865d1a12_0_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9" name="Google Shape;119;g30c865d1a12_0_4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3">
          <a:extLst>
            <a:ext uri="{FF2B5EF4-FFF2-40B4-BE49-F238E27FC236}">
              <a16:creationId xmlns:a16="http://schemas.microsoft.com/office/drawing/2014/main" id="{45609BEB-9945-F238-AD07-72896E0F7B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g324f42fc18a_0_48:notes">
            <a:extLst>
              <a:ext uri="{FF2B5EF4-FFF2-40B4-BE49-F238E27FC236}">
                <a16:creationId xmlns:a16="http://schemas.microsoft.com/office/drawing/2014/main" id="{475D8A41-9AA2-35C5-1659-790B61811B3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5" name="Google Shape;125;g324f42fc18a_0_48:notes">
            <a:extLst>
              <a:ext uri="{FF2B5EF4-FFF2-40B4-BE49-F238E27FC236}">
                <a16:creationId xmlns:a16="http://schemas.microsoft.com/office/drawing/2014/main" id="{5CA1ABBA-A8FD-3221-AE67-4FD8C71C151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600611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3">
          <a:extLst>
            <a:ext uri="{FF2B5EF4-FFF2-40B4-BE49-F238E27FC236}">
              <a16:creationId xmlns:a16="http://schemas.microsoft.com/office/drawing/2014/main" id="{31F7CDB9-176E-ABC7-A339-BAE1674C1C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g324f42fc18a_0_48:notes">
            <a:extLst>
              <a:ext uri="{FF2B5EF4-FFF2-40B4-BE49-F238E27FC236}">
                <a16:creationId xmlns:a16="http://schemas.microsoft.com/office/drawing/2014/main" id="{8FD18108-AB28-1160-FFDB-1FC79926CA1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5" name="Google Shape;125;g324f42fc18a_0_48:notes">
            <a:extLst>
              <a:ext uri="{FF2B5EF4-FFF2-40B4-BE49-F238E27FC236}">
                <a16:creationId xmlns:a16="http://schemas.microsoft.com/office/drawing/2014/main" id="{3A0294C7-5504-4695-C40D-15ABB6CEE65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151178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g30c865d1a12_0_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2" name="Google Shape;132;g30c865d1a12_0_4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04800" algn="l" rtl="0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200"/>
              <a:buChar char="-"/>
            </a:pPr>
            <a:endParaRPr sz="1200" i="1">
              <a:solidFill>
                <a:srgbClr val="333333"/>
              </a:solidFill>
            </a:endParaRP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g324f42fc18a_0_9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0" name="Google Shape;140;g324f42fc18a_0_9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g324f42fc18a_0_8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8" name="Google Shape;148;g324f42fc18a_0_8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30c865d1a12_0_8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" name="Google Shape;154;g30c865d1a12_0_8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g33e8f039492_0_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0" name="Google Shape;160;g33e8f039492_0_1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2">
          <a:extLst>
            <a:ext uri="{FF2B5EF4-FFF2-40B4-BE49-F238E27FC236}">
              <a16:creationId xmlns:a16="http://schemas.microsoft.com/office/drawing/2014/main" id="{8581A192-DF47-3161-1811-724541D449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30c865d1a12_0_82:notes">
            <a:extLst>
              <a:ext uri="{FF2B5EF4-FFF2-40B4-BE49-F238E27FC236}">
                <a16:creationId xmlns:a16="http://schemas.microsoft.com/office/drawing/2014/main" id="{2F04CA18-F034-9F08-D787-EF4FE061782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" name="Google Shape;154;g30c865d1a12_0_82:notes">
            <a:extLst>
              <a:ext uri="{FF2B5EF4-FFF2-40B4-BE49-F238E27FC236}">
                <a16:creationId xmlns:a16="http://schemas.microsoft.com/office/drawing/2014/main" id="{165652AA-D468-4B34-0983-DA6ED50CB92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0998019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g324f42fc18a_0_15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5" name="Google Shape;185;g324f42fc18a_0_15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g30c865d1a12_0_1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9" name="Google Shape;199;g30c865d1a12_0_1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g324f94906c7_4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6" name="Google Shape;206;g324f94906c7_4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g324f29664ea_1_8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2" name="Google Shape;62;g324f29664ea_1_8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g324f29664ea_1_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9" name="Google Shape;69;g324f29664ea_1_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rtl="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Georgia"/>
                <a:ea typeface="Georgia"/>
                <a:cs typeface="Georgia"/>
                <a:sym typeface="Georgia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rtl="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rtl="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rtl="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rtl="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rtl="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rtl="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rtl="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rtl="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rtl="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rtl="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rtl="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rtl="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rtl="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rtl="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rtl="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rtl="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 rtl="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 rtl="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rtl="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rtl="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rtl="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rtl="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rtl="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rtl="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rtl="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 rtl="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 rtl="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 rtl="0">
              <a:buNone/>
              <a:defRPr sz="1000">
                <a:solidFill>
                  <a:schemeClr val="dk2"/>
                </a:solidFill>
              </a:defRPr>
            </a:lvl1pPr>
            <a:lvl2pPr lvl="1" algn="r" rtl="0">
              <a:buNone/>
              <a:defRPr sz="1000">
                <a:solidFill>
                  <a:schemeClr val="dk2"/>
                </a:solidFill>
              </a:defRPr>
            </a:lvl2pPr>
            <a:lvl3pPr lvl="2" algn="r" rtl="0">
              <a:buNone/>
              <a:defRPr sz="1000">
                <a:solidFill>
                  <a:schemeClr val="dk2"/>
                </a:solidFill>
              </a:defRPr>
            </a:lvl3pPr>
            <a:lvl4pPr lvl="3" algn="r" rtl="0">
              <a:buNone/>
              <a:defRPr sz="1000">
                <a:solidFill>
                  <a:schemeClr val="dk2"/>
                </a:solidFill>
              </a:defRPr>
            </a:lvl4pPr>
            <a:lvl5pPr lvl="4" algn="r" rtl="0">
              <a:buNone/>
              <a:defRPr sz="1000">
                <a:solidFill>
                  <a:schemeClr val="dk2"/>
                </a:solidFill>
              </a:defRPr>
            </a:lvl5pPr>
            <a:lvl6pPr lvl="5" algn="r" rtl="0">
              <a:buNone/>
              <a:defRPr sz="1000">
                <a:solidFill>
                  <a:schemeClr val="dk2"/>
                </a:solidFill>
              </a:defRPr>
            </a:lvl6pPr>
            <a:lvl7pPr lvl="6" algn="r" rtl="0">
              <a:buNone/>
              <a:defRPr sz="1000">
                <a:solidFill>
                  <a:schemeClr val="dk2"/>
                </a:solidFill>
              </a:defRPr>
            </a:lvl7pPr>
            <a:lvl8pPr lvl="7" algn="r" rtl="0">
              <a:buNone/>
              <a:defRPr sz="1000">
                <a:solidFill>
                  <a:schemeClr val="dk2"/>
                </a:solidFill>
              </a:defRPr>
            </a:lvl8pPr>
            <a:lvl9pPr lvl="8" algn="r" rtl="0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</p:sldLayoutIdLst>
  <p:transition spd="med">
    <p:fade thruBlk="1"/>
  </p:transition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6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ctrTitle"/>
          </p:nvPr>
        </p:nvSpPr>
        <p:spPr>
          <a:xfrm>
            <a:off x="0" y="744575"/>
            <a:ext cx="91293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pPr lvl="0"/>
            <a:br>
              <a:rPr lang="en-US" sz="2900" noProof="0" dirty="0">
                <a:latin typeface="Times New Roman"/>
                <a:ea typeface="Times New Roman"/>
                <a:cs typeface="Times New Roman"/>
                <a:sym typeface="Times New Roman"/>
              </a:rPr>
            </a:br>
            <a:br>
              <a:rPr lang="en-US" sz="2900" noProof="0" dirty="0"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lang="es-ES" sz="2900" dirty="0">
                <a:latin typeface="Times New Roman"/>
                <a:ea typeface="Times New Roman"/>
                <a:cs typeface="Times New Roman"/>
                <a:sym typeface="Times New Roman"/>
              </a:rPr>
              <a:t>Características de los grupos sociales y cohesión social: Evidencia de un Experimento de Encuesta Factorial Comparativa en Chile y Alemania</a:t>
            </a:r>
            <a:br>
              <a:rPr lang="en-US" sz="2900" noProof="0" dirty="0"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lang="en-US" sz="1100" i="1" dirty="0">
                <a:latin typeface="Times New Roman"/>
                <a:ea typeface="Times New Roman"/>
                <a:cs typeface="Times New Roman"/>
                <a:sym typeface="Times New Roman"/>
              </a:rPr>
              <a:t>Social Groups </a:t>
            </a:r>
            <a:r>
              <a:rPr lang="en-US" sz="1100" i="1" noProof="0" dirty="0">
                <a:latin typeface="Times New Roman"/>
                <a:ea typeface="Times New Roman"/>
                <a:cs typeface="Times New Roman"/>
                <a:sym typeface="Times New Roman"/>
              </a:rPr>
              <a:t>Composition and Social Cohesion: Evidence from a Comparative Factorial Survey Experiment in Chile and Germany</a:t>
            </a:r>
            <a:endParaRPr lang="en-US" sz="2900" i="1" noProof="0" dirty="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55" name="Google Shape;55;p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27650"/>
            <a:ext cx="1719073" cy="859536"/>
          </a:xfrm>
          <a:prstGeom prst="rect">
            <a:avLst/>
          </a:prstGeom>
          <a:noFill/>
          <a:ln>
            <a:noFill/>
          </a:ln>
        </p:spPr>
      </p:pic>
      <p:sp>
        <p:nvSpPr>
          <p:cNvPr id="56" name="Google Shape;56;p13"/>
          <p:cNvSpPr txBox="1">
            <a:spLocks noGrp="1"/>
          </p:cNvSpPr>
          <p:nvPr>
            <p:ph type="subTitle" idx="1"/>
          </p:nvPr>
        </p:nvSpPr>
        <p:spPr>
          <a:xfrm>
            <a:off x="100" y="2797175"/>
            <a:ext cx="9129300" cy="205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5"/>
              <a:buNone/>
            </a:pPr>
            <a:r>
              <a:rPr lang="en-US" sz="1800" noProof="0" dirty="0">
                <a:latin typeface="Times New Roman"/>
                <a:ea typeface="Times New Roman"/>
                <a:cs typeface="Times New Roman"/>
                <a:sym typeface="Times New Roman"/>
              </a:rPr>
              <a:t>Julio Iturra-Sanhueza</a:t>
            </a:r>
            <a:br>
              <a:rPr lang="en-US" sz="1200" noProof="0" dirty="0"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lang="en-US" sz="1200" noProof="0" dirty="0">
                <a:latin typeface="Times New Roman"/>
                <a:ea typeface="Times New Roman"/>
                <a:cs typeface="Times New Roman"/>
                <a:sym typeface="Times New Roman"/>
              </a:rPr>
              <a:t>Bremen International Graduate School of Social Sciences</a:t>
            </a:r>
          </a:p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5"/>
              <a:buNone/>
            </a:pPr>
            <a:r>
              <a:rPr lang="en-US" sz="1200" b="1" noProof="0" dirty="0">
                <a:solidFill>
                  <a:schemeClr val="accen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Santiago de Chile, 2025</a:t>
            </a:r>
          </a:p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5"/>
              <a:buNone/>
            </a:pPr>
            <a:endParaRPr lang="en-US" sz="1200" noProof="0" dirty="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lvl="0" indent="0">
              <a:buSzPts val="935"/>
            </a:pPr>
            <a:r>
              <a:rPr lang="en-US" sz="1200" b="1" noProof="0" dirty="0">
                <a:latin typeface="Times New Roman"/>
                <a:ea typeface="Times New Roman"/>
                <a:cs typeface="Times New Roman"/>
                <a:sym typeface="Times New Roman"/>
              </a:rPr>
              <a:t>Supervisors:</a:t>
            </a:r>
            <a:br>
              <a:rPr lang="en-US" sz="1200" b="1" noProof="0" dirty="0"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lang="en-US" sz="1200" noProof="0" dirty="0">
                <a:latin typeface="Times New Roman"/>
                <a:ea typeface="Times New Roman"/>
                <a:cs typeface="Times New Roman"/>
                <a:sym typeface="Times New Roman"/>
              </a:rPr>
              <a:t>Dr. Patrick </a:t>
            </a:r>
            <a:r>
              <a:rPr lang="en-US" sz="1200" noProof="0" dirty="0" err="1">
                <a:latin typeface="Times New Roman"/>
                <a:ea typeface="Times New Roman"/>
                <a:cs typeface="Times New Roman"/>
                <a:sym typeface="Times New Roman"/>
              </a:rPr>
              <a:t>Sachweh</a:t>
            </a:r>
            <a:r>
              <a:rPr lang="en-US" sz="1200" noProof="0" dirty="0">
                <a:latin typeface="Times New Roman"/>
                <a:ea typeface="Times New Roman"/>
                <a:cs typeface="Times New Roman"/>
                <a:sym typeface="Times New Roman"/>
              </a:rPr>
              <a:t> (U. Bremen)</a:t>
            </a:r>
            <a:br>
              <a:rPr lang="en-US" sz="1200" noProof="0" dirty="0"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lang="en-US" sz="1200" noProof="0" dirty="0">
                <a:latin typeface="Times New Roman"/>
                <a:ea typeface="Times New Roman"/>
                <a:cs typeface="Times New Roman"/>
                <a:sym typeface="Times New Roman"/>
              </a:rPr>
              <a:t>Dr. Olaf Groh-Samberg (U. Bremen)</a:t>
            </a:r>
          </a:p>
          <a:p>
            <a:pPr marL="0" lvl="0" indent="0">
              <a:buSzPts val="935"/>
            </a:pPr>
            <a:r>
              <a:rPr lang="en-US" sz="1200" noProof="0" dirty="0">
                <a:latin typeface="Times New Roman"/>
                <a:ea typeface="Times New Roman"/>
                <a:cs typeface="Times New Roman"/>
                <a:sym typeface="Times New Roman"/>
              </a:rPr>
              <a:t>Dr. Simone Schneider (U. Pompeu Fabra)</a:t>
            </a:r>
          </a:p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5"/>
              <a:buNone/>
            </a:pPr>
            <a:endParaRPr lang="en-US" sz="1200" noProof="0" dirty="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5"/>
              <a:buNone/>
            </a:pPr>
            <a:endParaRPr lang="en-US" sz="1200" noProof="0" dirty="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35"/>
              <a:buNone/>
            </a:pPr>
            <a:endParaRPr lang="en-US" sz="690" noProof="0" dirty="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57" name="Google Shape;57;p13"/>
          <p:cNvPicPr preferRelativeResize="0"/>
          <p:nvPr/>
        </p:nvPicPr>
        <p:blipFill rotWithShape="1">
          <a:blip r:embed="rId4">
            <a:alphaModFix/>
          </a:blip>
          <a:srcRect l="225222" t="-195420" r="-166809" b="195420"/>
          <a:stretch/>
        </p:blipFill>
        <p:spPr>
          <a:xfrm>
            <a:off x="6286153" y="148950"/>
            <a:ext cx="1153377" cy="995350"/>
          </a:xfrm>
          <a:prstGeom prst="rect">
            <a:avLst/>
          </a:prstGeom>
          <a:noFill/>
          <a:ln>
            <a:noFill/>
          </a:ln>
        </p:spPr>
      </p:pic>
      <p:pic>
        <p:nvPicPr>
          <p:cNvPr id="58" name="Google Shape;58;p13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983047" y="59738"/>
            <a:ext cx="2158928" cy="995350"/>
          </a:xfrm>
          <a:prstGeom prst="rect">
            <a:avLst/>
          </a:prstGeom>
          <a:noFill/>
          <a:ln>
            <a:noFill/>
          </a:ln>
        </p:spPr>
      </p:pic>
      <p:pic>
        <p:nvPicPr>
          <p:cNvPr id="59" name="Google Shape;59;p13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3634025" y="333063"/>
            <a:ext cx="1864023" cy="448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 spd="med">
    <p:fade thruBlk="1"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t>2</a:t>
            </a:fld>
            <a:endParaRPr lang="en-US" noProof="0" dirty="0"/>
          </a:p>
        </p:txBody>
      </p:sp>
      <p:sp>
        <p:nvSpPr>
          <p:cNvPr id="85" name="Google Shape;85;p1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noProof="0" dirty="0" err="1">
                <a:latin typeface="Georgia"/>
                <a:ea typeface="Georgia"/>
                <a:cs typeface="Georgia"/>
                <a:sym typeface="Georgia"/>
              </a:rPr>
              <a:t>Colaboración</a:t>
            </a:r>
            <a:r>
              <a:rPr lang="en-US" noProof="0" dirty="0">
                <a:latin typeface="Georgia"/>
                <a:ea typeface="Georgia"/>
                <a:cs typeface="Georgia"/>
                <a:sym typeface="Georgia"/>
              </a:rPr>
              <a:t> </a:t>
            </a:r>
          </a:p>
        </p:txBody>
      </p:sp>
      <p:pic>
        <p:nvPicPr>
          <p:cNvPr id="86" name="Google Shape;86;p1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2816" y="1575050"/>
            <a:ext cx="4065258" cy="1625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87" name="Google Shape;87;p16"/>
          <p:cNvPicPr preferRelativeResize="0"/>
          <p:nvPr/>
        </p:nvPicPr>
        <p:blipFill rotWithShape="1">
          <a:blip r:embed="rId4">
            <a:alphaModFix/>
          </a:blip>
          <a:srcRect t="23849" b="26524"/>
          <a:stretch/>
        </p:blipFill>
        <p:spPr>
          <a:xfrm>
            <a:off x="5495000" y="1673663"/>
            <a:ext cx="3274749" cy="1625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88" name="Google Shape;88;p16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213600" y="2398338"/>
            <a:ext cx="924675" cy="924675"/>
          </a:xfrm>
          <a:prstGeom prst="rect">
            <a:avLst/>
          </a:prstGeom>
          <a:noFill/>
          <a:ln>
            <a:noFill/>
          </a:ln>
        </p:spPr>
      </p:pic>
      <p:sp>
        <p:nvSpPr>
          <p:cNvPr id="89" name="Google Shape;89;p16"/>
          <p:cNvSpPr txBox="1"/>
          <p:nvPr/>
        </p:nvSpPr>
        <p:spPr>
          <a:xfrm>
            <a:off x="925525" y="3323000"/>
            <a:ext cx="3186300" cy="156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noProof="0" dirty="0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Germany </a:t>
            </a:r>
            <a:r>
              <a:rPr lang="en-US" sz="1800" noProof="0" dirty="0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(U. Bremen)</a:t>
            </a:r>
            <a:br>
              <a:rPr lang="en-US" sz="1800" noProof="0" dirty="0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lang="en-US" sz="1800" noProof="0" dirty="0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Prof. Dr. Olaf Groh-Samberg</a:t>
            </a:r>
            <a:br>
              <a:rPr lang="en-US" sz="1800" noProof="0" dirty="0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lang="en-US" sz="1800" noProof="0" dirty="0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Dr. Jean-Yves Gerlitz</a:t>
            </a:r>
            <a:br>
              <a:rPr lang="en-US" sz="1800" noProof="0" dirty="0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lang="en-US" sz="1800" noProof="0" dirty="0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Dr. Nils </a:t>
            </a:r>
            <a:r>
              <a:rPr lang="en-US" sz="1800" noProof="0" dirty="0" err="1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Teichler</a:t>
            </a:r>
            <a:r>
              <a:rPr lang="en-US" sz="1800" noProof="0" dirty="0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br>
              <a:rPr lang="en-US" sz="1800" noProof="0" dirty="0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lang="en-US" sz="1800" noProof="0" dirty="0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Dr. Anne Speer</a:t>
            </a:r>
          </a:p>
        </p:txBody>
      </p:sp>
      <p:sp>
        <p:nvSpPr>
          <p:cNvPr id="90" name="Google Shape;90;p16"/>
          <p:cNvSpPr txBox="1"/>
          <p:nvPr/>
        </p:nvSpPr>
        <p:spPr>
          <a:xfrm>
            <a:off x="5651775" y="3323000"/>
            <a:ext cx="2820600" cy="156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noProof="0" dirty="0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Chile </a:t>
            </a:r>
            <a:r>
              <a:rPr lang="en-US" sz="1800" noProof="0" dirty="0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(U. de Chile)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noProof="0" dirty="0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Prof. Dr. Juan C. Castillo </a:t>
            </a:r>
            <a:br>
              <a:rPr lang="en-US" sz="1800" noProof="0" dirty="0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lang="en-US" sz="1800" noProof="0" dirty="0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Kevin Carrasco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noProof="0" dirty="0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Andreas </a:t>
            </a:r>
            <a:r>
              <a:rPr lang="en-US" sz="1800" noProof="0" dirty="0" err="1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Laffert</a:t>
            </a:r>
            <a:endParaRPr lang="en-US" sz="1800" noProof="0" dirty="0">
              <a:solidFill>
                <a:schemeClr val="dk2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sz="1800" noProof="0" dirty="0">
              <a:solidFill>
                <a:schemeClr val="dk2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91" name="Google Shape;91;p16"/>
          <p:cNvSpPr txBox="1"/>
          <p:nvPr/>
        </p:nvSpPr>
        <p:spPr>
          <a:xfrm>
            <a:off x="4213600" y="4061900"/>
            <a:ext cx="7368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dirty="0" err="1">
                <a:solidFill>
                  <a:srgbClr val="99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Yo</a:t>
            </a:r>
            <a:endParaRPr lang="en-US" sz="2400" noProof="0" dirty="0">
              <a:solidFill>
                <a:srgbClr val="99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92" name="Google Shape;92;p16"/>
          <p:cNvSpPr txBox="1"/>
          <p:nvPr/>
        </p:nvSpPr>
        <p:spPr>
          <a:xfrm>
            <a:off x="311700" y="4703625"/>
            <a:ext cx="8124900" cy="18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US" sz="1800" noProof="0" dirty="0">
              <a:solidFill>
                <a:schemeClr val="dk2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US" sz="1800" noProof="0" dirty="0">
              <a:solidFill>
                <a:schemeClr val="dk2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  <p:transition spd="med">
    <p:fade thruBlk="1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7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lvl="0"/>
            <a:r>
              <a:rPr lang="es-ES" dirty="0"/>
              <a:t>Visiones teóricas sobre la cohesión social</a:t>
            </a:r>
            <a:endParaRPr lang="en-US" noProof="0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7418830F-FF44-929D-DA5F-46010DF7C2C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anchor="t">
            <a:noAutofit/>
          </a:bodyPr>
          <a:lstStyle/>
          <a:p>
            <a:pPr marL="0" lvl="0" indent="0">
              <a:spcBef>
                <a:spcPts val="1200"/>
              </a:spcBef>
              <a:buNone/>
            </a:pPr>
            <a:r>
              <a:rPr lang="es-ES" sz="1100" dirty="0">
                <a:latin typeface="Times New Roman"/>
                <a:ea typeface="Times New Roman"/>
                <a:cs typeface="Times New Roman"/>
                <a:sym typeface="Times New Roman"/>
              </a:rPr>
              <a:t>Puede ser entendida como un estado de las cosas relativo a las interacciones:</a:t>
            </a:r>
          </a:p>
          <a:p>
            <a:pPr marL="171450" indent="-171450">
              <a:spcBef>
                <a:spcPts val="1200"/>
              </a:spcBef>
            </a:pPr>
            <a:r>
              <a:rPr lang="es-ES" sz="1100" b="1" dirty="0">
                <a:latin typeface="Times New Roman"/>
                <a:ea typeface="Times New Roman"/>
                <a:cs typeface="Times New Roman"/>
                <a:sym typeface="Times New Roman"/>
              </a:rPr>
              <a:t>verticales </a:t>
            </a:r>
            <a:r>
              <a:rPr lang="es-ES" sz="1100" dirty="0">
                <a:latin typeface="Times New Roman"/>
                <a:ea typeface="Times New Roman"/>
                <a:cs typeface="Times New Roman"/>
                <a:sym typeface="Times New Roman"/>
              </a:rPr>
              <a:t>(entre el </a:t>
            </a:r>
            <a:r>
              <a:rPr lang="es-ES" sz="1100" b="1" dirty="0">
                <a:latin typeface="Times New Roman"/>
                <a:ea typeface="Times New Roman"/>
                <a:cs typeface="Times New Roman"/>
                <a:sym typeface="Times New Roman"/>
              </a:rPr>
              <a:t>Estado y sus ciudadanos y sus organizaciones</a:t>
            </a:r>
            <a:r>
              <a:rPr lang="es-ES" sz="1100" dirty="0">
                <a:latin typeface="Times New Roman"/>
                <a:ea typeface="Times New Roman"/>
                <a:cs typeface="Times New Roman"/>
                <a:sym typeface="Times New Roman"/>
              </a:rPr>
              <a:t>)</a:t>
            </a:r>
            <a:r>
              <a:rPr lang="en-US" sz="1100" b="1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s-ES" sz="1100" dirty="0">
                <a:latin typeface="Times New Roman"/>
                <a:ea typeface="Times New Roman"/>
                <a:cs typeface="Times New Roman"/>
                <a:sym typeface="Times New Roman"/>
              </a:rPr>
              <a:t>y</a:t>
            </a:r>
            <a:r>
              <a:rPr lang="es-ES" sz="1100" b="1" dirty="0">
                <a:latin typeface="Times New Roman"/>
                <a:ea typeface="Times New Roman"/>
                <a:cs typeface="Times New Roman"/>
                <a:sym typeface="Times New Roman"/>
              </a:rPr>
              <a:t>,</a:t>
            </a:r>
            <a:endParaRPr lang="es-ES" sz="1100" dirty="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171450" indent="-171450">
              <a:spcBef>
                <a:spcPts val="1200"/>
              </a:spcBef>
            </a:pPr>
            <a:r>
              <a:rPr lang="es-ES" sz="1100" b="1" dirty="0">
                <a:latin typeface="Times New Roman"/>
                <a:ea typeface="Times New Roman"/>
                <a:cs typeface="Times New Roman"/>
                <a:sym typeface="Times New Roman"/>
              </a:rPr>
              <a:t>horizontales </a:t>
            </a:r>
            <a:r>
              <a:rPr lang="es-ES" sz="1100" dirty="0">
                <a:latin typeface="Times New Roman"/>
                <a:ea typeface="Times New Roman"/>
                <a:cs typeface="Times New Roman"/>
                <a:sym typeface="Times New Roman"/>
              </a:rPr>
              <a:t>(entre </a:t>
            </a:r>
            <a:r>
              <a:rPr lang="es-ES" sz="1100" b="1" dirty="0">
                <a:latin typeface="Times New Roman"/>
                <a:ea typeface="Times New Roman"/>
                <a:cs typeface="Times New Roman"/>
                <a:sym typeface="Times New Roman"/>
              </a:rPr>
              <a:t>individuos y grupos</a:t>
            </a:r>
            <a:r>
              <a:rPr lang="es-ES" sz="1100" dirty="0">
                <a:latin typeface="Times New Roman"/>
                <a:ea typeface="Times New Roman"/>
                <a:cs typeface="Times New Roman"/>
                <a:sym typeface="Times New Roman"/>
              </a:rPr>
              <a:t> de la sociedad),</a:t>
            </a:r>
          </a:p>
          <a:p>
            <a:pPr marL="0" lvl="0" indent="0">
              <a:spcBef>
                <a:spcPts val="1200"/>
              </a:spcBef>
              <a:buNone/>
            </a:pPr>
            <a:r>
              <a:rPr lang="es-ES" sz="1100" dirty="0">
                <a:latin typeface="Times New Roman"/>
                <a:ea typeface="Times New Roman"/>
                <a:cs typeface="Times New Roman"/>
                <a:sym typeface="Times New Roman"/>
              </a:rPr>
              <a:t>(…) caracterizado por un conjunto de actitudes y normas que incluyen la </a:t>
            </a:r>
            <a:r>
              <a:rPr lang="es-ES" sz="1100" b="1" dirty="0">
                <a:latin typeface="Times New Roman"/>
                <a:ea typeface="Times New Roman"/>
                <a:cs typeface="Times New Roman"/>
                <a:sym typeface="Times New Roman"/>
              </a:rPr>
              <a:t>confianza</a:t>
            </a:r>
            <a:r>
              <a:rPr lang="es-ES" sz="1100" dirty="0">
                <a:latin typeface="Times New Roman"/>
                <a:ea typeface="Times New Roman"/>
                <a:cs typeface="Times New Roman"/>
                <a:sym typeface="Times New Roman"/>
              </a:rPr>
              <a:t>, el sentimiento de </a:t>
            </a:r>
            <a:r>
              <a:rPr lang="es-ES" sz="1100" b="1" dirty="0">
                <a:latin typeface="Times New Roman"/>
                <a:ea typeface="Times New Roman"/>
                <a:cs typeface="Times New Roman"/>
                <a:sym typeface="Times New Roman"/>
              </a:rPr>
              <a:t>pertenencia </a:t>
            </a:r>
            <a:r>
              <a:rPr lang="es-ES" sz="1100" dirty="0">
                <a:latin typeface="Times New Roman"/>
                <a:ea typeface="Times New Roman"/>
                <a:cs typeface="Times New Roman"/>
                <a:sym typeface="Times New Roman"/>
              </a:rPr>
              <a:t>y la voluntad de </a:t>
            </a:r>
            <a:r>
              <a:rPr lang="es-ES" sz="1100" b="1" dirty="0">
                <a:latin typeface="Times New Roman"/>
                <a:ea typeface="Times New Roman"/>
                <a:cs typeface="Times New Roman"/>
                <a:sym typeface="Times New Roman"/>
              </a:rPr>
              <a:t>participar</a:t>
            </a:r>
            <a:r>
              <a:rPr lang="es-ES" sz="1100" dirty="0">
                <a:latin typeface="Times New Roman"/>
                <a:ea typeface="Times New Roman"/>
                <a:cs typeface="Times New Roman"/>
                <a:sym typeface="Times New Roman"/>
              </a:rPr>
              <a:t> y </a:t>
            </a:r>
            <a:r>
              <a:rPr lang="es-ES" sz="1100" b="1" dirty="0">
                <a:latin typeface="Times New Roman"/>
                <a:ea typeface="Times New Roman"/>
                <a:cs typeface="Times New Roman"/>
                <a:sym typeface="Times New Roman"/>
              </a:rPr>
              <a:t>ayudar</a:t>
            </a:r>
            <a:r>
              <a:rPr lang="es-ES" sz="1100" dirty="0">
                <a:latin typeface="Times New Roman"/>
                <a:ea typeface="Times New Roman"/>
                <a:cs typeface="Times New Roman"/>
                <a:sym typeface="Times New Roman"/>
              </a:rPr>
              <a:t>, así como sus manifestaciones conductuales </a:t>
            </a:r>
            <a:r>
              <a:rPr lang="en-US" sz="1100" dirty="0">
                <a:latin typeface="Times New Roman"/>
                <a:ea typeface="Times New Roman"/>
                <a:cs typeface="Times New Roman"/>
                <a:sym typeface="Times New Roman"/>
              </a:rPr>
              <a:t>(</a:t>
            </a:r>
            <a:r>
              <a:rPr lang="en-US" sz="1100" dirty="0">
                <a:solidFill>
                  <a:schemeClr val="accen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Chan, To, &amp; Chan, 2006</a:t>
            </a:r>
            <a:r>
              <a:rPr lang="en-US" sz="1100" dirty="0">
                <a:latin typeface="Times New Roman"/>
                <a:ea typeface="Times New Roman"/>
                <a:cs typeface="Times New Roman"/>
                <a:sym typeface="Times New Roman"/>
              </a:rPr>
              <a:t>).</a:t>
            </a:r>
          </a:p>
          <a:p>
            <a:pPr marL="0" lvl="0" indent="0">
              <a:spcBef>
                <a:spcPts val="1200"/>
              </a:spcBef>
              <a:buNone/>
            </a:pPr>
            <a:r>
              <a:rPr lang="es-ES" sz="1100" dirty="0">
                <a:latin typeface="Times New Roman"/>
                <a:ea typeface="Times New Roman"/>
                <a:cs typeface="Times New Roman"/>
                <a:sym typeface="Times New Roman"/>
              </a:rPr>
              <a:t>La identificación de intereses, metas y valores en común y en conflicto da pie a la identificación de oportunidades de </a:t>
            </a:r>
            <a:r>
              <a:rPr lang="es-ES" sz="1100" b="1" dirty="0">
                <a:latin typeface="Times New Roman"/>
                <a:ea typeface="Times New Roman"/>
                <a:cs typeface="Times New Roman"/>
                <a:sym typeface="Times New Roman"/>
              </a:rPr>
              <a:t>cooperación</a:t>
            </a:r>
            <a:r>
              <a:rPr lang="es-ES" sz="1100" dirty="0">
                <a:latin typeface="Times New Roman"/>
                <a:ea typeface="Times New Roman"/>
                <a:cs typeface="Times New Roman"/>
                <a:sym typeface="Times New Roman"/>
              </a:rPr>
              <a:t> motivadas por lazos de </a:t>
            </a:r>
            <a:r>
              <a:rPr lang="es-ES" sz="1100" b="1" dirty="0">
                <a:latin typeface="Times New Roman"/>
                <a:ea typeface="Times New Roman"/>
                <a:cs typeface="Times New Roman"/>
                <a:sym typeface="Times New Roman"/>
              </a:rPr>
              <a:t>confianza</a:t>
            </a:r>
            <a:r>
              <a:rPr lang="es-ES" sz="1100" dirty="0">
                <a:latin typeface="Times New Roman"/>
                <a:ea typeface="Times New Roman"/>
                <a:cs typeface="Times New Roman"/>
                <a:sym typeface="Times New Roman"/>
              </a:rPr>
              <a:t> y al apoyo dentro de su </a:t>
            </a:r>
            <a:r>
              <a:rPr lang="es-ES" sz="1100" b="1" dirty="0">
                <a:latin typeface="Times New Roman"/>
                <a:ea typeface="Times New Roman"/>
                <a:cs typeface="Times New Roman"/>
                <a:sym typeface="Times New Roman"/>
              </a:rPr>
              <a:t>comunidad </a:t>
            </a:r>
            <a:r>
              <a:rPr lang="es-ES" sz="1100" dirty="0">
                <a:latin typeface="Times New Roman"/>
                <a:ea typeface="Times New Roman"/>
                <a:cs typeface="Times New Roman"/>
                <a:sym typeface="Times New Roman"/>
              </a:rPr>
              <a:t>local o nacional </a:t>
            </a:r>
            <a:r>
              <a:rPr lang="en-US" sz="1100" dirty="0">
                <a:latin typeface="Times New Roman"/>
                <a:ea typeface="Times New Roman"/>
                <a:cs typeface="Times New Roman"/>
                <a:sym typeface="Times New Roman"/>
              </a:rPr>
              <a:t>(</a:t>
            </a:r>
            <a:r>
              <a:rPr lang="en-US" sz="1100" dirty="0">
                <a:solidFill>
                  <a:schemeClr val="accen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Green &amp; Janmaat, 2011</a:t>
            </a:r>
            <a:r>
              <a:rPr lang="en-US" sz="1100" dirty="0">
                <a:latin typeface="Times New Roman"/>
                <a:ea typeface="Times New Roman"/>
                <a:cs typeface="Times New Roman"/>
                <a:sym typeface="Times New Roman"/>
              </a:rPr>
              <a:t>).</a:t>
            </a:r>
          </a:p>
          <a:p>
            <a:pPr marL="0" lvl="0" indent="0">
              <a:spcBef>
                <a:spcPts val="1200"/>
              </a:spcBef>
              <a:buNone/>
            </a:pPr>
            <a:endParaRPr lang="en-US" sz="1100" dirty="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5356A59C-94E3-0BBD-F7C4-6ECADA1D0ADB}"/>
              </a:ext>
            </a:extLst>
          </p:cNvPr>
          <p:cNvSpPr>
            <a:spLocks noGrp="1"/>
          </p:cNvSpPr>
          <p:nvPr>
            <p:ph type="body" idx="2"/>
          </p:nvPr>
        </p:nvSpPr>
        <p:spPr/>
        <p:txBody>
          <a:bodyPr>
            <a:normAutofit fontScale="77500" lnSpcReduction="20000"/>
          </a:bodyPr>
          <a:lstStyle/>
          <a:p>
            <a:pPr marL="139700" indent="0">
              <a:buNone/>
            </a:pPr>
            <a:r>
              <a:rPr lang="es-E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Adicionalmente, estas expresiones actitudinales y conductuales contribuyen a la formación de medios (entornos o ambientes) sociales o </a:t>
            </a:r>
            <a:r>
              <a:rPr lang="es-ES" b="1" i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milieus</a:t>
            </a:r>
            <a:r>
              <a:rPr lang="es-ES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s-ES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entendidos como</a:t>
            </a:r>
            <a:r>
              <a:rPr lang="es-ES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marL="139700" indent="0">
              <a:buNone/>
            </a:pPr>
            <a:endParaRPr lang="es-E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39700" indent="0" algn="r">
              <a:buNone/>
            </a:pPr>
            <a:r>
              <a:rPr lang="es-ES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(…) grandes </a:t>
            </a:r>
            <a:r>
              <a:rPr lang="es-ES" b="1" i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grupos latentes</a:t>
            </a:r>
            <a:r>
              <a:rPr lang="es-ES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definidos por una combinación de posición </a:t>
            </a:r>
            <a:r>
              <a:rPr lang="es-ES" b="1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socioeconómica</a:t>
            </a:r>
            <a:r>
              <a:rPr lang="es-ES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(estratificación vertical) y </a:t>
            </a:r>
            <a:r>
              <a:rPr lang="es-ES" b="1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valores culturales</a:t>
            </a:r>
            <a:r>
              <a:rPr lang="es-ES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compartidos (espacio de valores horizontal) </a:t>
            </a:r>
          </a:p>
          <a:p>
            <a:pPr marL="139700" indent="0" algn="r">
              <a:buNone/>
            </a:pPr>
            <a:r>
              <a:rPr lang="es-CL" dirty="0"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s-CL" dirty="0" err="1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Groh-Samberg</a:t>
            </a:r>
            <a:r>
              <a:rPr lang="es-CL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et al., 2023</a:t>
            </a:r>
            <a:r>
              <a:rPr lang="es-CL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  <a:r>
              <a:rPr lang="es-ES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br>
              <a:rPr lang="es-E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s-E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39700" indent="0">
              <a:buNone/>
            </a:pPr>
            <a:r>
              <a:rPr lang="es-E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Para esta perspectiva, los individuos se encuentran integrados en </a:t>
            </a:r>
            <a:r>
              <a:rPr lang="es-ES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milieus</a:t>
            </a:r>
            <a:r>
              <a:rPr lang="es-E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y los </a:t>
            </a:r>
            <a:r>
              <a:rPr lang="es-ES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milieus</a:t>
            </a:r>
            <a:r>
              <a:rPr lang="es-E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se integran (más o menos) en la sociedad.  </a:t>
            </a:r>
          </a:p>
          <a:p>
            <a:pPr marL="139700" indent="0">
              <a:buNone/>
            </a:pPr>
            <a:endParaRPr lang="es-E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s-ES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Cohesión interna del</a:t>
            </a:r>
            <a:r>
              <a:rPr lang="es-ES" b="1" i="1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s-ES" b="1" i="1" u="sng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milieu</a:t>
            </a:r>
            <a:r>
              <a:rPr lang="es-ES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la similitud de condiciones y valores favorece la confianza, la conformidad, el consenso y la cooperación.</a:t>
            </a:r>
            <a:br>
              <a:rPr lang="es-E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s-E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s-ES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Cohesión </a:t>
            </a:r>
            <a:r>
              <a:rPr lang="es-ES" b="1" i="1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entre </a:t>
            </a:r>
            <a:r>
              <a:rPr lang="es-ES" b="1" i="1" u="sng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milieus</a:t>
            </a:r>
            <a:r>
              <a:rPr lang="es-ES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los vínculos entre grupos, la movilidad y las instituciones que gestionan las desigualdades y los conflictos de valores mantienen los medios conectados y el conflicto contenido. </a:t>
            </a:r>
          </a:p>
          <a:p>
            <a:pPr marL="139700" indent="0">
              <a:buNone/>
            </a:pPr>
            <a:endParaRPr lang="es-E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8" name="Google Shape;98;p17"/>
          <p:cNvSpPr txBox="1">
            <a:spLocks noGrp="1"/>
          </p:cNvSpPr>
          <p:nvPr>
            <p:ph type="sldNum" idx="12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t>3</a:t>
            </a:fld>
            <a:endParaRPr lang="en-US" noProof="0" dirty="0"/>
          </a:p>
        </p:txBody>
      </p:sp>
    </p:spTree>
  </p:cSld>
  <p:clrMapOvr>
    <a:masterClrMapping/>
  </p:clrMapOvr>
  <p:transition spd="med">
    <p:fade thruBlk="1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8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noProof="0" dirty="0" err="1">
                <a:latin typeface="Georgia" panose="02040502050405020303" pitchFamily="18" charset="0"/>
              </a:rPr>
              <a:t>Fuerzas</a:t>
            </a:r>
            <a:r>
              <a:rPr lang="en-US" sz="2400" noProof="0" dirty="0">
                <a:latin typeface="Georgia" panose="02040502050405020303" pitchFamily="18" charset="0"/>
              </a:rPr>
              <a:t> </a:t>
            </a:r>
            <a:r>
              <a:rPr lang="en-US" sz="2400" noProof="0" dirty="0" err="1">
                <a:latin typeface="Georgia" panose="02040502050405020303" pitchFamily="18" charset="0"/>
              </a:rPr>
              <a:t>promotoras</a:t>
            </a:r>
            <a:r>
              <a:rPr lang="en-US" sz="2400" noProof="0" dirty="0">
                <a:latin typeface="Georgia" panose="02040502050405020303" pitchFamily="18" charset="0"/>
              </a:rPr>
              <a:t> e </a:t>
            </a:r>
            <a:r>
              <a:rPr lang="en-US" sz="2400" noProof="0" dirty="0" err="1">
                <a:latin typeface="Georgia" panose="02040502050405020303" pitchFamily="18" charset="0"/>
              </a:rPr>
              <a:t>inhibidoras</a:t>
            </a:r>
            <a:r>
              <a:rPr lang="en-US" sz="2400" noProof="0" dirty="0">
                <a:latin typeface="Georgia" panose="02040502050405020303" pitchFamily="18" charset="0"/>
              </a:rPr>
              <a:t> de la </a:t>
            </a:r>
            <a:r>
              <a:rPr lang="en-US" sz="2400" noProof="0" dirty="0" err="1">
                <a:latin typeface="Georgia" panose="02040502050405020303" pitchFamily="18" charset="0"/>
              </a:rPr>
              <a:t>cohesi</a:t>
            </a:r>
            <a:r>
              <a:rPr lang="en-US" sz="2400" dirty="0" err="1">
                <a:latin typeface="Georgia" panose="02040502050405020303" pitchFamily="18" charset="0"/>
              </a:rPr>
              <a:t>ón</a:t>
            </a:r>
            <a:endParaRPr lang="en-US" sz="2400" noProof="0" dirty="0">
              <a:latin typeface="Georgia" panose="02040502050405020303" pitchFamily="18" charset="0"/>
            </a:endParaRPr>
          </a:p>
        </p:txBody>
      </p:sp>
      <p:sp>
        <p:nvSpPr>
          <p:cNvPr id="107" name="Google Shape;107;p18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>
              <a:buNone/>
            </a:pPr>
            <a:r>
              <a:rPr lang="en-US" sz="1200" b="1" dirty="0">
                <a:solidFill>
                  <a:srgbClr val="99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Dominio </a:t>
            </a:r>
            <a:r>
              <a:rPr lang="en-US" sz="1200" b="1" dirty="0" err="1">
                <a:solidFill>
                  <a:srgbClr val="99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socioeconómico</a:t>
            </a:r>
            <a:r>
              <a:rPr lang="en-US" sz="1200" b="1" dirty="0">
                <a:solidFill>
                  <a:srgbClr val="99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</a:p>
          <a:p>
            <a:pPr indent="-298450">
              <a:spcBef>
                <a:spcPts val="1200"/>
              </a:spcBef>
              <a:buClr>
                <a:schemeClr val="dk1"/>
              </a:buClr>
              <a:buSzPts val="1100"/>
              <a:buFont typeface="Times New Roman"/>
              <a:buChar char="●"/>
            </a:pPr>
            <a:r>
              <a:rPr lang="en-US" sz="1100" dirty="0">
                <a:solidFill>
                  <a:schemeClr val="dk1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El </a:t>
            </a:r>
            <a:r>
              <a:rPr lang="en-US" sz="1100" dirty="0" err="1">
                <a:solidFill>
                  <a:schemeClr val="dk1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sostiene</a:t>
            </a:r>
            <a:r>
              <a:rPr lang="en-US" sz="1100" dirty="0">
                <a:solidFill>
                  <a:schemeClr val="dk1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 </a:t>
            </a:r>
            <a:r>
              <a:rPr lang="en-US" sz="1100" dirty="0" err="1">
                <a:solidFill>
                  <a:schemeClr val="dk1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que</a:t>
            </a:r>
            <a:r>
              <a:rPr lang="en-US" sz="1100" dirty="0">
                <a:solidFill>
                  <a:schemeClr val="dk1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 la </a:t>
            </a:r>
            <a:r>
              <a:rPr lang="en-US" sz="1100" dirty="0" err="1">
                <a:solidFill>
                  <a:schemeClr val="dk1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desigualdad</a:t>
            </a:r>
            <a:r>
              <a:rPr lang="en-US" sz="1100" dirty="0">
                <a:solidFill>
                  <a:schemeClr val="dk1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 </a:t>
            </a:r>
            <a:r>
              <a:rPr lang="en-US" sz="1100" dirty="0" err="1">
                <a:solidFill>
                  <a:schemeClr val="dk1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económica</a:t>
            </a:r>
            <a:r>
              <a:rPr lang="en-US" sz="1100" dirty="0">
                <a:solidFill>
                  <a:schemeClr val="dk1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 es “</a:t>
            </a:r>
            <a:r>
              <a:rPr lang="en-US" sz="1100" dirty="0" err="1">
                <a:solidFill>
                  <a:schemeClr val="dk1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corrosiva</a:t>
            </a:r>
            <a:r>
              <a:rPr lang="en-US" sz="1100" dirty="0">
                <a:solidFill>
                  <a:schemeClr val="dk1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” para la </a:t>
            </a:r>
            <a:r>
              <a:rPr lang="en-US" sz="1100" dirty="0" err="1">
                <a:solidFill>
                  <a:schemeClr val="dk1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cohesión</a:t>
            </a:r>
            <a:r>
              <a:rPr lang="en-US" sz="1100" dirty="0">
                <a:solidFill>
                  <a:schemeClr val="dk1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 social </a:t>
            </a:r>
            <a:r>
              <a:rPr lang="es-CL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s-CL" sz="1100" dirty="0" err="1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Delhey</a:t>
            </a:r>
            <a:r>
              <a:rPr lang="es-CL" sz="1100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et al., 2023</a:t>
            </a:r>
            <a:r>
              <a:rPr lang="es-CL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  <a:r>
              <a:rPr lang="es-ES" sz="1100" dirty="0">
                <a:solidFill>
                  <a:schemeClr val="dk1"/>
                </a:solidFill>
                <a:latin typeface="Times New Roman"/>
                <a:cs typeface="Times New Roman"/>
                <a:sym typeface="Times New Roman"/>
              </a:rPr>
              <a:t>. En este contexto, una mayor </a:t>
            </a:r>
            <a:r>
              <a:rPr lang="es-ES" sz="11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disposición a esfuerzos colectivos suele explicarse por una mayor confianza social</a:t>
            </a:r>
            <a:r>
              <a:rPr lang="en-US" sz="11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(</a:t>
            </a:r>
            <a:r>
              <a:rPr lang="en-US" sz="1100" dirty="0" err="1">
                <a:solidFill>
                  <a:schemeClr val="accen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Diprete</a:t>
            </a:r>
            <a:r>
              <a:rPr lang="en-US" sz="1100" dirty="0">
                <a:solidFill>
                  <a:schemeClr val="accen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, Gelman, </a:t>
            </a:r>
            <a:r>
              <a:rPr lang="en-US" sz="1100" dirty="0" err="1">
                <a:solidFill>
                  <a:schemeClr val="accen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Mccormick</a:t>
            </a:r>
            <a:r>
              <a:rPr lang="en-US" sz="1100" dirty="0">
                <a:solidFill>
                  <a:schemeClr val="accen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, Teitler, &amp; Zheng, 2011</a:t>
            </a:r>
            <a:r>
              <a:rPr lang="en-US" sz="11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). </a:t>
            </a:r>
          </a:p>
          <a:p>
            <a:pPr indent="-298450">
              <a:spcBef>
                <a:spcPts val="1200"/>
              </a:spcBef>
              <a:buClr>
                <a:schemeClr val="dk1"/>
              </a:buClr>
              <a:buSzPts val="1100"/>
              <a:buFont typeface="Times New Roman"/>
              <a:buChar char="●"/>
            </a:pPr>
            <a:r>
              <a:rPr lang="en-US" sz="1100" dirty="0" err="1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Diferencias</a:t>
            </a:r>
            <a:r>
              <a:rPr lang="en-US" sz="11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100" dirty="0" err="1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socioeconómicas</a:t>
            </a:r>
            <a:r>
              <a:rPr lang="en-US" sz="11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(</a:t>
            </a:r>
            <a:r>
              <a:rPr lang="en-US" sz="1100" dirty="0" err="1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verticales</a:t>
            </a:r>
            <a:r>
              <a:rPr lang="en-US" sz="11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) </a:t>
            </a:r>
            <a:r>
              <a:rPr lang="en-US" sz="1100" dirty="0" err="1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pueden</a:t>
            </a:r>
            <a:r>
              <a:rPr lang="en-US" sz="11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s-ES" sz="11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trazar fronteras simbólicas de "respetabilidad" y "distinción" (</a:t>
            </a:r>
            <a:r>
              <a:rPr lang="es-ES" sz="1100" dirty="0" err="1">
                <a:solidFill>
                  <a:schemeClr val="accen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Groh-Samberg</a:t>
            </a:r>
            <a:r>
              <a:rPr lang="es-ES" sz="1100" dirty="0">
                <a:solidFill>
                  <a:schemeClr val="accen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et al., 2023, p. 315</a:t>
            </a:r>
            <a:r>
              <a:rPr lang="es-ES" sz="11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)</a:t>
            </a:r>
            <a:br>
              <a:rPr lang="en-US" sz="11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endParaRPr lang="en-US" sz="1100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lvl="0" indent="-298450">
              <a:buSzPts val="1100"/>
              <a:buFont typeface="Times New Roman"/>
              <a:buChar char="●"/>
            </a:pPr>
            <a:r>
              <a:rPr lang="es-ES" sz="11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 nivel individual, el nivel socioeconómico (NSE) se asocia a menores riesgos percibidos en situaciones de intercambio, lo cual explicaría una mayor disposición a confiar en otros </a:t>
            </a:r>
            <a:r>
              <a:rPr lang="en-US" sz="11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(</a:t>
            </a:r>
            <a:r>
              <a:rPr lang="en-US" sz="1100" dirty="0">
                <a:solidFill>
                  <a:schemeClr val="accen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Fiske &amp; Markus, 2012</a:t>
            </a:r>
            <a:r>
              <a:rPr lang="en-US" sz="11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). Como </a:t>
            </a:r>
            <a:r>
              <a:rPr lang="en-US" sz="1100" dirty="0" err="1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contrapartes</a:t>
            </a:r>
            <a:r>
              <a:rPr lang="en-US" sz="11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de </a:t>
            </a:r>
            <a:r>
              <a:rPr lang="en-US" sz="1100" dirty="0" err="1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cooperación</a:t>
            </a:r>
            <a:r>
              <a:rPr lang="en-US" sz="11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, </a:t>
            </a:r>
            <a:r>
              <a:rPr lang="es-CL" sz="11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personas de NSE alto (credenciales e ingresos) son </a:t>
            </a:r>
            <a:r>
              <a:rPr lang="es-ES" sz="11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percibidas como más competentes, en contraste con individuos de menor NSE </a:t>
            </a:r>
            <a:r>
              <a:rPr lang="en-US" sz="11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(</a:t>
            </a:r>
            <a:r>
              <a:rPr lang="en-US" sz="1100" dirty="0">
                <a:solidFill>
                  <a:schemeClr val="accen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Salgado, Núñez, &amp; Mackenna, 2021</a:t>
            </a:r>
            <a:r>
              <a:rPr lang="en-US" sz="11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).</a:t>
            </a:r>
            <a:br>
              <a:rPr lang="en-US" sz="11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endParaRPr lang="en-US" sz="1100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lvl="0" indent="-298450">
              <a:buSzPts val="1100"/>
              <a:buFont typeface="Times New Roman"/>
              <a:buChar char="●"/>
            </a:pPr>
            <a:endParaRPr lang="en-US" sz="1100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lvl="0" indent="-298450">
              <a:buSzPts val="1100"/>
              <a:buFont typeface="Times New Roman"/>
              <a:buChar char="●"/>
            </a:pPr>
            <a:endParaRPr lang="en-US" sz="1100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158750" lvl="0" indent="0">
              <a:buSzPts val="1100"/>
              <a:buNone/>
            </a:pPr>
            <a:endParaRPr lang="en-US" sz="1100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lvl="0" indent="-298450">
              <a:buSzPts val="1100"/>
              <a:buFont typeface="Times New Roman"/>
              <a:buChar char="●"/>
            </a:pPr>
            <a:endParaRPr lang="en-US" sz="1100" noProof="0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08" name="Google Shape;108;p18"/>
          <p:cNvSpPr txBox="1">
            <a:spLocks noGrp="1"/>
          </p:cNvSpPr>
          <p:nvPr>
            <p:ph type="sldNum" idx="12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t>4</a:t>
            </a:fld>
            <a:endParaRPr lang="en-US" noProof="0" dirty="0"/>
          </a:p>
        </p:txBody>
      </p:sp>
      <p:pic>
        <p:nvPicPr>
          <p:cNvPr id="2050" name="Picture 2" descr="15,000+ Social Ladder Stock Photos, Pictures &amp; Royalty-Free Images - iStock  | Upward mobility, Social class, Middle class">
            <a:extLst>
              <a:ext uri="{FF2B5EF4-FFF2-40B4-BE49-F238E27FC236}">
                <a16:creationId xmlns:a16="http://schemas.microsoft.com/office/drawing/2014/main" id="{03D25B9A-A3B7-A20B-7E6F-F9A19824D5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49849" y="1623136"/>
            <a:ext cx="3996959" cy="28540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  <p:transition spd="med">
    <p:fade thruBlk="1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4">
          <a:extLst>
            <a:ext uri="{FF2B5EF4-FFF2-40B4-BE49-F238E27FC236}">
              <a16:creationId xmlns:a16="http://schemas.microsoft.com/office/drawing/2014/main" id="{C961F500-3D24-1743-4A70-8BB8869A68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8">
            <a:extLst>
              <a:ext uri="{FF2B5EF4-FFF2-40B4-BE49-F238E27FC236}">
                <a16:creationId xmlns:a16="http://schemas.microsoft.com/office/drawing/2014/main" id="{7939FD2E-A09A-2BD1-43B6-4FB8B8E3A29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noProof="0" dirty="0" err="1">
                <a:latin typeface="Georgia" panose="02040502050405020303" pitchFamily="18" charset="0"/>
              </a:rPr>
              <a:t>Fuerzas</a:t>
            </a:r>
            <a:r>
              <a:rPr lang="en-US" sz="2400" noProof="0" dirty="0">
                <a:latin typeface="Georgia" panose="02040502050405020303" pitchFamily="18" charset="0"/>
              </a:rPr>
              <a:t> </a:t>
            </a:r>
            <a:r>
              <a:rPr lang="en-US" sz="2400" noProof="0" dirty="0" err="1">
                <a:latin typeface="Georgia" panose="02040502050405020303" pitchFamily="18" charset="0"/>
              </a:rPr>
              <a:t>promotoras</a:t>
            </a:r>
            <a:r>
              <a:rPr lang="en-US" sz="2400" noProof="0" dirty="0">
                <a:latin typeface="Georgia" panose="02040502050405020303" pitchFamily="18" charset="0"/>
              </a:rPr>
              <a:t> e </a:t>
            </a:r>
            <a:r>
              <a:rPr lang="en-US" sz="2400" noProof="0" dirty="0" err="1">
                <a:latin typeface="Georgia" panose="02040502050405020303" pitchFamily="18" charset="0"/>
              </a:rPr>
              <a:t>inhibidoras</a:t>
            </a:r>
            <a:r>
              <a:rPr lang="en-US" sz="2400" noProof="0" dirty="0">
                <a:latin typeface="Georgia" panose="02040502050405020303" pitchFamily="18" charset="0"/>
              </a:rPr>
              <a:t> de la </a:t>
            </a:r>
            <a:r>
              <a:rPr lang="en-US" sz="2400" noProof="0" dirty="0" err="1">
                <a:latin typeface="Georgia" panose="02040502050405020303" pitchFamily="18" charset="0"/>
              </a:rPr>
              <a:t>cohesi</a:t>
            </a:r>
            <a:r>
              <a:rPr lang="en-US" sz="2400" dirty="0" err="1">
                <a:latin typeface="Georgia" panose="02040502050405020303" pitchFamily="18" charset="0"/>
              </a:rPr>
              <a:t>ón</a:t>
            </a:r>
            <a:endParaRPr lang="en-US" sz="2400" noProof="0" dirty="0">
              <a:latin typeface="Georgia" panose="02040502050405020303" pitchFamily="18" charset="0"/>
            </a:endParaRPr>
          </a:p>
        </p:txBody>
      </p:sp>
      <p:sp>
        <p:nvSpPr>
          <p:cNvPr id="108" name="Google Shape;108;p18">
            <a:extLst>
              <a:ext uri="{FF2B5EF4-FFF2-40B4-BE49-F238E27FC236}">
                <a16:creationId xmlns:a16="http://schemas.microsoft.com/office/drawing/2014/main" id="{658919AC-4F98-154C-0EAE-81BE0C3C67EF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rtl="0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None/>
            </a:pPr>
            <a:fld id="{00000000-1234-1234-1234-123412341234}" type="slidenum">
              <a:rPr lang="en-US" sz="900" noProof="0" smtClean="0"/>
              <a:pPr marL="0" lvl="0" indent="0" rtl="0">
                <a:lnSpc>
                  <a:spcPct val="90000"/>
                </a:lnSpc>
                <a:spcBef>
                  <a:spcPts val="0"/>
                </a:spcBef>
                <a:spcAft>
                  <a:spcPts val="600"/>
                </a:spcAft>
                <a:buNone/>
              </a:pPr>
              <a:t>5</a:t>
            </a:fld>
            <a:endParaRPr lang="en-US" sz="900" noProof="0"/>
          </a:p>
        </p:txBody>
      </p:sp>
      <p:sp>
        <p:nvSpPr>
          <p:cNvPr id="107" name="Google Shape;107;p18">
            <a:extLst>
              <a:ext uri="{FF2B5EF4-FFF2-40B4-BE49-F238E27FC236}">
                <a16:creationId xmlns:a16="http://schemas.microsoft.com/office/drawing/2014/main" id="{E6DC0880-9666-42CC-0754-F83289A8787E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4762500" y="1208225"/>
            <a:ext cx="4069800" cy="3264408"/>
          </a:xfrm>
        </p:spPr>
        <p:txBody>
          <a:bodyPr spcFirstLastPara="1" lIns="91425" tIns="91425" rIns="91425" bIns="91425" anchor="t" anchorCtr="0">
            <a:normAutofit fontScale="92500" lnSpcReduction="20000"/>
          </a:bodyPr>
          <a:lstStyle/>
          <a:p>
            <a:pPr marL="0" lvl="0" indent="0">
              <a:buNone/>
            </a:pPr>
            <a:r>
              <a:rPr lang="en-US" sz="1200" b="1" dirty="0" err="1">
                <a:solidFill>
                  <a:srgbClr val="9900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Dimensión</a:t>
            </a:r>
            <a:r>
              <a:rPr lang="en-US" sz="1200" b="1" dirty="0">
                <a:solidFill>
                  <a:srgbClr val="9900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de </a:t>
            </a:r>
            <a:r>
              <a:rPr lang="en-US" sz="1200" b="1" dirty="0" err="1">
                <a:solidFill>
                  <a:srgbClr val="9900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valores</a:t>
            </a:r>
            <a:endParaRPr lang="en-US" sz="1200" b="1" dirty="0">
              <a:solidFill>
                <a:srgbClr val="9900F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lvl="0" indent="-298450">
              <a:lnSpc>
                <a:spcPct val="100000"/>
              </a:lnSpc>
              <a:spcBef>
                <a:spcPts val="1200"/>
              </a:spcBef>
              <a:buSzPts val="1100"/>
              <a:buFont typeface="Times New Roman"/>
              <a:buChar char="●"/>
            </a:pPr>
            <a:r>
              <a:rPr lang="es-ES" sz="1200" dirty="0">
                <a:latin typeface="Times New Roman"/>
                <a:ea typeface="Times New Roman"/>
                <a:cs typeface="Times New Roman"/>
                <a:sym typeface="Times New Roman"/>
              </a:rPr>
              <a:t>En sociedades con mayor homogeneidad de valores muestran mayores niveles de confianza social, sugiriendo que objetivos comunes</a:t>
            </a:r>
            <a:r>
              <a:rPr lang="en-US" sz="1200" dirty="0">
                <a:latin typeface="Times New Roman"/>
                <a:ea typeface="Times New Roman"/>
                <a:cs typeface="Times New Roman"/>
                <a:sym typeface="Times New Roman"/>
              </a:rPr>
              <a:t> se </a:t>
            </a:r>
            <a:r>
              <a:rPr lang="en-US" sz="1200" dirty="0" err="1">
                <a:latin typeface="Times New Roman"/>
                <a:ea typeface="Times New Roman"/>
                <a:cs typeface="Times New Roman"/>
                <a:sym typeface="Times New Roman"/>
              </a:rPr>
              <a:t>ven</a:t>
            </a:r>
            <a:r>
              <a:rPr lang="en-US" sz="1200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200" dirty="0" err="1">
                <a:latin typeface="Times New Roman"/>
                <a:ea typeface="Times New Roman"/>
                <a:cs typeface="Times New Roman"/>
                <a:sym typeface="Times New Roman"/>
              </a:rPr>
              <a:t>promovidos</a:t>
            </a:r>
            <a:r>
              <a:rPr lang="en-US" sz="1200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200" dirty="0" err="1">
                <a:latin typeface="Times New Roman"/>
                <a:ea typeface="Times New Roman"/>
                <a:cs typeface="Times New Roman"/>
                <a:sym typeface="Times New Roman"/>
              </a:rPr>
              <a:t>por</a:t>
            </a:r>
            <a:r>
              <a:rPr lang="en-US" sz="1200" dirty="0">
                <a:latin typeface="Times New Roman"/>
                <a:ea typeface="Times New Roman"/>
                <a:cs typeface="Times New Roman"/>
                <a:sym typeface="Times New Roman"/>
              </a:rPr>
              <a:t> la </a:t>
            </a:r>
            <a:r>
              <a:rPr lang="en-US" sz="1200" dirty="0" err="1">
                <a:latin typeface="Times New Roman"/>
                <a:ea typeface="Times New Roman"/>
                <a:cs typeface="Times New Roman"/>
                <a:sym typeface="Times New Roman"/>
              </a:rPr>
              <a:t>similitud</a:t>
            </a:r>
            <a:r>
              <a:rPr lang="en-US" sz="1200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200" dirty="0" err="1">
                <a:latin typeface="Times New Roman"/>
                <a:ea typeface="Times New Roman"/>
                <a:cs typeface="Times New Roman"/>
                <a:sym typeface="Times New Roman"/>
              </a:rPr>
              <a:t>en</a:t>
            </a:r>
            <a:r>
              <a:rPr lang="en-US" sz="1200" dirty="0">
                <a:latin typeface="Times New Roman"/>
                <a:ea typeface="Times New Roman"/>
                <a:cs typeface="Times New Roman"/>
                <a:sym typeface="Times New Roman"/>
              </a:rPr>
              <a:t> la </a:t>
            </a:r>
            <a:r>
              <a:rPr lang="en-US" sz="1200" dirty="0" err="1">
                <a:latin typeface="Times New Roman"/>
                <a:ea typeface="Times New Roman"/>
                <a:cs typeface="Times New Roman"/>
                <a:sym typeface="Times New Roman"/>
              </a:rPr>
              <a:t>orientación</a:t>
            </a:r>
            <a:r>
              <a:rPr lang="en-US" sz="1200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200" dirty="0" err="1">
                <a:latin typeface="Times New Roman"/>
                <a:ea typeface="Times New Roman"/>
                <a:cs typeface="Times New Roman"/>
                <a:sym typeface="Times New Roman"/>
              </a:rPr>
              <a:t>valórica</a:t>
            </a:r>
            <a:r>
              <a:rPr lang="en-US" sz="1200" dirty="0">
                <a:latin typeface="Times New Roman"/>
                <a:ea typeface="Times New Roman"/>
                <a:cs typeface="Times New Roman"/>
                <a:sym typeface="Times New Roman"/>
              </a:rPr>
              <a:t> (</a:t>
            </a:r>
            <a:r>
              <a:rPr lang="en-US" sz="1200" dirty="0" err="1">
                <a:solidFill>
                  <a:schemeClr val="accen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Uslaner</a:t>
            </a:r>
            <a:r>
              <a:rPr lang="en-US" sz="1200" dirty="0">
                <a:solidFill>
                  <a:schemeClr val="accen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&amp; Brown, 2005</a:t>
            </a:r>
            <a:r>
              <a:rPr lang="en-US" sz="1200" dirty="0">
                <a:latin typeface="Times New Roman"/>
                <a:ea typeface="Times New Roman"/>
                <a:cs typeface="Times New Roman"/>
                <a:sym typeface="Times New Roman"/>
              </a:rPr>
              <a:t>).</a:t>
            </a:r>
            <a:br>
              <a:rPr lang="en-US" sz="1200" dirty="0">
                <a:latin typeface="Times New Roman"/>
                <a:ea typeface="Times New Roman"/>
                <a:cs typeface="Times New Roman"/>
                <a:sym typeface="Times New Roman"/>
              </a:rPr>
            </a:br>
            <a:endParaRPr lang="en-US" sz="1200" dirty="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lvl="0" indent="-298450">
              <a:lnSpc>
                <a:spcPct val="100000"/>
              </a:lnSpc>
              <a:buSzPts val="1100"/>
            </a:pPr>
            <a:r>
              <a:rPr lang="es-ES" sz="1200" dirty="0">
                <a:latin typeface="Times New Roman"/>
                <a:ea typeface="Times New Roman"/>
                <a:cs typeface="Times New Roman"/>
                <a:sym typeface="Times New Roman"/>
              </a:rPr>
              <a:t>Según la teoría de los </a:t>
            </a:r>
            <a:r>
              <a:rPr lang="es-ES" sz="1200" b="1" dirty="0">
                <a:latin typeface="Times New Roman"/>
                <a:ea typeface="Times New Roman"/>
                <a:cs typeface="Times New Roman"/>
                <a:sym typeface="Times New Roman"/>
              </a:rPr>
              <a:t>valores humanos básicos</a:t>
            </a:r>
            <a:r>
              <a:rPr lang="es-ES" sz="1200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200" dirty="0">
                <a:latin typeface="Times New Roman"/>
                <a:ea typeface="Times New Roman"/>
                <a:cs typeface="Times New Roman"/>
                <a:sym typeface="Times New Roman"/>
              </a:rPr>
              <a:t>(Schwartz, </a:t>
            </a:r>
            <a:r>
              <a:rPr lang="en-US" sz="1200" dirty="0">
                <a:solidFill>
                  <a:schemeClr val="accen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1992</a:t>
            </a:r>
            <a:r>
              <a:rPr lang="en-US" sz="1200" dirty="0">
                <a:latin typeface="Times New Roman"/>
                <a:ea typeface="Times New Roman"/>
                <a:cs typeface="Times New Roman"/>
                <a:sym typeface="Times New Roman"/>
              </a:rPr>
              <a:t>), </a:t>
            </a:r>
            <a:r>
              <a:rPr lang="en-US" sz="1200" dirty="0" err="1">
                <a:latin typeface="Times New Roman"/>
                <a:ea typeface="Times New Roman"/>
                <a:cs typeface="Times New Roman"/>
                <a:sym typeface="Times New Roman"/>
              </a:rPr>
              <a:t>los</a:t>
            </a:r>
            <a:r>
              <a:rPr lang="en-US" sz="1200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200" dirty="0" err="1">
                <a:latin typeface="Times New Roman"/>
                <a:ea typeface="Times New Roman"/>
                <a:cs typeface="Times New Roman"/>
                <a:sym typeface="Times New Roman"/>
              </a:rPr>
              <a:t>valores</a:t>
            </a:r>
            <a:r>
              <a:rPr lang="en-US" sz="1200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s-ES" sz="1200" dirty="0">
                <a:latin typeface="Times New Roman"/>
                <a:ea typeface="Times New Roman"/>
                <a:cs typeface="Times New Roman"/>
                <a:sym typeface="Times New Roman"/>
              </a:rPr>
              <a:t>pueden dividirse en </a:t>
            </a:r>
            <a:r>
              <a:rPr lang="es-ES" sz="1200" b="1" dirty="0">
                <a:latin typeface="Times New Roman"/>
                <a:ea typeface="Times New Roman"/>
                <a:cs typeface="Times New Roman"/>
                <a:sym typeface="Times New Roman"/>
              </a:rPr>
              <a:t>cuatro valores</a:t>
            </a:r>
            <a:r>
              <a:rPr lang="es-ES" sz="1200" dirty="0">
                <a:latin typeface="Times New Roman"/>
                <a:ea typeface="Times New Roman"/>
                <a:cs typeface="Times New Roman"/>
                <a:sym typeface="Times New Roman"/>
              </a:rPr>
              <a:t> de orden superior en conflicto:</a:t>
            </a:r>
            <a:br>
              <a:rPr lang="es-ES" sz="1200" dirty="0"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lang="en-US" sz="1200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</a:p>
          <a:p>
            <a:pPr lvl="1" indent="-298450">
              <a:lnSpc>
                <a:spcPct val="100000"/>
              </a:lnSpc>
              <a:buSzPts val="1100"/>
            </a:pPr>
            <a:r>
              <a:rPr lang="es-ES" sz="1000" b="1" dirty="0" err="1">
                <a:latin typeface="Times New Roman"/>
                <a:ea typeface="Times New Roman"/>
                <a:cs typeface="Times New Roman"/>
                <a:sym typeface="Times New Roman"/>
              </a:rPr>
              <a:t>Auto-trascendencia</a:t>
            </a:r>
            <a:r>
              <a:rPr lang="es-ES" sz="1000" dirty="0">
                <a:latin typeface="Times New Roman"/>
                <a:ea typeface="Times New Roman"/>
                <a:cs typeface="Times New Roman"/>
                <a:sym typeface="Times New Roman"/>
              </a:rPr>
              <a:t> (universalismo, benevolencia) </a:t>
            </a:r>
            <a:br>
              <a:rPr lang="es-ES" sz="1000" dirty="0"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lang="es-ES" sz="1000" dirty="0">
                <a:latin typeface="Times New Roman"/>
                <a:ea typeface="Times New Roman"/>
                <a:cs typeface="Times New Roman"/>
                <a:sym typeface="Times New Roman"/>
              </a:rPr>
              <a:t>vs. </a:t>
            </a:r>
            <a:r>
              <a:rPr lang="es-ES" sz="1000" b="1" dirty="0" err="1">
                <a:latin typeface="Times New Roman"/>
                <a:ea typeface="Times New Roman"/>
                <a:cs typeface="Times New Roman"/>
                <a:sym typeface="Times New Roman"/>
              </a:rPr>
              <a:t>auto-promoción</a:t>
            </a:r>
            <a:r>
              <a:rPr lang="es-ES" sz="1000" b="1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s-ES" sz="1000" dirty="0">
                <a:latin typeface="Times New Roman"/>
                <a:ea typeface="Times New Roman"/>
                <a:cs typeface="Times New Roman"/>
                <a:sym typeface="Times New Roman"/>
              </a:rPr>
              <a:t>(logro, poder, placer)</a:t>
            </a:r>
            <a:r>
              <a:rPr lang="en-US" sz="1000" dirty="0">
                <a:latin typeface="Times New Roman"/>
                <a:ea typeface="Times New Roman"/>
                <a:cs typeface="Times New Roman"/>
                <a:sym typeface="Times New Roman"/>
              </a:rPr>
              <a:t>; </a:t>
            </a:r>
          </a:p>
          <a:p>
            <a:pPr lvl="1" indent="-298450">
              <a:lnSpc>
                <a:spcPct val="100000"/>
              </a:lnSpc>
              <a:buSzPts val="1100"/>
            </a:pPr>
            <a:endParaRPr lang="en-US" sz="1000" dirty="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lvl="1" indent="-298450">
              <a:lnSpc>
                <a:spcPct val="100000"/>
              </a:lnSpc>
              <a:buSzPts val="1100"/>
            </a:pPr>
            <a:r>
              <a:rPr lang="en-US" sz="1000" b="1" dirty="0">
                <a:latin typeface="Times New Roman"/>
                <a:ea typeface="Times New Roman"/>
                <a:cs typeface="Times New Roman"/>
                <a:sym typeface="Times New Roman"/>
              </a:rPr>
              <a:t>Apertura al </a:t>
            </a:r>
            <a:r>
              <a:rPr lang="en-US" sz="1000" b="1" dirty="0" err="1">
                <a:latin typeface="Times New Roman"/>
                <a:ea typeface="Times New Roman"/>
                <a:cs typeface="Times New Roman"/>
                <a:sym typeface="Times New Roman"/>
              </a:rPr>
              <a:t>cambio</a:t>
            </a:r>
            <a:r>
              <a:rPr lang="en-US" sz="1000" b="1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000" dirty="0">
                <a:latin typeface="Times New Roman"/>
                <a:ea typeface="Times New Roman"/>
                <a:cs typeface="Times New Roman"/>
                <a:sym typeface="Times New Roman"/>
              </a:rPr>
              <a:t>(</a:t>
            </a:r>
            <a:r>
              <a:rPr lang="en-US" sz="1000" dirty="0" err="1">
                <a:latin typeface="Times New Roman"/>
                <a:ea typeface="Times New Roman"/>
                <a:cs typeface="Times New Roman"/>
                <a:sym typeface="Times New Roman"/>
              </a:rPr>
              <a:t>estimulación</a:t>
            </a:r>
            <a:r>
              <a:rPr lang="en-US" sz="1000" dirty="0">
                <a:latin typeface="Times New Roman"/>
                <a:ea typeface="Times New Roman"/>
                <a:cs typeface="Times New Roman"/>
                <a:sym typeface="Times New Roman"/>
              </a:rPr>
              <a:t>, </a:t>
            </a:r>
            <a:r>
              <a:rPr lang="en-US" sz="1000" dirty="0" err="1">
                <a:latin typeface="Times New Roman"/>
                <a:ea typeface="Times New Roman"/>
                <a:cs typeface="Times New Roman"/>
                <a:sym typeface="Times New Roman"/>
              </a:rPr>
              <a:t>creatividad</a:t>
            </a:r>
            <a:r>
              <a:rPr lang="en-US" sz="1000" dirty="0">
                <a:latin typeface="Times New Roman"/>
                <a:ea typeface="Times New Roman"/>
                <a:cs typeface="Times New Roman"/>
                <a:sym typeface="Times New Roman"/>
              </a:rPr>
              <a:t>) </a:t>
            </a:r>
            <a:br>
              <a:rPr lang="en-US" sz="1000" dirty="0"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lang="en-US" sz="1000" dirty="0">
                <a:latin typeface="Times New Roman"/>
                <a:ea typeface="Times New Roman"/>
                <a:cs typeface="Times New Roman"/>
                <a:sym typeface="Times New Roman"/>
              </a:rPr>
              <a:t>vs. </a:t>
            </a:r>
            <a:r>
              <a:rPr lang="en-US" sz="1000" b="1" dirty="0">
                <a:latin typeface="Times New Roman"/>
                <a:ea typeface="Times New Roman"/>
                <a:cs typeface="Times New Roman"/>
                <a:sym typeface="Times New Roman"/>
              </a:rPr>
              <a:t>Conservación </a:t>
            </a:r>
            <a:r>
              <a:rPr lang="en-US" sz="1000" dirty="0">
                <a:latin typeface="Times New Roman"/>
                <a:ea typeface="Times New Roman"/>
                <a:cs typeface="Times New Roman"/>
                <a:sym typeface="Times New Roman"/>
              </a:rPr>
              <a:t>(</a:t>
            </a:r>
            <a:r>
              <a:rPr lang="en-US" sz="1000" dirty="0" err="1">
                <a:latin typeface="Times New Roman"/>
                <a:ea typeface="Times New Roman"/>
                <a:cs typeface="Times New Roman"/>
                <a:sym typeface="Times New Roman"/>
              </a:rPr>
              <a:t>estabilidad</a:t>
            </a:r>
            <a:r>
              <a:rPr lang="en-US" sz="1000" dirty="0">
                <a:latin typeface="Times New Roman"/>
                <a:ea typeface="Times New Roman"/>
                <a:cs typeface="Times New Roman"/>
                <a:sym typeface="Times New Roman"/>
              </a:rPr>
              <a:t>, </a:t>
            </a:r>
            <a:r>
              <a:rPr lang="en-US" sz="1000" dirty="0" err="1">
                <a:latin typeface="Times New Roman"/>
                <a:ea typeface="Times New Roman"/>
                <a:cs typeface="Times New Roman"/>
                <a:sym typeface="Times New Roman"/>
              </a:rPr>
              <a:t>tradición</a:t>
            </a:r>
            <a:r>
              <a:rPr lang="en-US" sz="1000" dirty="0">
                <a:latin typeface="Times New Roman"/>
                <a:ea typeface="Times New Roman"/>
                <a:cs typeface="Times New Roman"/>
                <a:sym typeface="Times New Roman"/>
              </a:rPr>
              <a:t>).         </a:t>
            </a:r>
          </a:p>
          <a:p>
            <a:pPr lvl="1" indent="-298450">
              <a:lnSpc>
                <a:spcPct val="100000"/>
              </a:lnSpc>
              <a:buSzPts val="1100"/>
            </a:pPr>
            <a:endParaRPr lang="en-US" sz="1000" dirty="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lvl="1" indent="-298450">
              <a:lnSpc>
                <a:spcPct val="100000"/>
              </a:lnSpc>
              <a:buSzPts val="1100"/>
            </a:pPr>
            <a:r>
              <a:rPr lang="en-US" sz="1000" i="1" dirty="0">
                <a:latin typeface="Times New Roman"/>
                <a:ea typeface="Times New Roman"/>
                <a:cs typeface="Times New Roman"/>
                <a:sym typeface="Times New Roman"/>
              </a:rPr>
              <a:t>Foco Social</a:t>
            </a:r>
            <a:r>
              <a:rPr lang="en-US" sz="1000" dirty="0">
                <a:latin typeface="Times New Roman"/>
                <a:ea typeface="Times New Roman"/>
                <a:cs typeface="Times New Roman"/>
                <a:sym typeface="Times New Roman"/>
              </a:rPr>
              <a:t> (</a:t>
            </a:r>
            <a:r>
              <a:rPr lang="en-US" sz="1000" b="1" dirty="0">
                <a:latin typeface="Times New Roman"/>
                <a:ea typeface="Times New Roman"/>
                <a:cs typeface="Times New Roman"/>
                <a:sym typeface="Times New Roman"/>
              </a:rPr>
              <a:t>Auto-</a:t>
            </a:r>
            <a:r>
              <a:rPr lang="en-US" sz="1000" b="1" dirty="0" err="1">
                <a:latin typeface="Times New Roman"/>
                <a:ea typeface="Times New Roman"/>
                <a:cs typeface="Times New Roman"/>
                <a:sym typeface="Times New Roman"/>
              </a:rPr>
              <a:t>trascendencia</a:t>
            </a:r>
            <a:r>
              <a:rPr lang="en-US" sz="1000" b="1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000" dirty="0">
                <a:latin typeface="Times New Roman"/>
                <a:ea typeface="Times New Roman"/>
                <a:cs typeface="Times New Roman"/>
                <a:sym typeface="Times New Roman"/>
              </a:rPr>
              <a:t>+ </a:t>
            </a:r>
            <a:r>
              <a:rPr lang="en-US" sz="1000" b="1" dirty="0">
                <a:latin typeface="Times New Roman"/>
                <a:ea typeface="Times New Roman"/>
                <a:cs typeface="Times New Roman"/>
                <a:sym typeface="Times New Roman"/>
              </a:rPr>
              <a:t>Conservación</a:t>
            </a:r>
            <a:r>
              <a:rPr lang="en-US" sz="1000" dirty="0">
                <a:latin typeface="Times New Roman"/>
                <a:ea typeface="Times New Roman"/>
                <a:cs typeface="Times New Roman"/>
                <a:sym typeface="Times New Roman"/>
              </a:rPr>
              <a:t>) vs</a:t>
            </a:r>
            <a:br>
              <a:rPr lang="en-US" sz="1000" dirty="0"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lang="en-US" sz="1000" i="1" dirty="0">
                <a:latin typeface="Times New Roman"/>
                <a:ea typeface="Times New Roman"/>
                <a:cs typeface="Times New Roman"/>
                <a:sym typeface="Times New Roman"/>
              </a:rPr>
              <a:t>Foco Personal </a:t>
            </a:r>
            <a:r>
              <a:rPr lang="en-US" sz="1000" dirty="0">
                <a:latin typeface="Times New Roman"/>
                <a:ea typeface="Times New Roman"/>
                <a:cs typeface="Times New Roman"/>
                <a:sym typeface="Times New Roman"/>
              </a:rPr>
              <a:t>(</a:t>
            </a:r>
            <a:r>
              <a:rPr lang="en-US" sz="1000" b="1" dirty="0">
                <a:latin typeface="Times New Roman"/>
                <a:ea typeface="Times New Roman"/>
                <a:cs typeface="Times New Roman"/>
                <a:sym typeface="Times New Roman"/>
              </a:rPr>
              <a:t>Apertura Cambio </a:t>
            </a:r>
            <a:r>
              <a:rPr lang="en-US" sz="1000" dirty="0">
                <a:latin typeface="Times New Roman"/>
                <a:ea typeface="Times New Roman"/>
                <a:cs typeface="Times New Roman"/>
                <a:sym typeface="Times New Roman"/>
              </a:rPr>
              <a:t>+ A</a:t>
            </a:r>
            <a:r>
              <a:rPr lang="en-US" sz="1000" b="1" dirty="0">
                <a:latin typeface="Times New Roman"/>
                <a:ea typeface="Times New Roman"/>
                <a:cs typeface="Times New Roman"/>
                <a:sym typeface="Times New Roman"/>
              </a:rPr>
              <a:t>uto-</a:t>
            </a:r>
            <a:r>
              <a:rPr lang="en-US" sz="1000" b="1" dirty="0" err="1">
                <a:latin typeface="Times New Roman"/>
                <a:ea typeface="Times New Roman"/>
                <a:cs typeface="Times New Roman"/>
                <a:sym typeface="Times New Roman"/>
              </a:rPr>
              <a:t>promoción</a:t>
            </a:r>
            <a:r>
              <a:rPr lang="en-US" sz="1000" dirty="0">
                <a:latin typeface="Times New Roman"/>
                <a:ea typeface="Times New Roman"/>
                <a:cs typeface="Times New Roman"/>
                <a:sym typeface="Times New Roman"/>
              </a:rPr>
              <a:t>)</a:t>
            </a:r>
            <a:br>
              <a:rPr lang="en-US" sz="1000" dirty="0"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lang="en-US" sz="1000" dirty="0">
                <a:latin typeface="Times New Roman"/>
                <a:ea typeface="Times New Roman"/>
                <a:cs typeface="Times New Roman"/>
                <a:sym typeface="Times New Roman"/>
              </a:rPr>
              <a:t>                            </a:t>
            </a:r>
            <a:endParaRPr lang="en-US" dirty="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lvl="0" indent="-298450">
              <a:lnSpc>
                <a:spcPct val="100000"/>
              </a:lnSpc>
              <a:buSzPts val="1100"/>
            </a:pPr>
            <a:r>
              <a:rPr lang="es-ES" sz="1200" dirty="0">
                <a:latin typeface="Times New Roman"/>
                <a:ea typeface="Times New Roman"/>
                <a:cs typeface="Times New Roman"/>
                <a:sym typeface="Times New Roman"/>
              </a:rPr>
              <a:t>Funcionan como criterios de evaluación, por lo que determinados perfiles de valores pueden promover o inhibir la cohesión </a:t>
            </a:r>
            <a:r>
              <a:rPr lang="en-US" sz="1200" dirty="0">
                <a:latin typeface="Times New Roman"/>
                <a:ea typeface="Times New Roman"/>
                <a:cs typeface="Times New Roman"/>
                <a:sym typeface="Times New Roman"/>
              </a:rPr>
              <a:t>(</a:t>
            </a:r>
            <a:r>
              <a:rPr lang="en-US" sz="1200" dirty="0">
                <a:solidFill>
                  <a:schemeClr val="accen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Schröder, Speer, Sachweh, &amp; Groh-Samberg, 2022</a:t>
            </a:r>
            <a:r>
              <a:rPr lang="en-US" sz="1200" dirty="0">
                <a:latin typeface="Times New Roman"/>
                <a:ea typeface="Times New Roman"/>
                <a:cs typeface="Times New Roman"/>
                <a:sym typeface="Times New Roman"/>
              </a:rPr>
              <a:t>)</a:t>
            </a:r>
          </a:p>
          <a:p>
            <a:pPr lvl="0" indent="-298450" algn="ctr">
              <a:lnSpc>
                <a:spcPct val="105000"/>
              </a:lnSpc>
              <a:spcAft>
                <a:spcPts val="600"/>
              </a:spcAft>
              <a:buClr>
                <a:srgbClr val="000000"/>
              </a:buClr>
              <a:buSzPts val="1100"/>
              <a:buFont typeface="Arial"/>
              <a:buChar char="●"/>
            </a:pPr>
            <a:endParaRPr lang="en-US" sz="900" b="0" i="0" u="none" strike="noStrike" cap="none" noProof="0" dirty="0">
              <a:solidFill>
                <a:schemeClr val="dk1"/>
              </a:solidFill>
            </a:endParaRPr>
          </a:p>
        </p:txBody>
      </p:sp>
      <p:pic>
        <p:nvPicPr>
          <p:cNvPr id="2" name="Picture 2" descr="Hierarchical Cluster Analysis of Human Value Priorities and Associations  with Subjective Well-Being, Subjective General Health, Social Life, and  Depression across Europe">
            <a:extLst>
              <a:ext uri="{FF2B5EF4-FFF2-40B4-BE49-F238E27FC236}">
                <a16:creationId xmlns:a16="http://schemas.microsoft.com/office/drawing/2014/main" id="{E25ED32A-0585-1AD7-7AE3-6872AEFE8A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0250" y="1208225"/>
            <a:ext cx="3416299" cy="33839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10501180"/>
      </p:ext>
    </p:extLst>
  </p:cSld>
  <p:clrMapOvr>
    <a:masterClrMapping/>
  </p:clrMapOvr>
  <p:transition spd="med">
    <p:fade thruBlk="1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9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lvl="0"/>
            <a:r>
              <a:rPr lang="en-US" dirty="0" err="1"/>
              <a:t>Fuerzas</a:t>
            </a:r>
            <a:r>
              <a:rPr lang="en-US" dirty="0"/>
              <a:t> </a:t>
            </a:r>
            <a:r>
              <a:rPr lang="en-US" dirty="0" err="1"/>
              <a:t>promotoras</a:t>
            </a:r>
            <a:r>
              <a:rPr lang="en-US" dirty="0"/>
              <a:t> e </a:t>
            </a:r>
            <a:r>
              <a:rPr lang="en-US" dirty="0" err="1"/>
              <a:t>inhibidoras</a:t>
            </a:r>
            <a:r>
              <a:rPr lang="en-US" dirty="0"/>
              <a:t> de la </a:t>
            </a:r>
            <a:r>
              <a:rPr lang="en-US" dirty="0" err="1"/>
              <a:t>cohesión</a:t>
            </a:r>
            <a:endParaRPr lang="en-US" noProof="0" dirty="0"/>
          </a:p>
        </p:txBody>
      </p:sp>
      <p:sp>
        <p:nvSpPr>
          <p:cNvPr id="114" name="Google Shape;114;p19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>
              <a:buNone/>
            </a:pPr>
            <a:r>
              <a:rPr lang="en-US" b="1" dirty="0">
                <a:solidFill>
                  <a:srgbClr val="6AA84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El </a:t>
            </a:r>
            <a:r>
              <a:rPr lang="en-US" b="1" dirty="0" err="1">
                <a:solidFill>
                  <a:srgbClr val="6AA84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ámbito</a:t>
            </a:r>
            <a:r>
              <a:rPr lang="en-US" b="1" dirty="0">
                <a:solidFill>
                  <a:srgbClr val="6AA84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sociocultural</a:t>
            </a:r>
            <a:endParaRPr lang="en-US" sz="1200" b="1" dirty="0">
              <a:solidFill>
                <a:srgbClr val="6AA84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lvl="0" indent="-298450">
              <a:spcBef>
                <a:spcPts val="1200"/>
              </a:spcBef>
              <a:buClr>
                <a:schemeClr val="dk1"/>
              </a:buClr>
              <a:buSzPts val="1100"/>
              <a:buFont typeface="Times New Roman"/>
              <a:buChar char="●"/>
            </a:pPr>
            <a:r>
              <a:rPr lang="es-ES" sz="11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Las sociedades se esfuerzan por ser resilientes a las consecuencias que tiene la diversidad cultural sobre la cohesión social </a:t>
            </a:r>
            <a:r>
              <a:rPr lang="en-US" sz="11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(</a:t>
            </a:r>
            <a:r>
              <a:rPr lang="en-US" sz="1100" dirty="0" err="1">
                <a:solidFill>
                  <a:schemeClr val="accen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Baldassarri</a:t>
            </a:r>
            <a:r>
              <a:rPr lang="en-US" sz="1100" dirty="0">
                <a:solidFill>
                  <a:schemeClr val="accen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&amp; Abascal, 2020</a:t>
            </a:r>
            <a:r>
              <a:rPr lang="en-US" sz="11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).</a:t>
            </a:r>
          </a:p>
          <a:p>
            <a:pPr lvl="0" indent="-298450">
              <a:buClr>
                <a:schemeClr val="dk1"/>
              </a:buClr>
              <a:buSzPts val="1100"/>
            </a:pPr>
            <a:r>
              <a:rPr lang="es-ES" sz="11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Los migrantes pueden percibirse como una amenaza económica, asociada al incremento de la percepción de la competencia laboral o cultural, vinculada a la pérdida de una identidad nacional </a:t>
            </a:r>
            <a:r>
              <a:rPr lang="en-US" sz="11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(</a:t>
            </a:r>
            <a:r>
              <a:rPr lang="en-US" sz="1100" dirty="0">
                <a:solidFill>
                  <a:schemeClr val="accen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Tropp &amp; Pettigrew, 2005</a:t>
            </a:r>
            <a:r>
              <a:rPr lang="en-US" sz="11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).</a:t>
            </a:r>
          </a:p>
          <a:p>
            <a:pPr marL="158750" lvl="0" indent="0">
              <a:buClr>
                <a:schemeClr val="dk1"/>
              </a:buClr>
              <a:buSzPts val="1100"/>
              <a:buNone/>
            </a:pPr>
            <a:endParaRPr lang="en-US" sz="1100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lvl="0" indent="-298450">
              <a:buClr>
                <a:schemeClr val="dk1"/>
              </a:buClr>
              <a:buSzPts val="1100"/>
            </a:pPr>
            <a:r>
              <a:rPr lang="es-ES" sz="11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La pertenencia a grupos religiosos está asociada con las expectativas sobre el apego a las normas y valores sociales</a:t>
            </a:r>
            <a:r>
              <a:rPr lang="es-ES" sz="1100" b="1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1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(</a:t>
            </a:r>
            <a:r>
              <a:rPr lang="en-US" sz="1100" dirty="0">
                <a:solidFill>
                  <a:schemeClr val="accen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Rowatt &amp; Al-Kire, 2021</a:t>
            </a:r>
            <a:r>
              <a:rPr lang="en-US" sz="11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).</a:t>
            </a:r>
          </a:p>
          <a:p>
            <a:pPr lvl="0" indent="-298450">
              <a:buClr>
                <a:schemeClr val="dk1"/>
              </a:buClr>
              <a:buSzPts val="1100"/>
            </a:pPr>
            <a:r>
              <a:rPr lang="es-ES" sz="11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Las personas religiosas pueden ser percibidas como planificadoras lentas, no impulsivas y más dignas de confianza que las no religiosas.</a:t>
            </a:r>
            <a:r>
              <a:rPr lang="en-US" sz="11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(</a:t>
            </a:r>
            <a:r>
              <a:rPr lang="en-US" sz="1100" dirty="0">
                <a:solidFill>
                  <a:schemeClr val="accen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Moon, </a:t>
            </a:r>
            <a:r>
              <a:rPr lang="en-US" sz="1100" dirty="0" err="1">
                <a:solidFill>
                  <a:schemeClr val="accen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Krems</a:t>
            </a:r>
            <a:r>
              <a:rPr lang="en-US" sz="1100" dirty="0">
                <a:solidFill>
                  <a:schemeClr val="accen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, &amp; Cohen, 2018</a:t>
            </a:r>
            <a:r>
              <a:rPr lang="en-US" sz="11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). </a:t>
            </a:r>
            <a:r>
              <a:rPr lang="es-ES" sz="11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Además, las minorías religiosas pueden ser percibidas como una amenaza para el poder dominante. </a:t>
            </a:r>
            <a:r>
              <a:rPr lang="en-US" sz="11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culture.</a:t>
            </a:r>
            <a:endParaRPr lang="en-US" sz="1100" dirty="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endParaRPr lang="en-US" sz="1100" noProof="0" dirty="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15" name="Google Shape;115;p19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>
              <a:buNone/>
            </a:pPr>
            <a:r>
              <a:rPr lang="en-US" b="1" dirty="0">
                <a:solidFill>
                  <a:srgbClr val="0000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El </a:t>
            </a:r>
            <a:r>
              <a:rPr lang="en-US" b="1" dirty="0" err="1">
                <a:solidFill>
                  <a:srgbClr val="0000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ámbito</a:t>
            </a:r>
            <a:r>
              <a:rPr lang="en-US" b="1" dirty="0">
                <a:solidFill>
                  <a:srgbClr val="0000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b="1" dirty="0" err="1">
                <a:solidFill>
                  <a:srgbClr val="0000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político</a:t>
            </a:r>
            <a:r>
              <a:rPr lang="en-US" b="1" dirty="0">
                <a:solidFill>
                  <a:srgbClr val="0000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100" b="1" noProof="0" dirty="0">
                <a:solidFill>
                  <a:srgbClr val="0000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	</a:t>
            </a:r>
            <a:r>
              <a:rPr lang="en-US" sz="1100" noProof="0" dirty="0">
                <a:latin typeface="Times New Roman"/>
                <a:ea typeface="Times New Roman"/>
                <a:cs typeface="Times New Roman"/>
                <a:sym typeface="Times New Roman"/>
              </a:rPr>
              <a:t>		</a:t>
            </a:r>
          </a:p>
          <a:p>
            <a:pPr lvl="0" indent="-298450">
              <a:lnSpc>
                <a:spcPct val="100000"/>
              </a:lnSpc>
              <a:spcBef>
                <a:spcPts val="1200"/>
              </a:spcBef>
              <a:buClr>
                <a:schemeClr val="dk1"/>
              </a:buClr>
              <a:buSzPts val="1100"/>
            </a:pPr>
            <a:r>
              <a:rPr lang="es-ES" sz="12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Las posiciones políticas influyen en las evaluaciones sociales, y la identidad política determina las percepciones de fiabilidad y apertura a la reciprocidad. </a:t>
            </a:r>
            <a:r>
              <a:rPr lang="en-US" sz="1200" noProof="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(</a:t>
            </a:r>
            <a:r>
              <a:rPr lang="en-US" sz="1200" noProof="0" dirty="0">
                <a:solidFill>
                  <a:schemeClr val="accen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Groh-Samberg et al., 2023</a:t>
            </a:r>
            <a:r>
              <a:rPr lang="en-US" sz="1200" noProof="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).</a:t>
            </a:r>
            <a:r>
              <a:rPr lang="en-US" sz="12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endParaRPr lang="en-US" sz="1200" noProof="0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lvl="0" indent="-298450">
              <a:lnSpc>
                <a:spcPct val="100000"/>
              </a:lnSpc>
              <a:buClr>
                <a:schemeClr val="dk1"/>
              </a:buClr>
              <a:buSzPts val="1100"/>
              <a:buFont typeface="Times New Roman"/>
              <a:buChar char="●"/>
            </a:pPr>
            <a:r>
              <a:rPr lang="es-ES" sz="12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La división política pone de relieve las evaluaciones basadas en la pertenencia a grupos, en las que los individuos evalúan posiciones en un espectro izquierda-derecha que traza las identidades de los grupos políticos</a:t>
            </a:r>
            <a:r>
              <a:rPr lang="en-US" sz="1200" noProof="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(</a:t>
            </a:r>
            <a:r>
              <a:rPr lang="en-US" sz="1200" noProof="0" dirty="0">
                <a:solidFill>
                  <a:schemeClr val="accen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Hernández-Lagos &amp; Minor, 2020</a:t>
            </a:r>
            <a:r>
              <a:rPr lang="en-US" sz="1200" noProof="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)</a:t>
            </a:r>
          </a:p>
          <a:p>
            <a:pPr lvl="0" indent="-298450">
              <a:lnSpc>
                <a:spcPct val="100000"/>
              </a:lnSpc>
              <a:buClr>
                <a:schemeClr val="dk1"/>
              </a:buClr>
              <a:buSzPts val="1100"/>
              <a:buFont typeface="Times New Roman"/>
              <a:buChar char="●"/>
            </a:pPr>
            <a:r>
              <a:rPr lang="es-ES" sz="12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Los centristas suelen ser vistos como más moderados, abiertos al compromiso y menos extremistas, lo que los hace más accesibles a personas de diversos orígenes políticos.</a:t>
            </a:r>
            <a:r>
              <a:rPr lang="en-US" sz="1200" noProof="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(</a:t>
            </a:r>
            <a:r>
              <a:rPr lang="en-US" sz="1200" noProof="0" dirty="0">
                <a:solidFill>
                  <a:schemeClr val="accen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Hernández-Lagos &amp; Minor, 2020</a:t>
            </a:r>
            <a:r>
              <a:rPr lang="en-US" sz="1200" noProof="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).</a:t>
            </a:r>
            <a:endParaRPr lang="en-US" sz="1200" noProof="0" dirty="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16" name="Google Shape;116;p1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t>6</a:t>
            </a:fld>
            <a:endParaRPr lang="en-US" noProof="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20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pPr lvl="0" algn="l">
              <a:buSzPct val="30555"/>
            </a:pPr>
            <a:r>
              <a:rPr lang="es-ES" i="1" dirty="0">
                <a:latin typeface="Georgia"/>
                <a:ea typeface="Georgia"/>
                <a:cs typeface="Georgia"/>
                <a:sym typeface="Georgia"/>
              </a:rPr>
              <a:t>¿Cómo afectan las características de los grupos sociales a la cohesión social?</a:t>
            </a:r>
            <a:endParaRPr lang="en-US" i="1" noProof="0" dirty="0">
              <a:latin typeface="Georgia"/>
              <a:ea typeface="Georgia"/>
              <a:cs typeface="Georgia"/>
              <a:sym typeface="Georgia"/>
            </a:endParaRPr>
          </a:p>
        </p:txBody>
      </p:sp>
      <p:sp>
        <p:nvSpPr>
          <p:cNvPr id="122" name="Google Shape;122;p2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t>7</a:t>
            </a:fld>
            <a:endParaRPr lang="en-US" noProof="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6">
          <a:extLst>
            <a:ext uri="{FF2B5EF4-FFF2-40B4-BE49-F238E27FC236}">
              <a16:creationId xmlns:a16="http://schemas.microsoft.com/office/drawing/2014/main" id="{F29692D1-E564-A91C-4C07-934CE687F1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TextBox 24">
            <a:extLst>
              <a:ext uri="{FF2B5EF4-FFF2-40B4-BE49-F238E27FC236}">
                <a16:creationId xmlns:a16="http://schemas.microsoft.com/office/drawing/2014/main" id="{B5CCD284-4559-3395-3B78-9978BF7E0E75}"/>
              </a:ext>
            </a:extLst>
          </p:cNvPr>
          <p:cNvSpPr txBox="1"/>
          <p:nvPr/>
        </p:nvSpPr>
        <p:spPr>
          <a:xfrm>
            <a:off x="1196074" y="577459"/>
            <a:ext cx="6978108" cy="397031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r"/>
            <a:r>
              <a:rPr lang="en-US" i="1" noProof="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Respondente</a:t>
            </a:r>
            <a:br>
              <a:rPr lang="en-US" noProof="0" dirty="0"/>
            </a:br>
            <a:br>
              <a:rPr lang="en-US" noProof="0" dirty="0"/>
            </a:br>
            <a:br>
              <a:rPr lang="en-US" noProof="0" dirty="0"/>
            </a:br>
            <a:br>
              <a:rPr lang="en-US" noProof="0" dirty="0"/>
            </a:br>
            <a:br>
              <a:rPr lang="en-US" noProof="0" dirty="0"/>
            </a:br>
            <a:br>
              <a:rPr lang="en-US" noProof="0" dirty="0"/>
            </a:br>
            <a:br>
              <a:rPr lang="en-US" noProof="0" dirty="0"/>
            </a:br>
            <a:br>
              <a:rPr lang="en-US" noProof="0" dirty="0"/>
            </a:br>
            <a:br>
              <a:rPr lang="en-US" noProof="0" dirty="0"/>
            </a:br>
            <a:br>
              <a:rPr lang="en-US" noProof="0" dirty="0"/>
            </a:br>
            <a:br>
              <a:rPr lang="en-US" noProof="0" dirty="0"/>
            </a:br>
            <a:br>
              <a:rPr lang="en-US" noProof="0" dirty="0"/>
            </a:br>
            <a:br>
              <a:rPr lang="en-US" noProof="0" dirty="0"/>
            </a:br>
            <a:br>
              <a:rPr lang="en-US" noProof="0" dirty="0"/>
            </a:br>
            <a:br>
              <a:rPr lang="en-US" noProof="0" dirty="0"/>
            </a:br>
            <a:br>
              <a:rPr lang="en-US" noProof="0" dirty="0"/>
            </a:br>
            <a:br>
              <a:rPr lang="en-US" noProof="0" dirty="0"/>
            </a:br>
            <a:r>
              <a:rPr lang="en-US" i="1" noProof="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Viñeta</a:t>
            </a:r>
            <a:endParaRPr lang="en-US" i="1" noProof="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8" name="Google Shape;128;p21">
            <a:extLst>
              <a:ext uri="{FF2B5EF4-FFF2-40B4-BE49-F238E27FC236}">
                <a16:creationId xmlns:a16="http://schemas.microsoft.com/office/drawing/2014/main" id="{B5D6255B-4EB6-202D-59BA-2F96887CFAA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endParaRPr lang="en-US" noProof="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0FF9D31-A31A-D27F-3704-FBB26A774EBF}"/>
              </a:ext>
            </a:extLst>
          </p:cNvPr>
          <p:cNvSpPr txBox="1"/>
          <p:nvPr/>
        </p:nvSpPr>
        <p:spPr>
          <a:xfrm>
            <a:off x="1467400" y="2724093"/>
            <a:ext cx="1440000" cy="27699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200" noProof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NSE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E4AE7008-3030-851B-7A54-5B91AFFE8C52}"/>
              </a:ext>
            </a:extLst>
          </p:cNvPr>
          <p:cNvGrpSpPr/>
          <p:nvPr/>
        </p:nvGrpSpPr>
        <p:grpSpPr>
          <a:xfrm>
            <a:off x="6114829" y="2946892"/>
            <a:ext cx="1440000" cy="1080000"/>
            <a:chOff x="6057900" y="3392309"/>
            <a:chExt cx="1440000" cy="1080000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3415F6E0-8F54-85A8-C595-D32C1EABD5C1}"/>
                </a:ext>
              </a:extLst>
            </p:cNvPr>
            <p:cNvSpPr txBox="1"/>
            <p:nvPr/>
          </p:nvSpPr>
          <p:spPr>
            <a:xfrm>
              <a:off x="6057900" y="3392309"/>
              <a:ext cx="1440000" cy="1080000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endParaRPr lang="en-US" noProof="0" dirty="0"/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7B19C7F8-1FB9-A43C-FFCE-2F534332F891}"/>
                </a:ext>
              </a:extLst>
            </p:cNvPr>
            <p:cNvSpPr txBox="1"/>
            <p:nvPr/>
          </p:nvSpPr>
          <p:spPr>
            <a:xfrm>
              <a:off x="6225540" y="3538745"/>
              <a:ext cx="1080000" cy="276999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r>
                <a:rPr lang="en-US" sz="1200" b="1" noProof="0" dirty="0" err="1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Confianza</a:t>
              </a:r>
              <a:endParaRPr lang="en-US" sz="1200" b="1" noProof="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BED339B4-D4CE-2C6C-21CF-557BA0FC9417}"/>
                </a:ext>
              </a:extLst>
            </p:cNvPr>
            <p:cNvSpPr txBox="1"/>
            <p:nvPr/>
          </p:nvSpPr>
          <p:spPr>
            <a:xfrm>
              <a:off x="6225540" y="4026425"/>
              <a:ext cx="1080000" cy="276999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r>
                <a:rPr lang="en-US" sz="1200" noProof="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Cooperación</a:t>
              </a:r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255F57D3-D6FE-2751-7B70-18D0D3CD27DD}"/>
              </a:ext>
            </a:extLst>
          </p:cNvPr>
          <p:cNvSpPr txBox="1"/>
          <p:nvPr/>
        </p:nvSpPr>
        <p:spPr>
          <a:xfrm>
            <a:off x="1467400" y="3150153"/>
            <a:ext cx="1440000" cy="27699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200" noProof="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Migración</a:t>
            </a:r>
            <a:endParaRPr lang="en-US" sz="1200" noProof="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44F7706-87DA-1B6F-2C51-6E48FBA8FE4E}"/>
              </a:ext>
            </a:extLst>
          </p:cNvPr>
          <p:cNvSpPr txBox="1"/>
          <p:nvPr/>
        </p:nvSpPr>
        <p:spPr>
          <a:xfrm>
            <a:off x="1467400" y="3486892"/>
            <a:ext cx="1440000" cy="27699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200" noProof="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Religión</a:t>
            </a:r>
            <a:endParaRPr lang="en-US" sz="1200" noProof="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3552909-20C6-EA26-12D4-FD26B3C2CD67}"/>
              </a:ext>
            </a:extLst>
          </p:cNvPr>
          <p:cNvSpPr txBox="1"/>
          <p:nvPr/>
        </p:nvSpPr>
        <p:spPr>
          <a:xfrm>
            <a:off x="1467400" y="3813011"/>
            <a:ext cx="1440000" cy="27699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Pos. Política (Cent.)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C2A487E-D723-6760-4C88-85DABCAEE79F}"/>
              </a:ext>
            </a:extLst>
          </p:cNvPr>
          <p:cNvSpPr txBox="1"/>
          <p:nvPr/>
        </p:nvSpPr>
        <p:spPr>
          <a:xfrm>
            <a:off x="1467400" y="4146751"/>
            <a:ext cx="1440000" cy="27699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Autotrascendencia</a:t>
            </a:r>
            <a:endParaRPr lang="en-US" sz="1200" noProof="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E0E84186-1648-DEAD-95C3-575845871017}"/>
              </a:ext>
            </a:extLst>
          </p:cNvPr>
          <p:cNvCxnSpPr>
            <a:stCxn id="2" idx="3"/>
            <a:endCxn id="9" idx="1"/>
          </p:cNvCxnSpPr>
          <p:nvPr/>
        </p:nvCxnSpPr>
        <p:spPr>
          <a:xfrm>
            <a:off x="2907400" y="2862593"/>
            <a:ext cx="3207429" cy="624299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F65634A5-3FB0-1D0D-80BE-5B8735D8A731}"/>
              </a:ext>
            </a:extLst>
          </p:cNvPr>
          <p:cNvCxnSpPr>
            <a:cxnSpLocks/>
            <a:stCxn id="5" idx="3"/>
            <a:endCxn id="9" idx="1"/>
          </p:cNvCxnSpPr>
          <p:nvPr/>
        </p:nvCxnSpPr>
        <p:spPr>
          <a:xfrm>
            <a:off x="2907400" y="3288653"/>
            <a:ext cx="3207429" cy="198239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DA996344-7FB7-8C7D-563D-445739B4DD9F}"/>
              </a:ext>
            </a:extLst>
          </p:cNvPr>
          <p:cNvCxnSpPr>
            <a:cxnSpLocks/>
            <a:stCxn id="6" idx="3"/>
            <a:endCxn id="9" idx="1"/>
          </p:cNvCxnSpPr>
          <p:nvPr/>
        </p:nvCxnSpPr>
        <p:spPr>
          <a:xfrm flipV="1">
            <a:off x="2907400" y="3486892"/>
            <a:ext cx="3207429" cy="138500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21FF8940-0C91-8D06-0CE5-332804E7219B}"/>
              </a:ext>
            </a:extLst>
          </p:cNvPr>
          <p:cNvCxnSpPr>
            <a:cxnSpLocks/>
            <a:stCxn id="7" idx="3"/>
            <a:endCxn id="9" idx="1"/>
          </p:cNvCxnSpPr>
          <p:nvPr/>
        </p:nvCxnSpPr>
        <p:spPr>
          <a:xfrm flipV="1">
            <a:off x="2907400" y="3486892"/>
            <a:ext cx="3207429" cy="464619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249E2841-2689-7BBC-5F7D-B6B67707402B}"/>
              </a:ext>
            </a:extLst>
          </p:cNvPr>
          <p:cNvCxnSpPr>
            <a:cxnSpLocks/>
            <a:stCxn id="8" idx="3"/>
            <a:endCxn id="9" idx="1"/>
          </p:cNvCxnSpPr>
          <p:nvPr/>
        </p:nvCxnSpPr>
        <p:spPr>
          <a:xfrm flipV="1">
            <a:off x="2907400" y="3486892"/>
            <a:ext cx="3207429" cy="798359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71000C9F-3C5C-406F-AA2E-5A22F60C9997}"/>
              </a:ext>
            </a:extLst>
          </p:cNvPr>
          <p:cNvCxnSpPr>
            <a:cxnSpLocks/>
            <a:stCxn id="25" idx="1"/>
            <a:endCxn id="25" idx="3"/>
          </p:cNvCxnSpPr>
          <p:nvPr/>
        </p:nvCxnSpPr>
        <p:spPr>
          <a:xfrm>
            <a:off x="1196074" y="2562618"/>
            <a:ext cx="6978108" cy="0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04DFFCD5-F79D-7779-99F3-E5C9EDAA2B23}"/>
              </a:ext>
            </a:extLst>
          </p:cNvPr>
          <p:cNvSpPr txBox="1"/>
          <p:nvPr/>
        </p:nvSpPr>
        <p:spPr>
          <a:xfrm>
            <a:off x="3677025" y="2781306"/>
            <a:ext cx="4433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noProof="0" dirty="0"/>
              <a:t>+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82ABC1F1-54EA-1668-5525-75F7D5BB8F4A}"/>
              </a:ext>
            </a:extLst>
          </p:cNvPr>
          <p:cNvSpPr txBox="1"/>
          <p:nvPr/>
        </p:nvSpPr>
        <p:spPr>
          <a:xfrm>
            <a:off x="3659987" y="3866872"/>
            <a:ext cx="4433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noProof="0" dirty="0"/>
              <a:t>+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38227655-2CEF-588E-8F91-C87A120EF61B}"/>
              </a:ext>
            </a:extLst>
          </p:cNvPr>
          <p:cNvSpPr txBox="1"/>
          <p:nvPr/>
        </p:nvSpPr>
        <p:spPr>
          <a:xfrm>
            <a:off x="3547960" y="3032122"/>
            <a:ext cx="4433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noProof="0" dirty="0"/>
              <a:t>-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55FD68B7-DE2B-34AE-5286-2320D14C5522}"/>
              </a:ext>
            </a:extLst>
          </p:cNvPr>
          <p:cNvSpPr txBox="1"/>
          <p:nvPr/>
        </p:nvSpPr>
        <p:spPr>
          <a:xfrm>
            <a:off x="3478660" y="3341604"/>
            <a:ext cx="4433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noProof="0" dirty="0"/>
              <a:t>+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00DD7653-0730-BE4A-2CC3-6231DB31C3F8}"/>
              </a:ext>
            </a:extLst>
          </p:cNvPr>
          <p:cNvSpPr txBox="1"/>
          <p:nvPr/>
        </p:nvSpPr>
        <p:spPr>
          <a:xfrm>
            <a:off x="3514685" y="3609431"/>
            <a:ext cx="4433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noProof="0" dirty="0"/>
              <a:t>+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59F7D669-55BE-3492-3014-0216DD13D658}"/>
              </a:ext>
            </a:extLst>
          </p:cNvPr>
          <p:cNvSpPr txBox="1"/>
          <p:nvPr/>
        </p:nvSpPr>
        <p:spPr>
          <a:xfrm>
            <a:off x="3547960" y="2809604"/>
            <a:ext cx="579040" cy="1476895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18062979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6">
          <a:extLst>
            <a:ext uri="{FF2B5EF4-FFF2-40B4-BE49-F238E27FC236}">
              <a16:creationId xmlns:a16="http://schemas.microsoft.com/office/drawing/2014/main" id="{7C7A082D-3631-5118-7334-4FC442B291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TextBox 24">
            <a:extLst>
              <a:ext uri="{FF2B5EF4-FFF2-40B4-BE49-F238E27FC236}">
                <a16:creationId xmlns:a16="http://schemas.microsoft.com/office/drawing/2014/main" id="{3B5390AC-E6A1-5AD6-97AF-5424C10FEAC1}"/>
              </a:ext>
            </a:extLst>
          </p:cNvPr>
          <p:cNvSpPr txBox="1"/>
          <p:nvPr/>
        </p:nvSpPr>
        <p:spPr>
          <a:xfrm>
            <a:off x="1196074" y="577459"/>
            <a:ext cx="6978108" cy="397031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r"/>
            <a:r>
              <a:rPr lang="en-US" i="1" noProof="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Respondente</a:t>
            </a:r>
            <a:br>
              <a:rPr lang="en-US" noProof="0" dirty="0"/>
            </a:br>
            <a:br>
              <a:rPr lang="en-US" noProof="0" dirty="0"/>
            </a:br>
            <a:br>
              <a:rPr lang="en-US" noProof="0" dirty="0"/>
            </a:br>
            <a:br>
              <a:rPr lang="en-US" noProof="0" dirty="0"/>
            </a:br>
            <a:br>
              <a:rPr lang="en-US" noProof="0" dirty="0"/>
            </a:br>
            <a:br>
              <a:rPr lang="en-US" noProof="0" dirty="0"/>
            </a:br>
            <a:br>
              <a:rPr lang="en-US" noProof="0" dirty="0"/>
            </a:br>
            <a:br>
              <a:rPr lang="en-US" noProof="0" dirty="0"/>
            </a:br>
            <a:br>
              <a:rPr lang="en-US" noProof="0" dirty="0"/>
            </a:br>
            <a:br>
              <a:rPr lang="en-US" noProof="0" dirty="0"/>
            </a:br>
            <a:br>
              <a:rPr lang="en-US" noProof="0" dirty="0"/>
            </a:br>
            <a:br>
              <a:rPr lang="en-US" noProof="0" dirty="0"/>
            </a:br>
            <a:br>
              <a:rPr lang="en-US" noProof="0" dirty="0"/>
            </a:br>
            <a:br>
              <a:rPr lang="en-US" noProof="0" dirty="0"/>
            </a:br>
            <a:br>
              <a:rPr lang="en-US" noProof="0" dirty="0"/>
            </a:br>
            <a:br>
              <a:rPr lang="en-US" noProof="0" dirty="0"/>
            </a:br>
            <a:br>
              <a:rPr lang="en-US" noProof="0" dirty="0"/>
            </a:br>
            <a:r>
              <a:rPr lang="en-US" i="1" noProof="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Viñeta</a:t>
            </a:r>
            <a:endParaRPr lang="en-US" i="1" noProof="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5DFDE2A-CC59-D81A-8634-A7CC9DD74B48}"/>
              </a:ext>
            </a:extLst>
          </p:cNvPr>
          <p:cNvSpPr txBox="1"/>
          <p:nvPr/>
        </p:nvSpPr>
        <p:spPr>
          <a:xfrm>
            <a:off x="1385454" y="625948"/>
            <a:ext cx="1614055" cy="1882038"/>
          </a:xfrm>
          <a:prstGeom prst="rect">
            <a:avLst/>
          </a:prstGeom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endParaRPr lang="en-US" noProof="0" dirty="0"/>
          </a:p>
        </p:txBody>
      </p:sp>
      <p:sp>
        <p:nvSpPr>
          <p:cNvPr id="128" name="Google Shape;128;p21">
            <a:extLst>
              <a:ext uri="{FF2B5EF4-FFF2-40B4-BE49-F238E27FC236}">
                <a16:creationId xmlns:a16="http://schemas.microsoft.com/office/drawing/2014/main" id="{E1487194-D584-2E1C-ED70-989ACBCD7F0D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endParaRPr lang="en-US" noProof="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9C8F8B9-C6E2-1BCB-4655-4DB4F8F40041}"/>
              </a:ext>
            </a:extLst>
          </p:cNvPr>
          <p:cNvSpPr txBox="1"/>
          <p:nvPr/>
        </p:nvSpPr>
        <p:spPr>
          <a:xfrm>
            <a:off x="1467400" y="2724093"/>
            <a:ext cx="1440000" cy="27699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200" noProof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NSE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A40E57EE-777B-831A-6746-A9DB91AB9302}"/>
              </a:ext>
            </a:extLst>
          </p:cNvPr>
          <p:cNvGrpSpPr/>
          <p:nvPr/>
        </p:nvGrpSpPr>
        <p:grpSpPr>
          <a:xfrm>
            <a:off x="6114829" y="2946892"/>
            <a:ext cx="1440000" cy="1080000"/>
            <a:chOff x="6057900" y="3392309"/>
            <a:chExt cx="1440000" cy="1080000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B7104D5C-11DC-1C57-7B3C-D6F277203F50}"/>
                </a:ext>
              </a:extLst>
            </p:cNvPr>
            <p:cNvSpPr txBox="1"/>
            <p:nvPr/>
          </p:nvSpPr>
          <p:spPr>
            <a:xfrm>
              <a:off x="6057900" y="3392309"/>
              <a:ext cx="1440000" cy="1080000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endParaRPr lang="en-US" noProof="0" dirty="0"/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F1D506B8-D652-0238-D421-17DA48744DCB}"/>
                </a:ext>
              </a:extLst>
            </p:cNvPr>
            <p:cNvSpPr txBox="1"/>
            <p:nvPr/>
          </p:nvSpPr>
          <p:spPr>
            <a:xfrm>
              <a:off x="6225540" y="3538745"/>
              <a:ext cx="1080000" cy="276999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r>
                <a:rPr lang="en-US" sz="1200" b="1" noProof="0" dirty="0" err="1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Confianza</a:t>
              </a:r>
              <a:endParaRPr lang="en-US" sz="1200" b="1" noProof="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1AC4BA4D-0B7B-75AA-AC1B-E143CFA6111C}"/>
                </a:ext>
              </a:extLst>
            </p:cNvPr>
            <p:cNvSpPr txBox="1"/>
            <p:nvPr/>
          </p:nvSpPr>
          <p:spPr>
            <a:xfrm>
              <a:off x="6225540" y="4026425"/>
              <a:ext cx="1080000" cy="276999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r>
                <a:rPr lang="en-US" sz="1200" noProof="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Cooperación</a:t>
              </a:r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7EF63D45-0381-6604-3503-85EBB4BD85EC}"/>
              </a:ext>
            </a:extLst>
          </p:cNvPr>
          <p:cNvSpPr txBox="1"/>
          <p:nvPr/>
        </p:nvSpPr>
        <p:spPr>
          <a:xfrm>
            <a:off x="1467400" y="3150153"/>
            <a:ext cx="1440000" cy="27699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200" noProof="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Migración</a:t>
            </a:r>
            <a:endParaRPr lang="en-US" sz="1200" noProof="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AFE6412-0B96-376C-EF93-29FBFDA9B487}"/>
              </a:ext>
            </a:extLst>
          </p:cNvPr>
          <p:cNvSpPr txBox="1"/>
          <p:nvPr/>
        </p:nvSpPr>
        <p:spPr>
          <a:xfrm>
            <a:off x="1467400" y="3486892"/>
            <a:ext cx="1440000" cy="27699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200" noProof="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Religión</a:t>
            </a:r>
            <a:endParaRPr lang="en-US" sz="1200" noProof="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95AEBC4-4D07-2974-7627-5CA5410FDBC9}"/>
              </a:ext>
            </a:extLst>
          </p:cNvPr>
          <p:cNvSpPr txBox="1"/>
          <p:nvPr/>
        </p:nvSpPr>
        <p:spPr>
          <a:xfrm>
            <a:off x="1467400" y="3813011"/>
            <a:ext cx="1440000" cy="27699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Pos. Política (Cent.)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4E8E355-70B7-2986-B50C-2D7B571173C2}"/>
              </a:ext>
            </a:extLst>
          </p:cNvPr>
          <p:cNvSpPr txBox="1"/>
          <p:nvPr/>
        </p:nvSpPr>
        <p:spPr>
          <a:xfrm>
            <a:off x="1467400" y="4146751"/>
            <a:ext cx="1440000" cy="27699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Autotrascendencia</a:t>
            </a:r>
            <a:endParaRPr lang="en-US" sz="1200" noProof="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2518F2D4-2CB4-028F-534E-56B0E72FA7C1}"/>
              </a:ext>
            </a:extLst>
          </p:cNvPr>
          <p:cNvCxnSpPr>
            <a:stCxn id="2" idx="3"/>
            <a:endCxn id="9" idx="1"/>
          </p:cNvCxnSpPr>
          <p:nvPr/>
        </p:nvCxnSpPr>
        <p:spPr>
          <a:xfrm>
            <a:off x="2907400" y="2862593"/>
            <a:ext cx="3207429" cy="624299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ED04617E-D294-FE3F-B0F6-DD29AD123504}"/>
              </a:ext>
            </a:extLst>
          </p:cNvPr>
          <p:cNvCxnSpPr>
            <a:cxnSpLocks/>
            <a:stCxn id="5" idx="3"/>
            <a:endCxn id="9" idx="1"/>
          </p:cNvCxnSpPr>
          <p:nvPr/>
        </p:nvCxnSpPr>
        <p:spPr>
          <a:xfrm>
            <a:off x="2907400" y="3288653"/>
            <a:ext cx="3207429" cy="198239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42173A9D-5928-DEEA-7110-BF0F1A67076D}"/>
              </a:ext>
            </a:extLst>
          </p:cNvPr>
          <p:cNvCxnSpPr>
            <a:cxnSpLocks/>
            <a:stCxn id="6" idx="3"/>
            <a:endCxn id="9" idx="1"/>
          </p:cNvCxnSpPr>
          <p:nvPr/>
        </p:nvCxnSpPr>
        <p:spPr>
          <a:xfrm flipV="1">
            <a:off x="2907400" y="3486892"/>
            <a:ext cx="3207429" cy="138500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A4323AB8-4655-4637-DB67-AA5E437AA25D}"/>
              </a:ext>
            </a:extLst>
          </p:cNvPr>
          <p:cNvCxnSpPr>
            <a:cxnSpLocks/>
            <a:stCxn id="7" idx="3"/>
            <a:endCxn id="9" idx="1"/>
          </p:cNvCxnSpPr>
          <p:nvPr/>
        </p:nvCxnSpPr>
        <p:spPr>
          <a:xfrm flipV="1">
            <a:off x="2907400" y="3486892"/>
            <a:ext cx="3207429" cy="464619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36A7B80B-241E-5C09-CF2F-8908B2FAD4B6}"/>
              </a:ext>
            </a:extLst>
          </p:cNvPr>
          <p:cNvCxnSpPr>
            <a:cxnSpLocks/>
            <a:stCxn id="8" idx="3"/>
            <a:endCxn id="9" idx="1"/>
          </p:cNvCxnSpPr>
          <p:nvPr/>
        </p:nvCxnSpPr>
        <p:spPr>
          <a:xfrm flipV="1">
            <a:off x="2907400" y="3486892"/>
            <a:ext cx="3207429" cy="798359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62217D9D-2A02-F662-4EAF-1BB0E77F9F39}"/>
              </a:ext>
            </a:extLst>
          </p:cNvPr>
          <p:cNvCxnSpPr>
            <a:cxnSpLocks/>
            <a:stCxn id="25" idx="1"/>
            <a:endCxn id="25" idx="3"/>
          </p:cNvCxnSpPr>
          <p:nvPr/>
        </p:nvCxnSpPr>
        <p:spPr>
          <a:xfrm>
            <a:off x="1196074" y="2562618"/>
            <a:ext cx="6978108" cy="0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C6FE5CC8-7129-B667-98A3-AC2E8BD4700D}"/>
              </a:ext>
            </a:extLst>
          </p:cNvPr>
          <p:cNvSpPr txBox="1"/>
          <p:nvPr/>
        </p:nvSpPr>
        <p:spPr>
          <a:xfrm>
            <a:off x="1467400" y="698867"/>
            <a:ext cx="1440000" cy="27699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200" noProof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NSE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49F3221-1C39-1578-1B5F-2896545C3069}"/>
              </a:ext>
            </a:extLst>
          </p:cNvPr>
          <p:cNvSpPr txBox="1"/>
          <p:nvPr/>
        </p:nvSpPr>
        <p:spPr>
          <a:xfrm>
            <a:off x="1467400" y="1124927"/>
            <a:ext cx="1440000" cy="27699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200" noProof="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Migración</a:t>
            </a:r>
            <a:endParaRPr lang="en-US" sz="1200" noProof="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C125157E-2780-EC29-A019-A1D3A852BB37}"/>
              </a:ext>
            </a:extLst>
          </p:cNvPr>
          <p:cNvSpPr txBox="1"/>
          <p:nvPr/>
        </p:nvSpPr>
        <p:spPr>
          <a:xfrm>
            <a:off x="1467400" y="1461666"/>
            <a:ext cx="1440000" cy="27699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200" noProof="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Religión</a:t>
            </a:r>
            <a:endParaRPr lang="en-US" sz="1200" noProof="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49DBF1C1-A147-6944-A553-60A705B0ED0A}"/>
              </a:ext>
            </a:extLst>
          </p:cNvPr>
          <p:cNvSpPr txBox="1"/>
          <p:nvPr/>
        </p:nvSpPr>
        <p:spPr>
          <a:xfrm>
            <a:off x="1467400" y="1787785"/>
            <a:ext cx="1440000" cy="27699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200" noProof="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Ideología</a:t>
            </a:r>
            <a:r>
              <a:rPr lang="en-US" sz="1200" noProof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Política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C5032BDC-103E-B71E-07FA-1931AB7804E2}"/>
              </a:ext>
            </a:extLst>
          </p:cNvPr>
          <p:cNvSpPr txBox="1"/>
          <p:nvPr/>
        </p:nvSpPr>
        <p:spPr>
          <a:xfrm>
            <a:off x="1467400" y="2121525"/>
            <a:ext cx="1440000" cy="27699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Valores</a:t>
            </a:r>
            <a:endParaRPr lang="en-US" sz="1200" noProof="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A8977EE5-F3F2-7B6E-3B68-930D2597F52E}"/>
              </a:ext>
            </a:extLst>
          </p:cNvPr>
          <p:cNvCxnSpPr>
            <a:cxnSpLocks/>
            <a:stCxn id="28" idx="3"/>
          </p:cNvCxnSpPr>
          <p:nvPr/>
        </p:nvCxnSpPr>
        <p:spPr>
          <a:xfrm>
            <a:off x="2999509" y="1566967"/>
            <a:ext cx="762000" cy="1157126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A8B9E6BD-4FFE-8B81-072C-F8D66FD353DF}"/>
              </a:ext>
            </a:extLst>
          </p:cNvPr>
          <p:cNvSpPr txBox="1"/>
          <p:nvPr/>
        </p:nvSpPr>
        <p:spPr>
          <a:xfrm>
            <a:off x="3677025" y="2781306"/>
            <a:ext cx="4433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noProof="0" dirty="0"/>
              <a:t>+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6F2A4285-B47F-6E19-682F-FE16BF761B69}"/>
              </a:ext>
            </a:extLst>
          </p:cNvPr>
          <p:cNvSpPr txBox="1"/>
          <p:nvPr/>
        </p:nvSpPr>
        <p:spPr>
          <a:xfrm>
            <a:off x="3659987" y="3866872"/>
            <a:ext cx="4433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noProof="0" dirty="0"/>
              <a:t>+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1598EBD2-AFF9-73F8-D47E-96F1362549DD}"/>
              </a:ext>
            </a:extLst>
          </p:cNvPr>
          <p:cNvSpPr txBox="1"/>
          <p:nvPr/>
        </p:nvSpPr>
        <p:spPr>
          <a:xfrm>
            <a:off x="3547960" y="3032122"/>
            <a:ext cx="4433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noProof="0" dirty="0"/>
              <a:t>-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4295B050-5046-37BE-50D0-A0C678689BD8}"/>
              </a:ext>
            </a:extLst>
          </p:cNvPr>
          <p:cNvSpPr txBox="1"/>
          <p:nvPr/>
        </p:nvSpPr>
        <p:spPr>
          <a:xfrm>
            <a:off x="3478660" y="3341604"/>
            <a:ext cx="4433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noProof="0" dirty="0"/>
              <a:t>+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9DDA89A9-1478-69F0-18DF-4F01CC408278}"/>
              </a:ext>
            </a:extLst>
          </p:cNvPr>
          <p:cNvSpPr txBox="1"/>
          <p:nvPr/>
        </p:nvSpPr>
        <p:spPr>
          <a:xfrm>
            <a:off x="3514685" y="3609431"/>
            <a:ext cx="4433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noProof="0" dirty="0"/>
              <a:t>+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99EC105A-5AE3-B445-FF3A-9EFAFBB05C22}"/>
              </a:ext>
            </a:extLst>
          </p:cNvPr>
          <p:cNvSpPr txBox="1"/>
          <p:nvPr/>
        </p:nvSpPr>
        <p:spPr>
          <a:xfrm>
            <a:off x="3446901" y="1805535"/>
            <a:ext cx="2319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noProof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H6</a:t>
            </a:r>
          </a:p>
          <a:p>
            <a:r>
              <a:rPr lang="en-US" i="1" noProof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(H</a:t>
            </a:r>
            <a:r>
              <a:rPr lang="en-US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ipótesis</a:t>
            </a:r>
            <a:r>
              <a:rPr lang="en-US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de </a:t>
            </a:r>
            <a:r>
              <a:rPr lang="en-US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homofilia</a:t>
            </a:r>
            <a:r>
              <a:rPr lang="en-US" i="1" noProof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  <a:endParaRPr lang="en-US" noProof="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0EE1EFE7-9514-6615-B0AF-EA8CDBE59764}"/>
              </a:ext>
            </a:extLst>
          </p:cNvPr>
          <p:cNvSpPr txBox="1"/>
          <p:nvPr/>
        </p:nvSpPr>
        <p:spPr>
          <a:xfrm>
            <a:off x="3547960" y="2809604"/>
            <a:ext cx="579040" cy="1476895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35171807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2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lvl="0"/>
            <a:r>
              <a:rPr lang="en-US" dirty="0" err="1"/>
              <a:t>Experimento</a:t>
            </a:r>
            <a:r>
              <a:rPr lang="en-US" dirty="0"/>
              <a:t> de </a:t>
            </a:r>
            <a:r>
              <a:rPr lang="en-US" dirty="0" err="1"/>
              <a:t>encuesta</a:t>
            </a:r>
            <a:r>
              <a:rPr lang="en-US" dirty="0"/>
              <a:t> factorial</a:t>
            </a:r>
            <a:endParaRPr lang="en-US" noProof="0" dirty="0">
              <a:latin typeface="Georgia"/>
              <a:ea typeface="Georgia"/>
              <a:cs typeface="Georgia"/>
              <a:sym typeface="Georgia"/>
            </a:endParaRPr>
          </a:p>
        </p:txBody>
      </p:sp>
      <p:sp>
        <p:nvSpPr>
          <p:cNvPr id="135" name="Google Shape;135;p2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t>10</a:t>
            </a:fld>
            <a:endParaRPr lang="en-US" noProof="0" dirty="0"/>
          </a:p>
        </p:txBody>
      </p:sp>
      <p:sp>
        <p:nvSpPr>
          <p:cNvPr id="136" name="Google Shape;136;p22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US" sz="1300" b="1" dirty="0" err="1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Diseño</a:t>
            </a:r>
            <a:r>
              <a:rPr lang="en-US" sz="1300" b="1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del </a:t>
            </a:r>
            <a:r>
              <a:rPr lang="en-US" sz="1300" b="1" dirty="0" err="1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estudio</a:t>
            </a:r>
            <a:r>
              <a:rPr lang="en-US" sz="1300" b="1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: </a:t>
            </a:r>
            <a:r>
              <a:rPr lang="es-ES" sz="13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Se utiliza un estudio factorial de viñetas para explorar cómo las características específicas de los sujetos ficticios (viñetas) influyen en las evaluaciones de los observadores externos.</a:t>
            </a:r>
            <a:endParaRPr lang="en-US" sz="1300" noProof="0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lv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US" sz="1300" b="1" dirty="0" err="1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Diseño</a:t>
            </a:r>
            <a:r>
              <a:rPr lang="en-US" sz="1300" b="1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de la </a:t>
            </a:r>
            <a:r>
              <a:rPr lang="en-US" sz="1300" b="1" dirty="0" err="1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viñeta</a:t>
            </a:r>
            <a:r>
              <a:rPr lang="en-US" sz="1300" b="1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:</a:t>
            </a:r>
            <a:endParaRPr lang="en-US" sz="1300" b="1" noProof="0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lvl="0" indent="-311150">
              <a:lnSpc>
                <a:spcPct val="100000"/>
              </a:lnSpc>
              <a:spcBef>
                <a:spcPts val="1200"/>
              </a:spcBef>
              <a:buClr>
                <a:schemeClr val="dk1"/>
              </a:buClr>
              <a:buSzPts val="1300"/>
              <a:buFont typeface="Times New Roman"/>
              <a:buChar char="●"/>
            </a:pPr>
            <a:r>
              <a:rPr lang="en-US" sz="13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Cada </a:t>
            </a:r>
            <a:r>
              <a:rPr lang="en-US" sz="1300" dirty="0" err="1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viñeta</a:t>
            </a:r>
            <a:r>
              <a:rPr lang="en-US" sz="13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300" dirty="0" err="1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incluye</a:t>
            </a:r>
            <a:r>
              <a:rPr lang="en-US" sz="13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300" dirty="0" err="1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atributos</a:t>
            </a:r>
            <a:r>
              <a:rPr lang="en-US" sz="13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300" dirty="0" err="1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como</a:t>
            </a:r>
            <a:r>
              <a:rPr lang="en-US" sz="13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300" dirty="0" err="1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características</a:t>
            </a:r>
            <a:r>
              <a:rPr lang="en-US" sz="13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300" dirty="0" err="1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demográficas</a:t>
            </a:r>
            <a:r>
              <a:rPr lang="en-US" sz="13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o </a:t>
            </a:r>
            <a:r>
              <a:rPr lang="en-US" sz="1300" dirty="0" err="1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socioeconómicas</a:t>
            </a:r>
            <a:r>
              <a:rPr lang="en-US" sz="13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(</a:t>
            </a:r>
            <a:r>
              <a:rPr lang="en-US" sz="1300" dirty="0" err="1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por</a:t>
            </a:r>
            <a:r>
              <a:rPr lang="en-US" sz="13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300" dirty="0" err="1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ejemplo</a:t>
            </a:r>
            <a:r>
              <a:rPr lang="en-US" sz="13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, </a:t>
            </a:r>
            <a:r>
              <a:rPr lang="en-US" sz="1300" dirty="0" err="1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sexo</a:t>
            </a:r>
            <a:r>
              <a:rPr lang="en-US" sz="13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, </a:t>
            </a:r>
            <a:r>
              <a:rPr lang="en-US" sz="1300" dirty="0" err="1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ingresos</a:t>
            </a:r>
            <a:r>
              <a:rPr lang="en-US" sz="13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).</a:t>
            </a:r>
            <a:r>
              <a:rPr lang="en-US" sz="1300" noProof="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 </a:t>
            </a:r>
          </a:p>
          <a:p>
            <a:pPr lvl="0" indent="-311150">
              <a:lnSpc>
                <a:spcPct val="100000"/>
              </a:lnSpc>
              <a:buClr>
                <a:schemeClr val="dk1"/>
              </a:buClr>
              <a:buSzPts val="1300"/>
              <a:buFont typeface="Times New Roman"/>
              <a:buChar char="●"/>
            </a:pPr>
            <a:r>
              <a:rPr lang="es-ES" sz="13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Los encuestados evalúan estas viñetas en función de los atributos proporcionados (Detalles diapositiva siguiente)</a:t>
            </a:r>
            <a:endParaRPr lang="en-US" sz="1300" noProof="0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37" name="Google Shape;137;p22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lnSpcReduction="10000"/>
          </a:bodyPr>
          <a:lstStyle/>
          <a:p>
            <a:pPr marL="0" lvl="0" indent="0">
              <a:buNone/>
            </a:pPr>
            <a:r>
              <a:rPr lang="en-US" sz="1300" b="1" dirty="0" err="1">
                <a:solidFill>
                  <a:schemeClr val="dk1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Recogida</a:t>
            </a:r>
            <a:r>
              <a:rPr lang="en-US" sz="1300" b="1" dirty="0">
                <a:solidFill>
                  <a:schemeClr val="dk1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 de </a:t>
            </a:r>
            <a:r>
              <a:rPr lang="en-US" sz="1300" b="1" dirty="0" err="1">
                <a:solidFill>
                  <a:schemeClr val="dk1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datos</a:t>
            </a:r>
            <a:r>
              <a:rPr lang="en-US" sz="1300" b="1" dirty="0">
                <a:solidFill>
                  <a:schemeClr val="dk1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:</a:t>
            </a:r>
          </a:p>
          <a:p>
            <a:pPr lvl="0" indent="-311150">
              <a:spcBef>
                <a:spcPts val="1200"/>
              </a:spcBef>
              <a:buSzPts val="1300"/>
              <a:buFont typeface="Times New Roman"/>
              <a:buChar char="-"/>
            </a:pPr>
            <a:r>
              <a:rPr lang="es-ES" sz="1300" b="1" dirty="0"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Alemania: </a:t>
            </a:r>
            <a:r>
              <a:rPr lang="es-ES" sz="1300" dirty="0"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septiembre-octubre de 2024 (CAWI). Submuestra de la 4.ª Ola del Panel de Cohesión Social.</a:t>
            </a:r>
            <a:endParaRPr lang="en-US" sz="1300" noProof="0" dirty="0">
              <a:latin typeface="Times New Roman" panose="02020603050405020304" pitchFamily="18" charset="0"/>
              <a:ea typeface="Times New Roman"/>
              <a:cs typeface="Times New Roman" panose="02020603050405020304" pitchFamily="18" charset="0"/>
              <a:sym typeface="Times New Roman"/>
            </a:endParaRPr>
          </a:p>
          <a:p>
            <a:pPr lvl="0" indent="-311150">
              <a:buSzPts val="1300"/>
              <a:buFont typeface="Times New Roman"/>
              <a:buChar char="-"/>
            </a:pPr>
            <a:r>
              <a:rPr lang="en-US" sz="1300" b="1" noProof="0" dirty="0"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Chile</a:t>
            </a:r>
            <a:r>
              <a:rPr lang="en-US" sz="1300" noProof="0" dirty="0"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: </a:t>
            </a:r>
            <a:r>
              <a:rPr lang="es-ES" sz="1300" dirty="0"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diciembre de 2024 - enero de 2025 (CAWI), muestra por cuotas de conveniencia.</a:t>
            </a:r>
            <a:endParaRPr lang="en-US" sz="1300" noProof="0" dirty="0">
              <a:solidFill>
                <a:schemeClr val="dk1"/>
              </a:solidFill>
              <a:latin typeface="Times New Roman" panose="02020603050405020304" pitchFamily="18" charset="0"/>
              <a:ea typeface="Times New Roman"/>
              <a:cs typeface="Times New Roman" panose="02020603050405020304" pitchFamily="18" charset="0"/>
              <a:sym typeface="Times New Roman"/>
            </a:endParaRPr>
          </a:p>
          <a:p>
            <a:pPr marL="0" lvl="0" indent="0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US" sz="1300" b="1" noProof="0" dirty="0">
                <a:solidFill>
                  <a:schemeClr val="dk1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Datos y </a:t>
            </a:r>
            <a:r>
              <a:rPr lang="en-US" sz="1300" b="1" noProof="0" dirty="0" err="1">
                <a:solidFill>
                  <a:schemeClr val="dk1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métodos</a:t>
            </a:r>
            <a:endParaRPr lang="en-US" sz="1300" b="1" noProof="0" dirty="0">
              <a:solidFill>
                <a:schemeClr val="dk1"/>
              </a:solidFill>
              <a:latin typeface="Times New Roman" panose="02020603050405020304" pitchFamily="18" charset="0"/>
              <a:ea typeface="Times New Roman"/>
              <a:cs typeface="Times New Roman" panose="02020603050405020304" pitchFamily="18" charset="0"/>
              <a:sym typeface="Times New Roman"/>
            </a:endParaRPr>
          </a:p>
          <a:p>
            <a:pPr marL="914400" lvl="1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Times New Roman"/>
              <a:buChar char="○"/>
            </a:pPr>
            <a:endParaRPr lang="en-US" sz="1300" noProof="0" dirty="0">
              <a:solidFill>
                <a:schemeClr val="dk1"/>
              </a:solidFill>
              <a:latin typeface="Times New Roman" panose="02020603050405020304" pitchFamily="18" charset="0"/>
              <a:ea typeface="Times New Roman"/>
              <a:cs typeface="Times New Roman" panose="02020603050405020304" pitchFamily="18" charset="0"/>
              <a:sym typeface="Times New Roman"/>
            </a:endParaRPr>
          </a:p>
          <a:p>
            <a:pPr lvl="1">
              <a:lnSpc>
                <a:spcPct val="100000"/>
              </a:lnSpc>
              <a:buClr>
                <a:schemeClr val="dk1"/>
              </a:buClr>
              <a:buFont typeface="Times New Roman"/>
              <a:buChar char="○"/>
            </a:pPr>
            <a:r>
              <a:rPr lang="es-ES" sz="1300" dirty="0"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Alemania</a:t>
            </a:r>
            <a:r>
              <a:rPr lang="es-ES" sz="1300" i="1" dirty="0"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: N</a:t>
            </a:r>
            <a:r>
              <a:rPr lang="es-ES" sz="1300" dirty="0"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 = 3.907</a:t>
            </a:r>
          </a:p>
          <a:p>
            <a:pPr lvl="1">
              <a:lnSpc>
                <a:spcPct val="100000"/>
              </a:lnSpc>
              <a:buClr>
                <a:schemeClr val="dk1"/>
              </a:buClr>
              <a:buFont typeface="Times New Roman"/>
              <a:buChar char="○"/>
            </a:pPr>
            <a:r>
              <a:rPr lang="en-US" sz="1300" dirty="0"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Chile:  </a:t>
            </a:r>
            <a:r>
              <a:rPr lang="en-US" sz="1300" i="1" dirty="0"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N</a:t>
            </a:r>
            <a:r>
              <a:rPr lang="en-US" sz="1300" dirty="0"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 = 3.676</a:t>
            </a:r>
            <a:endParaRPr lang="en-US" sz="1300" noProof="0" dirty="0">
              <a:solidFill>
                <a:schemeClr val="dk1"/>
              </a:solidFill>
              <a:latin typeface="Times New Roman" panose="02020603050405020304" pitchFamily="18" charset="0"/>
              <a:ea typeface="Times New Roman"/>
              <a:cs typeface="Times New Roman" panose="02020603050405020304" pitchFamily="18" charset="0"/>
              <a:sym typeface="Times New Roman"/>
            </a:endParaRPr>
          </a:p>
          <a:p>
            <a:pPr marL="914400" lvl="1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Times New Roman"/>
              <a:buChar char="○"/>
            </a:pPr>
            <a:r>
              <a:rPr lang="en-US" sz="1300" noProof="0" dirty="0" err="1">
                <a:solidFill>
                  <a:schemeClr val="dk1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Modelos</a:t>
            </a:r>
            <a:r>
              <a:rPr lang="en-US" sz="1300" noProof="0" dirty="0">
                <a:solidFill>
                  <a:schemeClr val="dk1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 de regression </a:t>
            </a:r>
            <a:r>
              <a:rPr lang="en-US" sz="1300" noProof="0" dirty="0" err="1">
                <a:solidFill>
                  <a:schemeClr val="dk1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multinivel</a:t>
            </a:r>
            <a:endParaRPr lang="en-US" sz="1300" noProof="0" dirty="0">
              <a:solidFill>
                <a:schemeClr val="dk1"/>
              </a:solidFill>
              <a:latin typeface="Times New Roman" panose="02020603050405020304" pitchFamily="18" charset="0"/>
              <a:ea typeface="Times New Roman"/>
              <a:cs typeface="Times New Roman" panose="02020603050405020304" pitchFamily="18" charset="0"/>
              <a:sym typeface="Times New Roman"/>
            </a:endParaRPr>
          </a:p>
          <a:p>
            <a:pPr lvl="2">
              <a:lnSpc>
                <a:spcPct val="100000"/>
              </a:lnSpc>
              <a:buClr>
                <a:schemeClr val="dk1"/>
              </a:buClr>
              <a:buFont typeface="Times New Roman"/>
              <a:buChar char="○"/>
            </a:pPr>
            <a:r>
              <a:rPr lang="es-CL" sz="1300" dirty="0">
                <a:solidFill>
                  <a:schemeClr val="dk1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I</a:t>
            </a:r>
            <a:r>
              <a:rPr lang="es-CL" sz="1300" noProof="0" dirty="0" err="1">
                <a:solidFill>
                  <a:schemeClr val="dk1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ntercepto</a:t>
            </a:r>
            <a:r>
              <a:rPr lang="es-CL" sz="1300" noProof="0" dirty="0">
                <a:solidFill>
                  <a:schemeClr val="dk1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 y pendiente aleatoria (H1 a H5)</a:t>
            </a:r>
          </a:p>
          <a:p>
            <a:pPr lvl="2">
              <a:lnSpc>
                <a:spcPct val="100000"/>
              </a:lnSpc>
              <a:buClr>
                <a:schemeClr val="dk1"/>
              </a:buClr>
              <a:buFont typeface="Times New Roman"/>
              <a:buChar char="○"/>
            </a:pPr>
            <a:r>
              <a:rPr lang="es-CL" sz="1300" dirty="0">
                <a:solidFill>
                  <a:schemeClr val="dk1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Interacción </a:t>
            </a:r>
            <a:r>
              <a:rPr lang="es-CL" sz="1300" dirty="0" err="1">
                <a:solidFill>
                  <a:schemeClr val="dk1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cross-level</a:t>
            </a:r>
            <a:r>
              <a:rPr lang="es-CL" sz="1300" dirty="0">
                <a:solidFill>
                  <a:schemeClr val="dk1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 (H6)</a:t>
            </a:r>
            <a:endParaRPr lang="es-CL" sz="1300" noProof="0" dirty="0">
              <a:solidFill>
                <a:schemeClr val="dk1"/>
              </a:solidFill>
              <a:latin typeface="Times New Roman" panose="02020603050405020304" pitchFamily="18" charset="0"/>
              <a:ea typeface="Times New Roman"/>
              <a:cs typeface="Times New Roman" panose="02020603050405020304" pitchFamily="18" charset="0"/>
              <a:sym typeface="Times New Roman"/>
            </a:endParaRPr>
          </a:p>
          <a:p>
            <a:pPr marL="609600" lvl="1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</a:pPr>
            <a:endParaRPr lang="en-US" sz="1300" b="1" noProof="0" dirty="0">
              <a:solidFill>
                <a:schemeClr val="dk1"/>
              </a:solidFill>
              <a:latin typeface="Times New Roman" panose="02020603050405020304" pitchFamily="18" charset="0"/>
              <a:ea typeface="Times New Roman"/>
              <a:cs typeface="Times New Roman" panose="02020603050405020304" pitchFamily="18" charset="0"/>
              <a:sym typeface="Times New Roman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t>11</a:t>
            </a:fld>
            <a:endParaRPr lang="en-US" noProof="0" dirty="0"/>
          </a:p>
        </p:txBody>
      </p:sp>
      <p:sp>
        <p:nvSpPr>
          <p:cNvPr id="143" name="Google Shape;143;p23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77500" lnSpcReduction="20000"/>
          </a:bodyPr>
          <a:lstStyle/>
          <a:p>
            <a:pPr marL="0" lv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US" sz="1300" b="1" noProof="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Administration: </a:t>
            </a:r>
            <a:r>
              <a:rPr lang="es-ES" sz="13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para garantizar una recogida de datos manejable, cada encuestado evalúa un número limitado de viñetas </a:t>
            </a:r>
            <a:endParaRPr lang="en-US" sz="1300" noProof="0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lv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s-ES" sz="13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Este diseño mantiene la variación en las respuestas tanto dentro de los encuestados como entre ellos.</a:t>
            </a:r>
            <a:endParaRPr lang="en-US" b="1" i="1" noProof="0" dirty="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lvl="0" indent="0">
              <a:spcBef>
                <a:spcPts val="1200"/>
              </a:spcBef>
              <a:buNone/>
            </a:pPr>
            <a:r>
              <a:rPr lang="en-US" b="1" i="1" noProof="0" dirty="0">
                <a:solidFill>
                  <a:schemeClr val="tx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Universo factorial:</a:t>
            </a:r>
            <a:r>
              <a:rPr lang="en-US" noProof="0" dirty="0">
                <a:solidFill>
                  <a:schemeClr val="tx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s-ES" dirty="0">
                <a:solidFill>
                  <a:schemeClr val="tx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2*3*3*4*3*3*3*4*4 que representa un universo factorial de 31.104 combinaciones posibles (imposible de evaluar)</a:t>
            </a:r>
            <a:br>
              <a:rPr lang="es-ES" dirty="0">
                <a:solidFill>
                  <a:schemeClr val="tx1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br>
              <a:rPr lang="en-US" noProof="0" dirty="0">
                <a:solidFill>
                  <a:schemeClr val="tx1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lang="en-US" b="1" i="1" dirty="0">
                <a:solidFill>
                  <a:schemeClr val="tx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Dos pasos (</a:t>
            </a:r>
            <a:r>
              <a:rPr lang="en-US" b="1" i="1" dirty="0" err="1">
                <a:solidFill>
                  <a:schemeClr val="tx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algoritmo</a:t>
            </a:r>
            <a:r>
              <a:rPr lang="en-US" b="1" i="1" dirty="0">
                <a:solidFill>
                  <a:schemeClr val="tx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D-efficient):</a:t>
            </a:r>
            <a:endParaRPr lang="en-US" noProof="0" dirty="0">
              <a:solidFill>
                <a:schemeClr val="tx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lvl="0" indent="-293370">
              <a:spcBef>
                <a:spcPts val="1200"/>
              </a:spcBef>
              <a:buSzPct val="100000"/>
              <a:buFont typeface="Times New Roman"/>
              <a:buChar char="-"/>
            </a:pPr>
            <a:r>
              <a:rPr lang="en-US" dirty="0" err="1">
                <a:solidFill>
                  <a:schemeClr val="tx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Selección</a:t>
            </a:r>
            <a:r>
              <a:rPr lang="en-US" dirty="0">
                <a:solidFill>
                  <a:schemeClr val="tx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dirty="0" err="1">
                <a:solidFill>
                  <a:schemeClr val="tx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óptima</a:t>
            </a:r>
            <a:r>
              <a:rPr lang="en-US" dirty="0">
                <a:solidFill>
                  <a:schemeClr val="tx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de </a:t>
            </a:r>
            <a:r>
              <a:rPr lang="en-US" dirty="0" err="1">
                <a:solidFill>
                  <a:schemeClr val="tx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viñetas</a:t>
            </a:r>
            <a:r>
              <a:rPr lang="en-US" dirty="0">
                <a:solidFill>
                  <a:schemeClr val="tx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(</a:t>
            </a:r>
            <a:r>
              <a:rPr lang="en-US" noProof="0" dirty="0">
                <a:solidFill>
                  <a:schemeClr val="tx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144)</a:t>
            </a:r>
          </a:p>
          <a:p>
            <a:pPr lvl="0" indent="-293370">
              <a:buSzPct val="100000"/>
              <a:buFont typeface="Times New Roman"/>
              <a:buChar char="-"/>
            </a:pPr>
            <a:r>
              <a:rPr lang="en-US" dirty="0" err="1">
                <a:solidFill>
                  <a:schemeClr val="tx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Organícelos</a:t>
            </a:r>
            <a:r>
              <a:rPr lang="en-US" dirty="0">
                <a:solidFill>
                  <a:schemeClr val="tx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dirty="0" err="1">
                <a:solidFill>
                  <a:schemeClr val="tx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en</a:t>
            </a:r>
            <a:r>
              <a:rPr lang="en-US" dirty="0">
                <a:solidFill>
                  <a:schemeClr val="tx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dirty="0" err="1">
                <a:solidFill>
                  <a:schemeClr val="tx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bloques</a:t>
            </a:r>
            <a:r>
              <a:rPr lang="en-US" dirty="0">
                <a:solidFill>
                  <a:schemeClr val="tx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noProof="0" dirty="0">
                <a:solidFill>
                  <a:schemeClr val="tx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(15)</a:t>
            </a:r>
          </a:p>
          <a:p>
            <a:pPr marL="0" lvl="0" indent="0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1" noProof="0" dirty="0" err="1">
                <a:solidFill>
                  <a:schemeClr val="tx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Resultado</a:t>
            </a:r>
            <a:r>
              <a:rPr lang="en-US" b="1" i="1" noProof="0" dirty="0">
                <a:solidFill>
                  <a:schemeClr val="tx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: </a:t>
            </a:r>
            <a:r>
              <a:rPr lang="es-ES" dirty="0">
                <a:solidFill>
                  <a:schemeClr val="tx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Cada encuestado evalúa de 9 a 10 viñetas (1 minuto cada una)</a:t>
            </a:r>
            <a:endParaRPr lang="en-US" noProof="0" dirty="0">
              <a:solidFill>
                <a:schemeClr val="tx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44" name="Google Shape;144;p23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noProof="0" dirty="0"/>
          </a:p>
        </p:txBody>
      </p:sp>
      <p:pic>
        <p:nvPicPr>
          <p:cNvPr id="145" name="Google Shape;145;p2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159091" y="3394"/>
            <a:ext cx="4699508" cy="513333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2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t>12</a:t>
            </a:fld>
            <a:endParaRPr lang="en-US" noProof="0" dirty="0"/>
          </a:p>
        </p:txBody>
      </p:sp>
      <p:sp>
        <p:nvSpPr>
          <p:cNvPr id="151" name="Google Shape;151;p24"/>
          <p:cNvSpPr txBox="1"/>
          <p:nvPr/>
        </p:nvSpPr>
        <p:spPr>
          <a:xfrm>
            <a:off x="599350" y="1571305"/>
            <a:ext cx="8066700" cy="1046410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i="1" noProof="0" dirty="0">
                <a:latin typeface="Times New Roman"/>
                <a:ea typeface="Times New Roman"/>
                <a:cs typeface="Times New Roman"/>
                <a:sym typeface="Times New Roman"/>
              </a:rPr>
              <a:t>Person A is a </a:t>
            </a:r>
            <a:r>
              <a:rPr lang="en-US" b="1" i="1" noProof="0" dirty="0">
                <a:latin typeface="Times New Roman"/>
                <a:ea typeface="Times New Roman"/>
                <a:cs typeface="Times New Roman"/>
                <a:sym typeface="Times New Roman"/>
              </a:rPr>
              <a:t>man </a:t>
            </a:r>
            <a:r>
              <a:rPr lang="en-US" i="1" noProof="0" dirty="0">
                <a:latin typeface="Times New Roman"/>
                <a:ea typeface="Times New Roman"/>
                <a:cs typeface="Times New Roman"/>
                <a:sym typeface="Times New Roman"/>
              </a:rPr>
              <a:t>and is </a:t>
            </a:r>
            <a:r>
              <a:rPr lang="en-US" b="1" i="1" noProof="0" dirty="0">
                <a:latin typeface="Times New Roman"/>
                <a:ea typeface="Times New Roman"/>
                <a:cs typeface="Times New Roman"/>
                <a:sym typeface="Times New Roman"/>
              </a:rPr>
              <a:t>45 years old</a:t>
            </a:r>
            <a:r>
              <a:rPr lang="en-US" i="1" noProof="0" dirty="0">
                <a:latin typeface="Times New Roman"/>
                <a:ea typeface="Times New Roman"/>
                <a:cs typeface="Times New Roman"/>
                <a:sym typeface="Times New Roman"/>
              </a:rPr>
              <a:t>. He was </a:t>
            </a:r>
            <a:r>
              <a:rPr lang="en-US" b="1" i="1" noProof="0" dirty="0">
                <a:latin typeface="Times New Roman"/>
                <a:ea typeface="Times New Roman"/>
                <a:cs typeface="Times New Roman"/>
                <a:sym typeface="Times New Roman"/>
              </a:rPr>
              <a:t>born in Syria, came to Germany</a:t>
            </a:r>
            <a:r>
              <a:rPr lang="en-US" i="1" noProof="0" dirty="0">
                <a:latin typeface="Times New Roman"/>
                <a:ea typeface="Times New Roman"/>
                <a:cs typeface="Times New Roman"/>
                <a:sym typeface="Times New Roman"/>
              </a:rPr>
              <a:t> and is a devout </a:t>
            </a:r>
            <a:r>
              <a:rPr lang="en-US" b="1" i="1" noProof="0" dirty="0">
                <a:latin typeface="Times New Roman"/>
                <a:ea typeface="Times New Roman"/>
                <a:cs typeface="Times New Roman"/>
                <a:sym typeface="Times New Roman"/>
              </a:rPr>
              <a:t>Christian</a:t>
            </a:r>
            <a:r>
              <a:rPr lang="en-US" i="1" noProof="0" dirty="0">
                <a:latin typeface="Times New Roman"/>
                <a:ea typeface="Times New Roman"/>
                <a:cs typeface="Times New Roman"/>
                <a:sym typeface="Times New Roman"/>
              </a:rPr>
              <a:t>. Person A has completed </a:t>
            </a:r>
            <a:r>
              <a:rPr lang="en-US" b="1" i="1" noProof="0" dirty="0">
                <a:latin typeface="Times New Roman"/>
                <a:ea typeface="Times New Roman"/>
                <a:cs typeface="Times New Roman"/>
                <a:sym typeface="Times New Roman"/>
              </a:rPr>
              <a:t>vocational training after finishing secondary school</a:t>
            </a:r>
            <a:r>
              <a:rPr lang="en-US" i="1" noProof="0" dirty="0">
                <a:latin typeface="Times New Roman"/>
                <a:ea typeface="Times New Roman"/>
                <a:cs typeface="Times New Roman"/>
                <a:sym typeface="Times New Roman"/>
              </a:rPr>
              <a:t>, is full-time employed and has a monthly income of </a:t>
            </a:r>
            <a:r>
              <a:rPr lang="en-US" b="1" i="1" noProof="0" dirty="0">
                <a:latin typeface="Times New Roman"/>
                <a:ea typeface="Times New Roman"/>
                <a:cs typeface="Times New Roman"/>
                <a:sym typeface="Times New Roman"/>
              </a:rPr>
              <a:t>6,000€</a:t>
            </a:r>
            <a:r>
              <a:rPr lang="en-US" i="1" noProof="0" dirty="0">
                <a:latin typeface="Times New Roman"/>
                <a:ea typeface="Times New Roman"/>
                <a:cs typeface="Times New Roman"/>
                <a:sym typeface="Times New Roman"/>
              </a:rPr>
              <a:t> at his disposal. He sees himself politically standing on the </a:t>
            </a:r>
            <a:r>
              <a:rPr lang="en-US" b="1" i="1" noProof="0" dirty="0">
                <a:latin typeface="Times New Roman"/>
                <a:ea typeface="Times New Roman"/>
                <a:cs typeface="Times New Roman"/>
                <a:sym typeface="Times New Roman"/>
              </a:rPr>
              <a:t>left</a:t>
            </a:r>
            <a:r>
              <a:rPr lang="en-US" i="1" noProof="0" dirty="0">
                <a:latin typeface="Times New Roman"/>
                <a:ea typeface="Times New Roman"/>
                <a:cs typeface="Times New Roman"/>
                <a:sym typeface="Times New Roman"/>
              </a:rPr>
              <a:t>. To person A it is </a:t>
            </a:r>
            <a:r>
              <a:rPr lang="en-US" b="1" i="1" noProof="0" dirty="0">
                <a:latin typeface="Times New Roman"/>
                <a:ea typeface="Times New Roman"/>
                <a:cs typeface="Times New Roman"/>
                <a:sym typeface="Times New Roman"/>
              </a:rPr>
              <a:t>important to make your own decisions and lead an entertaining and adventurous life</a:t>
            </a:r>
            <a:r>
              <a:rPr lang="en-US" i="1" noProof="0" dirty="0">
                <a:latin typeface="Times New Roman"/>
                <a:ea typeface="Times New Roman"/>
                <a:cs typeface="Times New Roman"/>
                <a:sym typeface="Times New Roman"/>
              </a:rPr>
              <a:t>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E87977E-D4D2-CC08-87B2-C5C07D51D90A}"/>
              </a:ext>
            </a:extLst>
          </p:cNvPr>
          <p:cNvSpPr txBox="1"/>
          <p:nvPr/>
        </p:nvSpPr>
        <p:spPr>
          <a:xfrm>
            <a:off x="599610" y="2813452"/>
            <a:ext cx="8066700" cy="16004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b="1" i="1" noProof="0" dirty="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82600" lvl="0" indent="-342900">
              <a:buSzPts val="1400"/>
              <a:buAutoNum type="arabicParenR"/>
            </a:pPr>
            <a:r>
              <a:rPr lang="es-ES" dirty="0">
                <a:latin typeface="Times New Roman"/>
                <a:ea typeface="Times New Roman"/>
                <a:cs typeface="Times New Roman"/>
                <a:sym typeface="Times New Roman"/>
              </a:rPr>
              <a:t>Imagina que conoces a una persona [ID] a través de tu círculo de conocidos. ¿Qué probabilidad hay de que te lleves bien con la persona [ID]?</a:t>
            </a:r>
            <a:r>
              <a:rPr lang="en-US" noProof="0" dirty="0">
                <a:latin typeface="Times New Roman"/>
                <a:ea typeface="Times New Roman"/>
                <a:cs typeface="Times New Roman"/>
                <a:sym typeface="Times New Roman"/>
              </a:rPr>
              <a:t>  </a:t>
            </a:r>
            <a:r>
              <a:rPr lang="en-US" b="1" noProof="0" dirty="0">
                <a:latin typeface="Times New Roman"/>
                <a:ea typeface="Times New Roman"/>
                <a:cs typeface="Times New Roman"/>
                <a:sym typeface="Times New Roman"/>
              </a:rPr>
              <a:t>(</a:t>
            </a:r>
            <a:r>
              <a:rPr lang="en-US" b="1" noProof="0" dirty="0" err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Confianza</a:t>
            </a:r>
            <a:r>
              <a:rPr lang="en-US" b="1" noProof="0" dirty="0">
                <a:latin typeface="Times New Roman"/>
                <a:ea typeface="Times New Roman"/>
                <a:cs typeface="Times New Roman"/>
                <a:sym typeface="Times New Roman"/>
              </a:rPr>
              <a:t>)</a:t>
            </a:r>
          </a:p>
          <a:p>
            <a:pPr marL="482600" lvl="0" indent="-342900" algn="l" rtl="0">
              <a:spcBef>
                <a:spcPts val="0"/>
              </a:spcBef>
              <a:spcAft>
                <a:spcPts val="0"/>
              </a:spcAft>
              <a:buSzPts val="1400"/>
              <a:buAutoNum type="arabicParenR"/>
            </a:pPr>
            <a:r>
              <a:rPr lang="en-US" noProof="0" dirty="0">
                <a:solidFill>
                  <a:schemeClr val="bg1">
                    <a:lumMod val="85000"/>
                  </a:schemeClr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Imagine you are faced with a task that you cannot perform on your own. How likely would you be to ask the person [ID] for help? </a:t>
            </a:r>
            <a:r>
              <a:rPr lang="en-US" b="1" noProof="0" dirty="0">
                <a:solidFill>
                  <a:schemeClr val="bg1">
                    <a:lumMod val="85000"/>
                  </a:schemeClr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(Cooperation)</a:t>
            </a:r>
            <a:br>
              <a:rPr lang="en-US" noProof="0" dirty="0">
                <a:latin typeface="Times New Roman"/>
                <a:ea typeface="Times New Roman"/>
                <a:cs typeface="Times New Roman"/>
                <a:sym typeface="Times New Roman"/>
              </a:rPr>
            </a:br>
            <a:endParaRPr lang="en-US" noProof="0" dirty="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139700" lvl="0" algn="ctr">
              <a:buSzPts val="1400"/>
            </a:pPr>
            <a:r>
              <a:rPr lang="en-US" b="1" noProof="0" dirty="0">
                <a:latin typeface="Times New Roman"/>
                <a:ea typeface="Times New Roman"/>
                <a:cs typeface="Times New Roman"/>
                <a:sym typeface="Times New Roman"/>
              </a:rPr>
              <a:t>["Not likely at all”] </a:t>
            </a:r>
            <a:r>
              <a:rPr lang="en-US" noProof="0" dirty="0">
                <a:latin typeface="Times New Roman"/>
                <a:ea typeface="Times New Roman"/>
                <a:cs typeface="Times New Roman"/>
                <a:sym typeface="Times New Roman"/>
              </a:rPr>
              <a:t>0,1,2,3,4,5,6,7,8,9,10 </a:t>
            </a:r>
            <a:r>
              <a:rPr lang="en-US" b="1" noProof="0" dirty="0">
                <a:latin typeface="Times New Roman"/>
                <a:ea typeface="Times New Roman"/>
                <a:cs typeface="Times New Roman"/>
                <a:sym typeface="Times New Roman"/>
              </a:rPr>
              <a:t>[“Absolutely likely”]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37195A-4FCF-533A-5D5A-AF1DA20BA0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US" noProof="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B7B734D-A828-BFD1-2266-D43D6672815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3C5733-F3E3-637A-8F99-C9A111CC7B7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t>13</a:t>
            </a:fld>
            <a:endParaRPr lang="en-US" noProof="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88A9E63-91C3-74AC-51A2-C5E528E8B3D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6426" y="285750"/>
            <a:ext cx="8832300" cy="441615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782CEDC7-B627-40B7-65D7-D25538B2DEC2}"/>
              </a:ext>
            </a:extLst>
          </p:cNvPr>
          <p:cNvSpPr txBox="1"/>
          <p:nvPr/>
        </p:nvSpPr>
        <p:spPr>
          <a:xfrm>
            <a:off x="738294" y="4674465"/>
            <a:ext cx="764709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b="1" noProof="0" dirty="0">
                <a:latin typeface="Times New Roman"/>
                <a:ea typeface="Times New Roman"/>
                <a:cs typeface="Times New Roman"/>
                <a:sym typeface="Times New Roman"/>
              </a:rPr>
              <a:t>[</a:t>
            </a:r>
            <a:r>
              <a:rPr lang="es-ES" b="1" dirty="0">
                <a:latin typeface="Times New Roman"/>
                <a:ea typeface="Times New Roman"/>
                <a:cs typeface="Times New Roman"/>
                <a:sym typeface="Times New Roman"/>
              </a:rPr>
              <a:t>"No es probable en absoluto"</a:t>
            </a:r>
            <a:r>
              <a:rPr lang="en-US" b="1" noProof="0" dirty="0">
                <a:latin typeface="Times New Roman"/>
                <a:ea typeface="Times New Roman"/>
                <a:cs typeface="Times New Roman"/>
                <a:sym typeface="Times New Roman"/>
              </a:rPr>
              <a:t>] </a:t>
            </a:r>
            <a:r>
              <a:rPr lang="en-US" noProof="0" dirty="0">
                <a:latin typeface="Times New Roman"/>
                <a:ea typeface="Times New Roman"/>
                <a:cs typeface="Times New Roman"/>
                <a:sym typeface="Times New Roman"/>
              </a:rPr>
              <a:t>0,1,2,3,4,5,6,7,8,9,10 </a:t>
            </a:r>
            <a:r>
              <a:rPr lang="en-US" b="1" noProof="0" dirty="0">
                <a:latin typeface="Times New Roman"/>
                <a:ea typeface="Times New Roman"/>
                <a:cs typeface="Times New Roman"/>
                <a:sym typeface="Times New Roman"/>
              </a:rPr>
              <a:t>[</a:t>
            </a:r>
            <a:r>
              <a:rPr lang="en-US" b="1" dirty="0">
                <a:latin typeface="Times New Roman"/>
                <a:ea typeface="Times New Roman"/>
                <a:cs typeface="Times New Roman"/>
                <a:sym typeface="Times New Roman"/>
              </a:rPr>
              <a:t>"</a:t>
            </a:r>
            <a:r>
              <a:rPr lang="en-US" b="1" dirty="0" err="1">
                <a:latin typeface="Times New Roman"/>
                <a:ea typeface="Times New Roman"/>
                <a:cs typeface="Times New Roman"/>
                <a:sym typeface="Times New Roman"/>
              </a:rPr>
              <a:t>Absolutamente</a:t>
            </a:r>
            <a:r>
              <a:rPr lang="en-US" b="1" dirty="0">
                <a:latin typeface="Times New Roman"/>
                <a:ea typeface="Times New Roman"/>
                <a:cs typeface="Times New Roman"/>
                <a:sym typeface="Times New Roman"/>
              </a:rPr>
              <a:t> probable"</a:t>
            </a:r>
            <a:r>
              <a:rPr lang="en-US" b="1" noProof="0" dirty="0">
                <a:latin typeface="Times New Roman"/>
                <a:ea typeface="Times New Roman"/>
                <a:cs typeface="Times New Roman"/>
                <a:sym typeface="Times New Roman"/>
              </a:rPr>
              <a:t>]</a:t>
            </a:r>
            <a:endParaRPr lang="en-US" noProof="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21DAB53-130C-7F7F-68FD-00AF7AEA697F}"/>
              </a:ext>
            </a:extLst>
          </p:cNvPr>
          <p:cNvSpPr txBox="1"/>
          <p:nvPr/>
        </p:nvSpPr>
        <p:spPr>
          <a:xfrm>
            <a:off x="2858348" y="877211"/>
            <a:ext cx="159850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1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</a:t>
            </a:r>
            <a:r>
              <a:rPr lang="es-CL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= 6.2, </a:t>
            </a:r>
            <a:r>
              <a:rPr lang="es-CL" sz="11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SD </a:t>
            </a:r>
            <a:r>
              <a:rPr lang="es-CL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= 2.74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FEDB78B-D9B6-6BB0-2C08-27AC069C606E}"/>
              </a:ext>
            </a:extLst>
          </p:cNvPr>
          <p:cNvSpPr txBox="1"/>
          <p:nvPr/>
        </p:nvSpPr>
        <p:spPr>
          <a:xfrm>
            <a:off x="7372757" y="873826"/>
            <a:ext cx="159850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1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</a:t>
            </a:r>
            <a:r>
              <a:rPr lang="es-CL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= 5.7, </a:t>
            </a:r>
            <a:r>
              <a:rPr lang="es-CL" sz="11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SD </a:t>
            </a:r>
            <a:r>
              <a:rPr lang="es-CL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= 2.36</a:t>
            </a:r>
          </a:p>
        </p:txBody>
      </p:sp>
    </p:spTree>
    <p:extLst>
      <p:ext uri="{BB962C8B-B14F-4D97-AF65-F5344CB8AC3E}">
        <p14:creationId xmlns:p14="http://schemas.microsoft.com/office/powerpoint/2010/main" val="247211559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5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lvl="0"/>
            <a:r>
              <a:rPr lang="en-US" dirty="0" err="1">
                <a:latin typeface="Georgia"/>
                <a:ea typeface="Georgia"/>
                <a:cs typeface="Georgia"/>
                <a:sym typeface="Georgia"/>
              </a:rPr>
              <a:t>Resultados</a:t>
            </a:r>
            <a:r>
              <a:rPr lang="en-US" dirty="0">
                <a:latin typeface="Georgia"/>
                <a:ea typeface="Georgia"/>
                <a:cs typeface="Georgia"/>
                <a:sym typeface="Georgia"/>
              </a:rPr>
              <a:t>: </a:t>
            </a:r>
            <a:r>
              <a:rPr lang="en-US" dirty="0" err="1">
                <a:latin typeface="Georgia"/>
                <a:ea typeface="Georgia"/>
                <a:cs typeface="Georgia"/>
                <a:sym typeface="Georgia"/>
              </a:rPr>
              <a:t>los</a:t>
            </a:r>
            <a:r>
              <a:rPr lang="en-US" dirty="0">
                <a:latin typeface="Georgia"/>
                <a:ea typeface="Georgia"/>
                <a:cs typeface="Georgia"/>
                <a:sym typeface="Georgia"/>
              </a:rPr>
              <a:t> </a:t>
            </a:r>
            <a:r>
              <a:rPr lang="en-US" dirty="0" err="1">
                <a:latin typeface="Georgia"/>
                <a:ea typeface="Georgia"/>
                <a:cs typeface="Georgia"/>
                <a:sym typeface="Georgia"/>
              </a:rPr>
              <a:t>otros</a:t>
            </a:r>
            <a:endParaRPr lang="en-US" noProof="0" dirty="0">
              <a:latin typeface="Georgia"/>
              <a:ea typeface="Georgia"/>
              <a:cs typeface="Georgia"/>
              <a:sym typeface="Georgia"/>
            </a:endParaRPr>
          </a:p>
        </p:txBody>
      </p:sp>
      <p:sp>
        <p:nvSpPr>
          <p:cNvPr id="157" name="Google Shape;157;p2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77500" lnSpcReduction="20000"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4E457D8D-05A5-4967-B4AB-D41D3B652EF8}" type="slidenum">
              <a:rPr lang="en-US" noProof="0" smtClean="0"/>
              <a:t>14</a:t>
            </a:fld>
            <a:fld id="{F29C51C9-3AE0-4E26-8213-438B9701BA42}" type="slidenum">
              <a:rPr lang="en-US" noProof="0" smtClean="0"/>
              <a:t>14</a:t>
            </a:fld>
            <a:fld id="{70408E1F-C39A-4225-ADAF-3E22F443AB58}" type="slidenum">
              <a:rPr lang="en-US" noProof="0" smtClean="0"/>
              <a:t>14</a:t>
            </a:fld>
            <a:endParaRPr lang="en-US" noProof="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2" name="Google Shape;162;p2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398" y="0"/>
            <a:ext cx="7834163" cy="5225797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FCB521B7-013D-8520-96DB-01859F78442D}"/>
              </a:ext>
            </a:extLst>
          </p:cNvPr>
          <p:cNvSpPr/>
          <p:nvPr/>
        </p:nvSpPr>
        <p:spPr>
          <a:xfrm>
            <a:off x="152400" y="453813"/>
            <a:ext cx="7834163" cy="1178560"/>
          </a:xfrm>
          <a:prstGeom prst="roundRect">
            <a:avLst/>
          </a:prstGeom>
          <a:noFill/>
          <a:ln w="19050" cap="flat" cmpd="sng" algn="ctr">
            <a:solidFill>
              <a:srgbClr val="C0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s-CL" dirty="0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80250B3A-B6EC-401F-F269-C353CE141D1D}"/>
              </a:ext>
            </a:extLst>
          </p:cNvPr>
          <p:cNvCxnSpPr/>
          <p:nvPr/>
        </p:nvCxnSpPr>
        <p:spPr>
          <a:xfrm>
            <a:off x="5161280" y="1246293"/>
            <a:ext cx="209973" cy="318347"/>
          </a:xfrm>
          <a:prstGeom prst="straightConnector1">
            <a:avLst/>
          </a:prstGeom>
          <a:ln w="19050" cap="flat" cmpd="sng" algn="ctr">
            <a:solidFill>
              <a:srgbClr val="F8766D"/>
            </a:solidFill>
            <a:prstDash val="solid"/>
            <a:round/>
            <a:headEnd type="none" w="med" len="med"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6AF0E39E-B9F1-6C8B-A110-B1101792F91B}"/>
              </a:ext>
            </a:extLst>
          </p:cNvPr>
          <p:cNvSpPr/>
          <p:nvPr/>
        </p:nvSpPr>
        <p:spPr>
          <a:xfrm>
            <a:off x="152400" y="1632373"/>
            <a:ext cx="7834162" cy="1320800"/>
          </a:xfrm>
          <a:prstGeom prst="roundRect">
            <a:avLst/>
          </a:prstGeom>
          <a:noFill/>
          <a:ln w="19050" cap="flat" cmpd="sng" algn="ctr">
            <a:solidFill>
              <a:srgbClr val="00B05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s-CL" dirty="0"/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533C6DED-79BB-166B-8552-4507BEDA4B4C}"/>
              </a:ext>
            </a:extLst>
          </p:cNvPr>
          <p:cNvSpPr/>
          <p:nvPr/>
        </p:nvSpPr>
        <p:spPr>
          <a:xfrm>
            <a:off x="152400" y="2970108"/>
            <a:ext cx="7834162" cy="720511"/>
          </a:xfrm>
          <a:prstGeom prst="roundRect">
            <a:avLst/>
          </a:prstGeom>
          <a:noFill/>
          <a:ln w="190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s-CL" dirty="0"/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6AC75BE7-60C7-53BD-E64C-B49DC76F07BA}"/>
              </a:ext>
            </a:extLst>
          </p:cNvPr>
          <p:cNvSpPr/>
          <p:nvPr/>
        </p:nvSpPr>
        <p:spPr>
          <a:xfrm>
            <a:off x="152399" y="3738033"/>
            <a:ext cx="7834163" cy="768772"/>
          </a:xfrm>
          <a:prstGeom prst="roundRect">
            <a:avLst/>
          </a:prstGeom>
          <a:noFill/>
          <a:ln w="19050" cap="flat" cmpd="sng" algn="ctr">
            <a:solidFill>
              <a:srgbClr val="7030A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s-CL" dirty="0"/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C4FE051A-C621-06DE-F327-C708C032BC1C}"/>
              </a:ext>
            </a:extLst>
          </p:cNvPr>
          <p:cNvCxnSpPr>
            <a:cxnSpLocks/>
          </p:cNvCxnSpPr>
          <p:nvPr/>
        </p:nvCxnSpPr>
        <p:spPr>
          <a:xfrm flipH="1">
            <a:off x="4429760" y="731520"/>
            <a:ext cx="325120" cy="257387"/>
          </a:xfrm>
          <a:prstGeom prst="straightConnector1">
            <a:avLst/>
          </a:prstGeom>
          <a:ln w="19050" cap="flat" cmpd="sng" algn="ctr">
            <a:solidFill>
              <a:srgbClr val="F8766D"/>
            </a:solidFill>
            <a:prstDash val="solid"/>
            <a:round/>
            <a:headEnd type="none" w="med" len="med"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31" name="Arc 30">
            <a:extLst>
              <a:ext uri="{FF2B5EF4-FFF2-40B4-BE49-F238E27FC236}">
                <a16:creationId xmlns:a16="http://schemas.microsoft.com/office/drawing/2014/main" id="{6DBBD95A-C46A-D5C5-C7E5-0BC899944712}"/>
              </a:ext>
            </a:extLst>
          </p:cNvPr>
          <p:cNvSpPr/>
          <p:nvPr/>
        </p:nvSpPr>
        <p:spPr>
          <a:xfrm rot="5400000">
            <a:off x="4912628" y="625637"/>
            <a:ext cx="357185" cy="325119"/>
          </a:xfrm>
          <a:prstGeom prst="arc">
            <a:avLst>
              <a:gd name="adj1" fmla="val 10628203"/>
              <a:gd name="adj2" fmla="val 722114"/>
            </a:avLst>
          </a:prstGeom>
          <a:ln w="19050" cap="flat" cmpd="sng" algn="ctr">
            <a:solidFill>
              <a:srgbClr val="00BFC4"/>
            </a:solidFill>
            <a:prstDash val="solid"/>
            <a:round/>
            <a:headEnd type="none" w="med" len="med"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142F33FE-94C0-9EA9-ACC2-0C08F5010A2E}"/>
              </a:ext>
            </a:extLst>
          </p:cNvPr>
          <p:cNvCxnSpPr/>
          <p:nvPr/>
        </p:nvCxnSpPr>
        <p:spPr>
          <a:xfrm>
            <a:off x="5253780" y="1246293"/>
            <a:ext cx="209973" cy="318347"/>
          </a:xfrm>
          <a:prstGeom prst="straightConnector1">
            <a:avLst/>
          </a:prstGeom>
          <a:ln w="19050" cap="flat" cmpd="sng" algn="ctr">
            <a:solidFill>
              <a:srgbClr val="00BFC4"/>
            </a:solidFill>
            <a:prstDash val="solid"/>
            <a:round/>
            <a:headEnd type="none" w="med" len="med"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A744A941-A30E-70AF-8A01-001D05977B49}"/>
              </a:ext>
            </a:extLst>
          </p:cNvPr>
          <p:cNvCxnSpPr>
            <a:cxnSpLocks/>
          </p:cNvCxnSpPr>
          <p:nvPr/>
        </p:nvCxnSpPr>
        <p:spPr>
          <a:xfrm flipH="1">
            <a:off x="5003800" y="1927012"/>
            <a:ext cx="169966" cy="430108"/>
          </a:xfrm>
          <a:prstGeom prst="straightConnector1">
            <a:avLst/>
          </a:prstGeom>
          <a:ln w="19050" cap="flat" cmpd="sng" algn="ctr">
            <a:solidFill>
              <a:srgbClr val="F8766D"/>
            </a:solidFill>
            <a:prstDash val="solid"/>
            <a:round/>
            <a:headEnd type="none" w="med" len="med"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544B4B44-E2A1-F1C2-074B-9872C88AF86A}"/>
              </a:ext>
            </a:extLst>
          </p:cNvPr>
          <p:cNvCxnSpPr>
            <a:cxnSpLocks/>
          </p:cNvCxnSpPr>
          <p:nvPr/>
        </p:nvCxnSpPr>
        <p:spPr>
          <a:xfrm flipH="1">
            <a:off x="5096402" y="1927012"/>
            <a:ext cx="157378" cy="474931"/>
          </a:xfrm>
          <a:prstGeom prst="straightConnector1">
            <a:avLst/>
          </a:prstGeom>
          <a:ln w="19050" cap="flat" cmpd="sng" algn="ctr">
            <a:solidFill>
              <a:srgbClr val="00BFC4"/>
            </a:solidFill>
            <a:prstDash val="solid"/>
            <a:round/>
            <a:headEnd type="none" w="med" len="med"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60E16961-46F0-4A64-F9BE-D3F4BAA859FC}"/>
              </a:ext>
            </a:extLst>
          </p:cNvPr>
          <p:cNvCxnSpPr>
            <a:cxnSpLocks/>
          </p:cNvCxnSpPr>
          <p:nvPr/>
        </p:nvCxnSpPr>
        <p:spPr>
          <a:xfrm flipH="1">
            <a:off x="4032251" y="2612898"/>
            <a:ext cx="502919" cy="200152"/>
          </a:xfrm>
          <a:prstGeom prst="straightConnector1">
            <a:avLst/>
          </a:prstGeom>
          <a:ln w="19050" cap="flat" cmpd="sng" algn="ctr">
            <a:solidFill>
              <a:srgbClr val="F8766D"/>
            </a:solidFill>
            <a:prstDash val="solid"/>
            <a:round/>
            <a:headEnd type="none" w="med" len="med"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0223F57F-2D35-2C16-C2F3-ABD6A5B9B531}"/>
              </a:ext>
            </a:extLst>
          </p:cNvPr>
          <p:cNvCxnSpPr>
            <a:cxnSpLocks/>
          </p:cNvCxnSpPr>
          <p:nvPr/>
        </p:nvCxnSpPr>
        <p:spPr>
          <a:xfrm>
            <a:off x="5143500" y="2612898"/>
            <a:ext cx="0" cy="330119"/>
          </a:xfrm>
          <a:prstGeom prst="straightConnector1">
            <a:avLst/>
          </a:prstGeom>
          <a:ln w="19050" cap="flat" cmpd="sng" algn="ctr">
            <a:solidFill>
              <a:srgbClr val="00BFC4"/>
            </a:solidFill>
            <a:prstDash val="solid"/>
            <a:round/>
            <a:headEnd type="none" w="med" len="med"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31" name="Arc 130">
            <a:extLst>
              <a:ext uri="{FF2B5EF4-FFF2-40B4-BE49-F238E27FC236}">
                <a16:creationId xmlns:a16="http://schemas.microsoft.com/office/drawing/2014/main" id="{3690CA77-E886-EF0B-327E-5E35E63E2CBE}"/>
              </a:ext>
            </a:extLst>
          </p:cNvPr>
          <p:cNvSpPr/>
          <p:nvPr/>
        </p:nvSpPr>
        <p:spPr>
          <a:xfrm rot="5400000" flipV="1">
            <a:off x="3417194" y="3209080"/>
            <a:ext cx="357185" cy="375711"/>
          </a:xfrm>
          <a:prstGeom prst="arc">
            <a:avLst>
              <a:gd name="adj1" fmla="val 10628203"/>
              <a:gd name="adj2" fmla="val 722114"/>
            </a:avLst>
          </a:prstGeom>
          <a:ln w="19050" cap="flat" cmpd="sng" algn="ctr">
            <a:solidFill>
              <a:srgbClr val="00BFC4"/>
            </a:solidFill>
            <a:prstDash val="solid"/>
            <a:round/>
            <a:headEnd type="none" w="med" len="med"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132" name="Arc 131">
            <a:extLst>
              <a:ext uri="{FF2B5EF4-FFF2-40B4-BE49-F238E27FC236}">
                <a16:creationId xmlns:a16="http://schemas.microsoft.com/office/drawing/2014/main" id="{C4ECF90F-6D4B-70AF-E8BC-BC7B4D9BD789}"/>
              </a:ext>
            </a:extLst>
          </p:cNvPr>
          <p:cNvSpPr/>
          <p:nvPr/>
        </p:nvSpPr>
        <p:spPr>
          <a:xfrm rot="5400000" flipV="1">
            <a:off x="3980761" y="3221355"/>
            <a:ext cx="357185" cy="375711"/>
          </a:xfrm>
          <a:prstGeom prst="arc">
            <a:avLst>
              <a:gd name="adj1" fmla="val 10628203"/>
              <a:gd name="adj2" fmla="val 722114"/>
            </a:avLst>
          </a:prstGeom>
          <a:ln w="19050" cap="flat" cmpd="sng" algn="ctr">
            <a:solidFill>
              <a:srgbClr val="F8766D"/>
            </a:solidFill>
            <a:prstDash val="solid"/>
            <a:round/>
            <a:headEnd type="none" w="med" len="med"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s-CL" dirty="0"/>
          </a:p>
        </p:txBody>
      </p:sp>
      <p:cxnSp>
        <p:nvCxnSpPr>
          <p:cNvPr id="133" name="Straight Arrow Connector 132">
            <a:extLst>
              <a:ext uri="{FF2B5EF4-FFF2-40B4-BE49-F238E27FC236}">
                <a16:creationId xmlns:a16="http://schemas.microsoft.com/office/drawing/2014/main" id="{8F5B3A44-79EF-C9B4-7253-483EA8F62A53}"/>
              </a:ext>
            </a:extLst>
          </p:cNvPr>
          <p:cNvCxnSpPr>
            <a:cxnSpLocks/>
          </p:cNvCxnSpPr>
          <p:nvPr/>
        </p:nvCxnSpPr>
        <p:spPr>
          <a:xfrm>
            <a:off x="5881217" y="3981401"/>
            <a:ext cx="430683" cy="393749"/>
          </a:xfrm>
          <a:prstGeom prst="straightConnector1">
            <a:avLst/>
          </a:prstGeom>
          <a:ln w="19050" cap="flat" cmpd="sng" algn="ctr">
            <a:solidFill>
              <a:srgbClr val="F8766D"/>
            </a:solidFill>
            <a:prstDash val="solid"/>
            <a:round/>
            <a:headEnd type="none" w="med" len="med"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34" name="Straight Arrow Connector 133">
            <a:extLst>
              <a:ext uri="{FF2B5EF4-FFF2-40B4-BE49-F238E27FC236}">
                <a16:creationId xmlns:a16="http://schemas.microsoft.com/office/drawing/2014/main" id="{F4486DFB-8B4B-2718-359E-E7C462FB3309}"/>
              </a:ext>
            </a:extLst>
          </p:cNvPr>
          <p:cNvCxnSpPr>
            <a:cxnSpLocks/>
          </p:cNvCxnSpPr>
          <p:nvPr/>
        </p:nvCxnSpPr>
        <p:spPr>
          <a:xfrm>
            <a:off x="7327900" y="3975100"/>
            <a:ext cx="393700" cy="400050"/>
          </a:xfrm>
          <a:prstGeom prst="straightConnector1">
            <a:avLst/>
          </a:prstGeom>
          <a:ln w="19050" cap="flat" cmpd="sng" algn="ctr">
            <a:solidFill>
              <a:srgbClr val="00BFC4"/>
            </a:solidFill>
            <a:prstDash val="solid"/>
            <a:round/>
            <a:headEnd type="none" w="med" len="med"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16" grpId="0" animBg="1"/>
      <p:bldP spid="21" grpId="0" animBg="1"/>
      <p:bldP spid="22" grpId="0" animBg="1"/>
      <p:bldP spid="31" grpId="0" animBg="1"/>
      <p:bldP spid="131" grpId="0" animBg="1"/>
      <p:bldP spid="132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5">
          <a:extLst>
            <a:ext uri="{FF2B5EF4-FFF2-40B4-BE49-F238E27FC236}">
              <a16:creationId xmlns:a16="http://schemas.microsoft.com/office/drawing/2014/main" id="{258D3B8F-4BAA-C6B7-BACC-939BAAECF9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5">
            <a:extLst>
              <a:ext uri="{FF2B5EF4-FFF2-40B4-BE49-F238E27FC236}">
                <a16:creationId xmlns:a16="http://schemas.microsoft.com/office/drawing/2014/main" id="{A8235934-316C-849D-E416-F53FD0151BB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lvl="0"/>
            <a:r>
              <a:rPr lang="es-ES" dirty="0">
                <a:latin typeface="Georgia"/>
                <a:ea typeface="Georgia"/>
                <a:cs typeface="Georgia"/>
                <a:sym typeface="Georgia"/>
              </a:rPr>
              <a:t>Resultados: los que son como yo</a:t>
            </a:r>
            <a:endParaRPr lang="en-US" noProof="0" dirty="0">
              <a:latin typeface="Georgia"/>
              <a:ea typeface="Georgia"/>
              <a:cs typeface="Georgia"/>
              <a:sym typeface="Georgia"/>
            </a:endParaRPr>
          </a:p>
        </p:txBody>
      </p:sp>
      <p:sp>
        <p:nvSpPr>
          <p:cNvPr id="157" name="Google Shape;157;p25">
            <a:extLst>
              <a:ext uri="{FF2B5EF4-FFF2-40B4-BE49-F238E27FC236}">
                <a16:creationId xmlns:a16="http://schemas.microsoft.com/office/drawing/2014/main" id="{2082100C-4821-C626-419F-482F8B423C11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t>16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39900673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AA722A-3FD8-BC27-63E9-79D82FE550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8283037-813B-EDD2-7859-0942A391568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17</a:t>
            </a:fld>
            <a:endParaRPr lang="en"/>
          </a:p>
        </p:txBody>
      </p:sp>
      <p:pic>
        <p:nvPicPr>
          <p:cNvPr id="5" name="Picture 4" descr="A graph of a graph showing the difference between a line and a line&#10;&#10;AI-generated content may be incorrect.">
            <a:extLst>
              <a:ext uri="{FF2B5EF4-FFF2-40B4-BE49-F238E27FC236}">
                <a16:creationId xmlns:a16="http://schemas.microsoft.com/office/drawing/2014/main" id="{C805FE61-D577-8009-EA5C-763D9B7C28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2975" y="475737"/>
            <a:ext cx="8638050" cy="431902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C1495640-4526-8851-FEAE-2AF46F391A55}"/>
              </a:ext>
            </a:extLst>
          </p:cNvPr>
          <p:cNvSpPr txBox="1"/>
          <p:nvPr/>
        </p:nvSpPr>
        <p:spPr>
          <a:xfrm>
            <a:off x="360000" y="292100"/>
            <a:ext cx="611065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b="1" dirty="0">
                <a:solidFill>
                  <a:srgbClr val="C00000"/>
                </a:solidFill>
                <a:latin typeface="Georgia" panose="02040502050405020303" pitchFamily="18" charset="0"/>
              </a:rPr>
              <a:t>Nivel Socioeconómico:</a:t>
            </a:r>
            <a:r>
              <a:rPr lang="es-CL" b="1" dirty="0">
                <a:solidFill>
                  <a:srgbClr val="00B050"/>
                </a:solidFill>
                <a:latin typeface="Georgia" panose="02040502050405020303" pitchFamily="18" charset="0"/>
              </a:rPr>
              <a:t> </a:t>
            </a:r>
            <a:r>
              <a:rPr lang="es-CL" b="1" dirty="0">
                <a:latin typeface="Georgia" panose="02040502050405020303" pitchFamily="18" charset="0"/>
              </a:rPr>
              <a:t>Educación</a:t>
            </a:r>
          </a:p>
        </p:txBody>
      </p:sp>
    </p:spTree>
    <p:extLst>
      <p:ext uri="{BB962C8B-B14F-4D97-AF65-F5344CB8AC3E}">
        <p14:creationId xmlns:p14="http://schemas.microsoft.com/office/powerpoint/2010/main" val="36821982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0">
            <a:extLst>
              <a:ext uri="{FF2B5EF4-FFF2-40B4-BE49-F238E27FC236}">
                <a16:creationId xmlns:a16="http://schemas.microsoft.com/office/drawing/2014/main" id="{F2B82E90-6DFF-31F9-2CCB-DC306D5D7D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s-CL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08FBB411-2366-8AF1-81CF-82713DA6B11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L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C3D54C8-2951-4284-E638-1DD2AF7FA4D3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</p:spPr>
        <p:txBody>
          <a:bodyPr/>
          <a:lstStyle/>
          <a:p>
            <a:pPr lvl="0"/>
            <a:fld id="{00000000-1234-1234-1234-123412341234}" type="slidenum">
              <a:rPr lang="en" smtClean="0"/>
              <a:pPr lvl="0"/>
              <a:t>18</a:t>
            </a:fld>
            <a:endParaRPr lang="en"/>
          </a:p>
        </p:txBody>
      </p:sp>
      <p:pic>
        <p:nvPicPr>
          <p:cNvPr id="18" name="Picture 17" descr="A graph with a line graph&#10;&#10;AI-generated content may be incorrect.">
            <a:extLst>
              <a:ext uri="{FF2B5EF4-FFF2-40B4-BE49-F238E27FC236}">
                <a16:creationId xmlns:a16="http://schemas.microsoft.com/office/drawing/2014/main" id="{F581F34C-C452-A415-7929-A89DE51B84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2975" y="475737"/>
            <a:ext cx="8638050" cy="4319025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788F1792-2E5F-A4C2-830B-7B33167BB7F0}"/>
              </a:ext>
            </a:extLst>
          </p:cNvPr>
          <p:cNvSpPr txBox="1"/>
          <p:nvPr/>
        </p:nvSpPr>
        <p:spPr>
          <a:xfrm>
            <a:off x="360000" y="292100"/>
            <a:ext cx="611065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b="1" dirty="0">
                <a:solidFill>
                  <a:srgbClr val="C00000"/>
                </a:solidFill>
                <a:latin typeface="Georgia" panose="02040502050405020303" pitchFamily="18" charset="0"/>
              </a:rPr>
              <a:t>Nivel Socioeconómico:</a:t>
            </a:r>
            <a:r>
              <a:rPr lang="es-CL" b="1" dirty="0">
                <a:solidFill>
                  <a:srgbClr val="00B050"/>
                </a:solidFill>
                <a:latin typeface="Georgia" panose="02040502050405020303" pitchFamily="18" charset="0"/>
              </a:rPr>
              <a:t> </a:t>
            </a:r>
            <a:r>
              <a:rPr lang="es-CL" b="1" dirty="0">
                <a:latin typeface="Georgia" panose="02040502050405020303" pitchFamily="18" charset="0"/>
              </a:rPr>
              <a:t>Ingresos</a:t>
            </a:r>
          </a:p>
        </p:txBody>
      </p:sp>
    </p:spTree>
    <p:extLst>
      <p:ext uri="{BB962C8B-B14F-4D97-AF65-F5344CB8AC3E}">
        <p14:creationId xmlns:p14="http://schemas.microsoft.com/office/powerpoint/2010/main" val="311136778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CC8DD6-1D29-9BD0-C08F-DF047CB24B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b">
            <a:normAutofit fontScale="90000"/>
          </a:bodyPr>
          <a:lstStyle/>
          <a:p>
            <a:endParaRPr lang="es-C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BE6B849-0D51-31A4-491B-725B05C79A6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anchor="b"/>
          <a:lstStyle/>
          <a:p>
            <a:endParaRPr lang="es-C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FA3D988-3F88-6707-D364-B0BED289B6E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19</a:t>
            </a:fld>
            <a:endParaRPr lang="en"/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9BDA2AAE-7358-DD3C-D64C-22416B13E8DD}"/>
              </a:ext>
            </a:extLst>
          </p:cNvPr>
          <p:cNvGrpSpPr/>
          <p:nvPr/>
        </p:nvGrpSpPr>
        <p:grpSpPr>
          <a:xfrm>
            <a:off x="360000" y="720000"/>
            <a:ext cx="8638050" cy="4319025"/>
            <a:chOff x="310125" y="685287"/>
            <a:chExt cx="8638050" cy="4319025"/>
          </a:xfrm>
        </p:grpSpPr>
        <p:pic>
          <p:nvPicPr>
            <p:cNvPr id="6" name="Picture 5" descr="A graph with different colored points&#10;&#10;AI-generated content may be incorrect.">
              <a:extLst>
                <a:ext uri="{FF2B5EF4-FFF2-40B4-BE49-F238E27FC236}">
                  <a16:creationId xmlns:a16="http://schemas.microsoft.com/office/drawing/2014/main" id="{8C2BDD2F-8470-55FD-60EA-9AAFA8580C5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10125" y="685287"/>
              <a:ext cx="8638050" cy="4319025"/>
            </a:xfrm>
            <a:prstGeom prst="rect">
              <a:avLst/>
            </a:prstGeom>
          </p:spPr>
        </p:pic>
        <p:sp>
          <p:nvSpPr>
            <p:cNvPr id="9" name="Rectangle: Rounded Corners 8">
              <a:extLst>
                <a:ext uri="{FF2B5EF4-FFF2-40B4-BE49-F238E27FC236}">
                  <a16:creationId xmlns:a16="http://schemas.microsoft.com/office/drawing/2014/main" id="{5A4DD943-3858-6283-3288-5501856BF7DD}"/>
                </a:ext>
              </a:extLst>
            </p:cNvPr>
            <p:cNvSpPr/>
            <p:nvPr/>
          </p:nvSpPr>
          <p:spPr>
            <a:xfrm>
              <a:off x="7239000" y="1492250"/>
              <a:ext cx="914400" cy="1149350"/>
            </a:xfrm>
            <a:prstGeom prst="roundRect">
              <a:avLst/>
            </a:prstGeom>
            <a:noFill/>
            <a:ln w="28575" cap="flat" cmpd="sng" algn="ctr">
              <a:solidFill>
                <a:srgbClr val="F8766D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1"/>
            </a:fontRef>
          </p:style>
          <p:txBody>
            <a:bodyPr rtlCol="0" anchor="b"/>
            <a:lstStyle/>
            <a:p>
              <a:pPr algn="ctr"/>
              <a:endParaRPr lang="es-CL"/>
            </a:p>
          </p:txBody>
        </p:sp>
        <p:sp>
          <p:nvSpPr>
            <p:cNvPr id="10" name="Rectangle: Rounded Corners 9">
              <a:extLst>
                <a:ext uri="{FF2B5EF4-FFF2-40B4-BE49-F238E27FC236}">
                  <a16:creationId xmlns:a16="http://schemas.microsoft.com/office/drawing/2014/main" id="{234D621C-4161-A0DB-C04C-FA1702AB4443}"/>
                </a:ext>
              </a:extLst>
            </p:cNvPr>
            <p:cNvSpPr/>
            <p:nvPr/>
          </p:nvSpPr>
          <p:spPr>
            <a:xfrm>
              <a:off x="3441700" y="1492250"/>
              <a:ext cx="914400" cy="1149350"/>
            </a:xfrm>
            <a:prstGeom prst="roundRect">
              <a:avLst/>
            </a:prstGeom>
            <a:noFill/>
            <a:ln w="28575" cap="flat" cmpd="sng" algn="ctr">
              <a:solidFill>
                <a:srgbClr val="F8766D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1"/>
            </a:fontRef>
          </p:style>
          <p:txBody>
            <a:bodyPr rtlCol="0" anchor="b"/>
            <a:lstStyle/>
            <a:p>
              <a:pPr algn="ctr"/>
              <a:endParaRPr lang="es-CL"/>
            </a:p>
          </p:txBody>
        </p: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FBFC612D-FC74-A4D7-E02D-FEF6287EBAB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860800" y="1749637"/>
              <a:ext cx="216825" cy="622300"/>
            </a:xfrm>
            <a:prstGeom prst="straightConnector1">
              <a:avLst/>
            </a:prstGeom>
            <a:ln w="19050">
              <a:solidFill>
                <a:srgbClr val="F8766D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65FC6E2C-77C1-419C-90CF-56875409DEF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766975" y="1654387"/>
              <a:ext cx="171450" cy="639203"/>
            </a:xfrm>
            <a:prstGeom prst="straightConnector1">
              <a:avLst/>
            </a:prstGeom>
            <a:ln w="19050">
              <a:solidFill>
                <a:srgbClr val="F8766D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1" name="TextBox 20">
            <a:extLst>
              <a:ext uri="{FF2B5EF4-FFF2-40B4-BE49-F238E27FC236}">
                <a16:creationId xmlns:a16="http://schemas.microsoft.com/office/drawing/2014/main" id="{CA4CE646-613B-EFCA-DF80-E43EEC028ABD}"/>
              </a:ext>
            </a:extLst>
          </p:cNvPr>
          <p:cNvSpPr txBox="1"/>
          <p:nvPr/>
        </p:nvSpPr>
        <p:spPr>
          <a:xfrm>
            <a:off x="360000" y="292100"/>
            <a:ext cx="611065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b="1" dirty="0">
                <a:solidFill>
                  <a:srgbClr val="00B050"/>
                </a:solidFill>
                <a:latin typeface="Georgia" panose="02040502050405020303" pitchFamily="18" charset="0"/>
              </a:rPr>
              <a:t>Human </a:t>
            </a:r>
            <a:r>
              <a:rPr lang="es-CL" b="1" dirty="0" err="1">
                <a:solidFill>
                  <a:srgbClr val="00B050"/>
                </a:solidFill>
                <a:latin typeface="Georgia" panose="02040502050405020303" pitchFamily="18" charset="0"/>
              </a:rPr>
              <a:t>Values</a:t>
            </a:r>
            <a:r>
              <a:rPr lang="es-CL" b="1" dirty="0">
                <a:solidFill>
                  <a:srgbClr val="00B050"/>
                </a:solidFill>
                <a:latin typeface="Georgia" panose="02040502050405020303" pitchFamily="18" charset="0"/>
              </a:rPr>
              <a:t>: </a:t>
            </a:r>
            <a:r>
              <a:rPr lang="es-CL" b="1" dirty="0" err="1">
                <a:latin typeface="Georgia" panose="02040502050405020303" pitchFamily="18" charset="0"/>
              </a:rPr>
              <a:t>Self-transendence</a:t>
            </a:r>
            <a:r>
              <a:rPr lang="es-CL" b="1" dirty="0">
                <a:latin typeface="Georgia" panose="02040502050405020303" pitchFamily="18" charset="0"/>
              </a:rPr>
              <a:t> (Social Focus)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6E1C57A5-5AED-578B-0212-411208DF460C}"/>
              </a:ext>
            </a:extLst>
          </p:cNvPr>
          <p:cNvSpPr/>
          <p:nvPr/>
        </p:nvSpPr>
        <p:spPr>
          <a:xfrm>
            <a:off x="5434675" y="1520613"/>
            <a:ext cx="914400" cy="1149350"/>
          </a:xfrm>
          <a:prstGeom prst="roundRect">
            <a:avLst/>
          </a:prstGeom>
          <a:noFill/>
          <a:ln w="28575" cap="flat" cmpd="sng" algn="ctr">
            <a:solidFill>
              <a:srgbClr val="00BFC4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b"/>
          <a:lstStyle/>
          <a:p>
            <a:pPr algn="ctr"/>
            <a:endParaRPr lang="es-CL"/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8ECDACA0-D7B6-0B73-328E-FAB59600F548}"/>
              </a:ext>
            </a:extLst>
          </p:cNvPr>
          <p:cNvSpPr/>
          <p:nvPr/>
        </p:nvSpPr>
        <p:spPr>
          <a:xfrm>
            <a:off x="1637375" y="1520613"/>
            <a:ext cx="914400" cy="1149350"/>
          </a:xfrm>
          <a:prstGeom prst="roundRect">
            <a:avLst/>
          </a:prstGeom>
          <a:noFill/>
          <a:ln w="28575" cap="flat" cmpd="sng" algn="ctr">
            <a:solidFill>
              <a:srgbClr val="00BFC4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b"/>
          <a:lstStyle/>
          <a:p>
            <a:pPr algn="ctr"/>
            <a:endParaRPr lang="es-CL"/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9910E67E-5299-4168-D268-07842449AB10}"/>
              </a:ext>
            </a:extLst>
          </p:cNvPr>
          <p:cNvCxnSpPr>
            <a:cxnSpLocks/>
          </p:cNvCxnSpPr>
          <p:nvPr/>
        </p:nvCxnSpPr>
        <p:spPr>
          <a:xfrm flipV="1">
            <a:off x="1987550" y="2101850"/>
            <a:ext cx="196850" cy="371263"/>
          </a:xfrm>
          <a:prstGeom prst="straightConnector1">
            <a:avLst/>
          </a:prstGeom>
          <a:ln w="19050">
            <a:solidFill>
              <a:srgbClr val="00BFC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B6DECE76-7F7A-227E-FDE3-97EE40C97D40}"/>
              </a:ext>
            </a:extLst>
          </p:cNvPr>
          <p:cNvCxnSpPr>
            <a:cxnSpLocks/>
          </p:cNvCxnSpPr>
          <p:nvPr/>
        </p:nvCxnSpPr>
        <p:spPr>
          <a:xfrm flipV="1">
            <a:off x="5829300" y="1974850"/>
            <a:ext cx="234950" cy="431800"/>
          </a:xfrm>
          <a:prstGeom prst="straightConnector1">
            <a:avLst/>
          </a:prstGeom>
          <a:ln w="19050">
            <a:solidFill>
              <a:srgbClr val="00BFC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2610022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DC28F4-3260-336B-08EB-6070D67E0F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s-C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C1EAAC4-3C36-60A0-330C-BCAE457034B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34EFB3-8EEB-21B3-CBB0-CA85A008D9F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20</a:t>
            </a:fld>
            <a:endParaRPr lang="en"/>
          </a:p>
        </p:txBody>
      </p:sp>
      <p:pic>
        <p:nvPicPr>
          <p:cNvPr id="6" name="Picture 5" descr="A graph with different colored points&#10;&#10;AI-generated content may be incorrect.">
            <a:extLst>
              <a:ext uri="{FF2B5EF4-FFF2-40B4-BE49-F238E27FC236}">
                <a16:creationId xmlns:a16="http://schemas.microsoft.com/office/drawing/2014/main" id="{E2507619-CF8D-5428-B4F0-E0A093E919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0000" y="720000"/>
            <a:ext cx="8638050" cy="4319025"/>
          </a:xfrm>
          <a:prstGeom prst="rect">
            <a:avLst/>
          </a:prstGeom>
        </p:spPr>
      </p:pic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337CD563-935E-9BA6-1231-A5DDCFC41F6F}"/>
              </a:ext>
            </a:extLst>
          </p:cNvPr>
          <p:cNvSpPr/>
          <p:nvPr/>
        </p:nvSpPr>
        <p:spPr>
          <a:xfrm>
            <a:off x="3473450" y="1200150"/>
            <a:ext cx="914400" cy="1149350"/>
          </a:xfrm>
          <a:prstGeom prst="roundRect">
            <a:avLst/>
          </a:prstGeom>
          <a:noFill/>
          <a:ln w="28575" cap="flat" cmpd="sng" algn="ctr">
            <a:solidFill>
              <a:srgbClr val="F8766D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418163D9-FE7F-6AAF-C788-A2156A646B14}"/>
              </a:ext>
            </a:extLst>
          </p:cNvPr>
          <p:cNvSpPr/>
          <p:nvPr/>
        </p:nvSpPr>
        <p:spPr>
          <a:xfrm>
            <a:off x="7327900" y="1200150"/>
            <a:ext cx="914400" cy="1149350"/>
          </a:xfrm>
          <a:prstGeom prst="roundRect">
            <a:avLst/>
          </a:prstGeom>
          <a:noFill/>
          <a:ln w="28575" cap="flat" cmpd="sng" algn="ctr">
            <a:solidFill>
              <a:srgbClr val="F8766D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45D4A8B2-8E24-B709-263A-BC184CE077F2}"/>
              </a:ext>
            </a:extLst>
          </p:cNvPr>
          <p:cNvCxnSpPr>
            <a:cxnSpLocks/>
          </p:cNvCxnSpPr>
          <p:nvPr/>
        </p:nvCxnSpPr>
        <p:spPr>
          <a:xfrm>
            <a:off x="3721100" y="1454150"/>
            <a:ext cx="209550" cy="571500"/>
          </a:xfrm>
          <a:prstGeom prst="straightConnector1">
            <a:avLst/>
          </a:prstGeom>
          <a:ln w="19050">
            <a:solidFill>
              <a:srgbClr val="F8766D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E183A312-CD0E-AA84-0BA1-33D4F51E9945}"/>
              </a:ext>
            </a:extLst>
          </p:cNvPr>
          <p:cNvCxnSpPr>
            <a:cxnSpLocks/>
          </p:cNvCxnSpPr>
          <p:nvPr/>
        </p:nvCxnSpPr>
        <p:spPr>
          <a:xfrm>
            <a:off x="7785100" y="1339850"/>
            <a:ext cx="203200" cy="641350"/>
          </a:xfrm>
          <a:prstGeom prst="straightConnector1">
            <a:avLst/>
          </a:prstGeom>
          <a:ln w="19050">
            <a:solidFill>
              <a:srgbClr val="F8766D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A6D3D579-0895-E780-C77A-D40943E988AA}"/>
              </a:ext>
            </a:extLst>
          </p:cNvPr>
          <p:cNvSpPr txBox="1"/>
          <p:nvPr/>
        </p:nvSpPr>
        <p:spPr>
          <a:xfrm>
            <a:off x="360000" y="292100"/>
            <a:ext cx="611065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b="1" dirty="0">
                <a:solidFill>
                  <a:srgbClr val="00B050"/>
                </a:solidFill>
                <a:latin typeface="Georgia" panose="02040502050405020303" pitchFamily="18" charset="0"/>
              </a:rPr>
              <a:t>Human </a:t>
            </a:r>
            <a:r>
              <a:rPr lang="es-CL" b="1" dirty="0" err="1">
                <a:solidFill>
                  <a:srgbClr val="00B050"/>
                </a:solidFill>
                <a:latin typeface="Georgia" panose="02040502050405020303" pitchFamily="18" charset="0"/>
              </a:rPr>
              <a:t>Values</a:t>
            </a:r>
            <a:r>
              <a:rPr lang="es-CL" b="1" dirty="0">
                <a:latin typeface="Georgia" panose="02040502050405020303" pitchFamily="18" charset="0"/>
              </a:rPr>
              <a:t>: </a:t>
            </a:r>
            <a:r>
              <a:rPr lang="es-CL" b="1" dirty="0" err="1">
                <a:latin typeface="Georgia" panose="02040502050405020303" pitchFamily="18" charset="0"/>
              </a:rPr>
              <a:t>Self-enhancement</a:t>
            </a:r>
            <a:r>
              <a:rPr lang="es-CL" b="1" dirty="0">
                <a:latin typeface="Georgia" panose="02040502050405020303" pitchFamily="18" charset="0"/>
              </a:rPr>
              <a:t> (Personal Focus)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4DD124A6-B8DE-448D-F037-19324C15B689}"/>
              </a:ext>
            </a:extLst>
          </p:cNvPr>
          <p:cNvSpPr/>
          <p:nvPr/>
        </p:nvSpPr>
        <p:spPr>
          <a:xfrm>
            <a:off x="1562100" y="1200150"/>
            <a:ext cx="914400" cy="1149350"/>
          </a:xfrm>
          <a:prstGeom prst="roundRect">
            <a:avLst/>
          </a:prstGeom>
          <a:noFill/>
          <a:ln w="28575" cap="flat" cmpd="sng" algn="ctr">
            <a:solidFill>
              <a:srgbClr val="00BFC4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CE6922D9-C3E7-2744-D8C4-F5D68A5FB4C3}"/>
              </a:ext>
            </a:extLst>
          </p:cNvPr>
          <p:cNvSpPr/>
          <p:nvPr/>
        </p:nvSpPr>
        <p:spPr>
          <a:xfrm>
            <a:off x="5416550" y="1200150"/>
            <a:ext cx="914400" cy="1149350"/>
          </a:xfrm>
          <a:prstGeom prst="roundRect">
            <a:avLst/>
          </a:prstGeom>
          <a:noFill/>
          <a:ln w="28575" cap="flat" cmpd="sng" algn="ctr">
            <a:solidFill>
              <a:srgbClr val="00BFC4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396D11CB-083E-4B52-D5BF-F17476E63104}"/>
              </a:ext>
            </a:extLst>
          </p:cNvPr>
          <p:cNvCxnSpPr>
            <a:cxnSpLocks/>
          </p:cNvCxnSpPr>
          <p:nvPr/>
        </p:nvCxnSpPr>
        <p:spPr>
          <a:xfrm>
            <a:off x="2032000" y="1816100"/>
            <a:ext cx="184150" cy="336550"/>
          </a:xfrm>
          <a:prstGeom prst="straightConnector1">
            <a:avLst/>
          </a:prstGeom>
          <a:ln w="19050">
            <a:solidFill>
              <a:srgbClr val="00BFC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82772F09-64B8-5172-002C-515F13D83456}"/>
              </a:ext>
            </a:extLst>
          </p:cNvPr>
          <p:cNvCxnSpPr>
            <a:cxnSpLocks/>
          </p:cNvCxnSpPr>
          <p:nvPr/>
        </p:nvCxnSpPr>
        <p:spPr>
          <a:xfrm>
            <a:off x="5861050" y="1657350"/>
            <a:ext cx="184150" cy="368300"/>
          </a:xfrm>
          <a:prstGeom prst="straightConnector1">
            <a:avLst/>
          </a:prstGeom>
          <a:ln w="19050">
            <a:solidFill>
              <a:srgbClr val="00BFC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5080126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30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lvl="0"/>
            <a:r>
              <a:rPr lang="en-US" noProof="0" dirty="0" err="1">
                <a:latin typeface="Georgia"/>
                <a:ea typeface="Georgia"/>
                <a:cs typeface="Georgia"/>
                <a:sym typeface="Georgia"/>
              </a:rPr>
              <a:t>Conclusiones</a:t>
            </a:r>
            <a:r>
              <a:rPr lang="en-US" noProof="0" dirty="0">
                <a:latin typeface="Georgia"/>
                <a:ea typeface="Georgia"/>
                <a:cs typeface="Georgia"/>
                <a:sym typeface="Georgia"/>
              </a:rPr>
              <a:t> </a:t>
            </a:r>
          </a:p>
        </p:txBody>
      </p:sp>
      <p:sp>
        <p:nvSpPr>
          <p:cNvPr id="189" name="Google Shape;189;p30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buNone/>
            </a:pPr>
            <a:r>
              <a:rPr lang="en-US" sz="1200" b="1" noProof="0" dirty="0">
                <a:solidFill>
                  <a:srgbClr val="FF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Nivel </a:t>
            </a:r>
            <a:r>
              <a:rPr lang="en-US" sz="1200" b="1" noProof="0" dirty="0" err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Socioeconómico</a:t>
            </a:r>
            <a:r>
              <a:rPr lang="en-US" sz="1200" b="1" noProof="0" dirty="0">
                <a:solidFill>
                  <a:srgbClr val="FF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: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s-ES" sz="12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 medida que aumenta el nivel educativo, también lo hace la confianza.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s-ES" sz="12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No ocurre lo mismo con los grupos de ingresos: en Alemania, se confía más en los de clase media; en Chile, en los de clase baja y media.</a:t>
            </a:r>
          </a:p>
          <a:p>
            <a:pPr marL="0" indent="0">
              <a:buNone/>
            </a:pPr>
            <a:endParaRPr lang="es-ES" sz="1200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indent="0">
              <a:buNone/>
            </a:pPr>
            <a:endParaRPr lang="es-ES" sz="1200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indent="0">
              <a:buNone/>
            </a:pPr>
            <a:r>
              <a:rPr lang="en-US" sz="1200" b="1" dirty="0">
                <a:solidFill>
                  <a:srgbClr val="00B05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Valores </a:t>
            </a:r>
            <a:r>
              <a:rPr lang="en-US" sz="1200" b="1" dirty="0" err="1">
                <a:solidFill>
                  <a:srgbClr val="00B05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humanos</a:t>
            </a:r>
            <a:r>
              <a:rPr lang="en-US" sz="1200" b="1" dirty="0">
                <a:solidFill>
                  <a:srgbClr val="00B05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: </a:t>
            </a:r>
            <a:r>
              <a:rPr lang="es-ES" sz="12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El perfil de valores de </a:t>
            </a:r>
            <a:r>
              <a:rPr lang="es-ES" sz="1200" dirty="0" err="1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auto-trascendencia</a:t>
            </a:r>
            <a:r>
              <a:rPr lang="es-ES" sz="12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(</a:t>
            </a:r>
            <a:r>
              <a:rPr lang="es-ES" sz="1200" i="1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foco social</a:t>
            </a:r>
            <a:r>
              <a:rPr lang="es-ES" sz="12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) es preferible al de </a:t>
            </a:r>
            <a:r>
              <a:rPr lang="es-ES" sz="1200" dirty="0" err="1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auto-promoción</a:t>
            </a:r>
            <a:r>
              <a:rPr lang="es-ES" sz="12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(</a:t>
            </a:r>
            <a:r>
              <a:rPr lang="es-ES" sz="1200" i="1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foco personal</a:t>
            </a:r>
            <a:r>
              <a:rPr lang="es-ES" sz="12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).</a:t>
            </a:r>
            <a:endParaRPr lang="en-US" sz="1200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171450" lvl="0" indent="-171450">
              <a:buFont typeface="Arial" panose="020B0604020202020204" pitchFamily="34" charset="0"/>
              <a:buChar char="•"/>
            </a:pPr>
            <a:endParaRPr lang="en-US" sz="1200" b="1" dirty="0">
              <a:solidFill>
                <a:schemeClr val="accen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C9D0BE1-2905-3C8F-9731-C7DC1763105C}"/>
              </a:ext>
            </a:extLst>
          </p:cNvPr>
          <p:cNvSpPr>
            <a:spLocks noGrp="1"/>
          </p:cNvSpPr>
          <p:nvPr>
            <p:ph type="body" idx="2"/>
          </p:nvPr>
        </p:nvSpPr>
        <p:spPr/>
        <p:txBody>
          <a:bodyPr>
            <a:noAutofit/>
          </a:bodyPr>
          <a:lstStyle/>
          <a:p>
            <a:pPr marL="0" lvl="0" indent="0">
              <a:buNone/>
            </a:pPr>
            <a:r>
              <a:rPr lang="en-US" sz="1200" b="1" dirty="0" err="1">
                <a:solidFill>
                  <a:schemeClr val="accent5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Posición</a:t>
            </a:r>
            <a:r>
              <a:rPr lang="en-US" sz="1200" b="1" dirty="0">
                <a:solidFill>
                  <a:schemeClr val="accent5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200" b="1" dirty="0" err="1">
                <a:solidFill>
                  <a:schemeClr val="accent5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política</a:t>
            </a:r>
            <a:r>
              <a:rPr lang="en-US" sz="1200" b="1" dirty="0">
                <a:solidFill>
                  <a:schemeClr val="accent5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:</a:t>
            </a:r>
            <a:r>
              <a:rPr lang="en-US" sz="1200" b="1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s-ES" sz="12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En ambos contextos se prefiere el perfil político de "Centro" (moderado) frente a los grupos de izquierda y derecha.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s-ES" sz="12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En Alemania, las personas de derechas son las menos confiables. Además, los "desinteresados" por la política en Alemania son menos fiables que en Chile.</a:t>
            </a:r>
            <a:endParaRPr lang="en-US" sz="1200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171450" lvl="0" indent="-171450">
              <a:buFont typeface="Arial" panose="020B0604020202020204" pitchFamily="34" charset="0"/>
              <a:buChar char="•"/>
            </a:pPr>
            <a:endParaRPr lang="en-US" sz="1200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lvl="0" indent="0">
              <a:buNone/>
            </a:pPr>
            <a:r>
              <a:rPr lang="en-US" sz="1200" b="1" dirty="0" err="1">
                <a:solidFill>
                  <a:schemeClr val="accen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Migración</a:t>
            </a:r>
            <a:r>
              <a:rPr lang="en-US" sz="1200" b="1" dirty="0">
                <a:solidFill>
                  <a:schemeClr val="accen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y </a:t>
            </a:r>
            <a:r>
              <a:rPr lang="en-US" sz="1200" b="1" dirty="0" err="1">
                <a:solidFill>
                  <a:schemeClr val="accen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Religión</a:t>
            </a:r>
            <a:r>
              <a:rPr lang="en-US" sz="1200" b="1" dirty="0">
                <a:solidFill>
                  <a:schemeClr val="accen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: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s-ES" sz="12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Religión y origen migratorio constituyen parámetros divisorios en ambos contextos.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s-ES" sz="12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Migración parece no ser relevante en Alemania, no así en Chile.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s-ES" sz="12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Grupos religiosos: los musulmanes (Alemania) y evangélicos (Chile) en los grupos en los que menos se confía.</a:t>
            </a:r>
            <a:endParaRPr lang="en-US" sz="1200" dirty="0">
              <a:solidFill>
                <a:schemeClr val="dk1"/>
              </a:solidFill>
              <a:highlight>
                <a:srgbClr val="FFFFFF"/>
              </a:highlight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285750" indent="-285750">
              <a:spcBef>
                <a:spcPts val="1200"/>
              </a:spcBef>
              <a:spcAft>
                <a:spcPts val="1200"/>
              </a:spcAft>
            </a:pPr>
            <a:endParaRPr lang="en-US" sz="1200" i="1" dirty="0">
              <a:solidFill>
                <a:schemeClr val="dk1"/>
              </a:solidFill>
              <a:highlight>
                <a:srgbClr val="FFFFFF"/>
              </a:highlight>
              <a:latin typeface="Times New Roman"/>
              <a:ea typeface="Times New Roman"/>
              <a:cs typeface="Times New Roman"/>
              <a:sym typeface="Times New Roman"/>
            </a:endParaRPr>
          </a:p>
          <a:p>
            <a:endParaRPr lang="es-CL" sz="1200" dirty="0"/>
          </a:p>
        </p:txBody>
      </p:sp>
      <p:sp>
        <p:nvSpPr>
          <p:cNvPr id="188" name="Google Shape;188;p30"/>
          <p:cNvSpPr txBox="1">
            <a:spLocks noGrp="1"/>
          </p:cNvSpPr>
          <p:nvPr>
            <p:ph type="sldNum" idx="12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t>21</a:t>
            </a:fld>
            <a:endParaRPr lang="en-US" noProof="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B2E08D-9F46-C077-358B-F998ADE41E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s-CL" dirty="0">
                <a:latin typeface="Georgia" panose="02040502050405020303" pitchFamily="18" charset="0"/>
              </a:rPr>
              <a:t>Conclusiones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E980442-06CD-B01A-BA12-270CD242333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114300" indent="0">
              <a:buNone/>
            </a:pPr>
            <a:r>
              <a:rPr lang="es-ES" sz="1200" b="1" dirty="0">
                <a:solidFill>
                  <a:schemeClr val="tx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Hipótesis de </a:t>
            </a:r>
            <a:r>
              <a:rPr lang="es-ES" sz="1200" b="1" dirty="0" err="1">
                <a:solidFill>
                  <a:schemeClr val="tx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homofilia</a:t>
            </a:r>
            <a:r>
              <a:rPr lang="es-ES" sz="1200" b="1" dirty="0">
                <a:solidFill>
                  <a:schemeClr val="tx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</a:p>
          <a:p>
            <a:pPr>
              <a:buFont typeface="Arial" panose="020B0604020202020204" pitchFamily="34" charset="0"/>
              <a:buChar char="•"/>
            </a:pPr>
            <a:endParaRPr lang="es-ES" sz="1200" dirty="0">
              <a:solidFill>
                <a:schemeClr val="tx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s-ES" sz="1200" dirty="0">
                <a:solidFill>
                  <a:schemeClr val="tx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Las preferencias por los círculos transversales muestran un patrón de preferencias </a:t>
            </a:r>
            <a:r>
              <a:rPr lang="es-ES" sz="1200" dirty="0" err="1">
                <a:solidFill>
                  <a:schemeClr val="tx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homófilas</a:t>
            </a:r>
            <a:r>
              <a:rPr lang="es-ES" sz="1200" dirty="0">
                <a:solidFill>
                  <a:schemeClr val="tx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, pero también de distanciamiento social respecto a otros diferentes.</a:t>
            </a:r>
          </a:p>
          <a:p>
            <a:pPr marL="114300" indent="0">
              <a:buNone/>
            </a:pPr>
            <a:endParaRPr lang="es-ES" sz="12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s-ES" sz="1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Vemos que el nivel socioeconómico traza divisiones: principalmente en los individuos de NSE más bajos, confían más en los suyos que en los grupos intermedio y alto. Aquellos con NSE alto, muestran </a:t>
            </a:r>
          </a:p>
          <a:p>
            <a:pPr>
              <a:buFont typeface="Arial" panose="020B0604020202020204" pitchFamily="34" charset="0"/>
              <a:buChar char="•"/>
            </a:pPr>
            <a:endParaRPr lang="es-ES" sz="12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s-ES" sz="1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Las personas con mayor </a:t>
            </a:r>
            <a:r>
              <a:rPr lang="es-ES" sz="12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autotrasendencia</a:t>
            </a:r>
            <a:r>
              <a:rPr lang="es-ES" sz="12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s-ES" sz="1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s-ES" sz="1200" i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self-transcendence</a:t>
            </a:r>
            <a:r>
              <a:rPr lang="es-ES" sz="1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 muestran mayor confianza en los individuos de conservación y </a:t>
            </a:r>
            <a:r>
              <a:rPr lang="es-ES" sz="12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autotrasendencia</a:t>
            </a:r>
            <a:r>
              <a:rPr lang="es-ES" sz="1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(</a:t>
            </a:r>
            <a:r>
              <a:rPr lang="es-ES" sz="1200" i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Foco social</a:t>
            </a:r>
            <a:r>
              <a:rPr lang="es-ES" sz="1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). No muestran diferencias significativas respecto a autopromoción o apertura al cambio (</a:t>
            </a:r>
            <a:r>
              <a:rPr lang="es-ES" sz="1200" i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Foco personal</a:t>
            </a:r>
            <a:r>
              <a:rPr lang="es-ES" sz="1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).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s-ES" sz="1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Personas con mayor foco en </a:t>
            </a:r>
            <a:r>
              <a:rPr lang="es-ES" sz="12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autopromoción </a:t>
            </a:r>
            <a:r>
              <a:rPr lang="es-ES" sz="1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s-ES" sz="1200" i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self-enhancement</a:t>
            </a:r>
            <a:r>
              <a:rPr lang="es-ES" sz="1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 muestran una </a:t>
            </a:r>
            <a:r>
              <a:rPr lang="es-ES" sz="12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homofilia</a:t>
            </a:r>
            <a:r>
              <a:rPr lang="es-ES" sz="1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de valores acotada, así como un distanciamiento significativo de perfiles valóricos con </a:t>
            </a:r>
            <a:r>
              <a:rPr lang="es-ES" sz="1200" b="1" i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foco social </a:t>
            </a:r>
            <a:r>
              <a:rPr lang="es-ES" sz="1200" i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s-ES" sz="1200" i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self-transcendence</a:t>
            </a:r>
            <a:r>
              <a:rPr lang="es-ES" sz="1200" i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+ </a:t>
            </a:r>
            <a:r>
              <a:rPr lang="es-ES" sz="1200" i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conservation</a:t>
            </a:r>
            <a:r>
              <a:rPr lang="es-ES" sz="1200" i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).</a:t>
            </a:r>
          </a:p>
          <a:p>
            <a:pPr>
              <a:buFont typeface="Arial" panose="020B0604020202020204" pitchFamily="34" charset="0"/>
              <a:buChar char="•"/>
            </a:pPr>
            <a:endParaRPr lang="es-CL" sz="12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5EAB8B-EA2E-F831-A9AD-615FC8509B0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22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104398344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3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noProof="0" dirty="0">
                <a:latin typeface="Georgia"/>
                <a:ea typeface="Georgia"/>
                <a:cs typeface="Georgia"/>
                <a:sym typeface="Georgia"/>
              </a:rPr>
              <a:t>¡Gracias!</a:t>
            </a:r>
          </a:p>
        </p:txBody>
      </p:sp>
      <p:sp>
        <p:nvSpPr>
          <p:cNvPr id="202" name="Google Shape;202;p3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noProof="0" dirty="0">
                <a:latin typeface="Georgia"/>
                <a:ea typeface="Georgia"/>
                <a:cs typeface="Georgia"/>
                <a:sym typeface="Georgia"/>
              </a:rPr>
              <a:t>jiturra@bigsss.uni-bremen.de</a:t>
            </a:r>
          </a:p>
        </p:txBody>
      </p:sp>
      <p:sp>
        <p:nvSpPr>
          <p:cNvPr id="203" name="Google Shape;203;p3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t>23</a:t>
            </a:fld>
            <a:endParaRPr lang="en-US" noProof="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20D1BF-A0B3-D5D2-455F-BA4E59D93B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B47F2F3-5DD9-BD88-A63B-BBC409945C5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24</a:t>
            </a:fld>
            <a:endParaRPr lang="en"/>
          </a:p>
        </p:txBody>
      </p:sp>
      <p:pic>
        <p:nvPicPr>
          <p:cNvPr id="5" name="Picture 4" descr="A graph with different colored points&#10;&#10;AI-generated content may be incorrect.">
            <a:extLst>
              <a:ext uri="{FF2B5EF4-FFF2-40B4-BE49-F238E27FC236}">
                <a16:creationId xmlns:a16="http://schemas.microsoft.com/office/drawing/2014/main" id="{22A6F279-2E69-0416-5D85-5F7B445044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2975" y="443987"/>
            <a:ext cx="8638050" cy="43190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7179355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42ED56-6123-CB73-64DD-D78902EA78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05A92AB-6ADF-D804-95FE-4B6A4B2616DB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25</a:t>
            </a:fld>
            <a:endParaRPr lang="en"/>
          </a:p>
        </p:txBody>
      </p:sp>
      <p:pic>
        <p:nvPicPr>
          <p:cNvPr id="5" name="Picture 4" descr="A graph with different colored lines&#10;&#10;AI-generated content may be incorrect.">
            <a:extLst>
              <a:ext uri="{FF2B5EF4-FFF2-40B4-BE49-F238E27FC236}">
                <a16:creationId xmlns:a16="http://schemas.microsoft.com/office/drawing/2014/main" id="{7EB51803-F369-275A-E1DB-366ED6A673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2975" y="412237"/>
            <a:ext cx="8638050" cy="43190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170069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33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US" noProof="0" dirty="0"/>
          </a:p>
        </p:txBody>
      </p:sp>
      <p:sp>
        <p:nvSpPr>
          <p:cNvPr id="209" name="Google Shape;209;p33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US" noProof="0" dirty="0"/>
          </a:p>
        </p:txBody>
      </p:sp>
      <p:pic>
        <p:nvPicPr>
          <p:cNvPr id="210" name="Google Shape;210;p3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906318"/>
            <a:ext cx="9144000" cy="333086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1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45720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800"/>
              <a:buNone/>
            </a:pPr>
            <a:endParaRPr lang="en-US" sz="2000" i="1" noProof="0" dirty="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lvl="0" indent="0" algn="ctr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800"/>
              <a:buNone/>
            </a:pPr>
            <a:r>
              <a:rPr lang="en-US" sz="2000" i="1" noProof="0" dirty="0">
                <a:latin typeface="Times New Roman"/>
                <a:ea typeface="Times New Roman"/>
                <a:cs typeface="Times New Roman"/>
                <a:sym typeface="Times New Roman"/>
              </a:rPr>
              <a:t>What is the role of </a:t>
            </a:r>
            <a:r>
              <a:rPr lang="en-US" sz="2000" b="1" i="1" noProof="0" dirty="0">
                <a:latin typeface="Times New Roman"/>
                <a:ea typeface="Times New Roman"/>
                <a:cs typeface="Times New Roman"/>
                <a:sym typeface="Times New Roman"/>
              </a:rPr>
              <a:t>interpersonal networks</a:t>
            </a:r>
            <a:r>
              <a:rPr lang="en-US" sz="2000" i="1" noProof="0" dirty="0">
                <a:latin typeface="Times New Roman"/>
                <a:ea typeface="Times New Roman"/>
                <a:cs typeface="Times New Roman"/>
                <a:sym typeface="Times New Roman"/>
              </a:rPr>
              <a:t> in </a:t>
            </a:r>
            <a:r>
              <a:rPr lang="en-US" sz="2000" b="1" i="1" noProof="0" dirty="0">
                <a:latin typeface="Times New Roman"/>
                <a:ea typeface="Times New Roman"/>
                <a:cs typeface="Times New Roman"/>
                <a:sym typeface="Times New Roman"/>
              </a:rPr>
              <a:t>attitudes towards inequality</a:t>
            </a:r>
            <a:r>
              <a:rPr lang="en-US" sz="2000" i="1" noProof="0" dirty="0">
                <a:latin typeface="Times New Roman"/>
                <a:ea typeface="Times New Roman"/>
                <a:cs typeface="Times New Roman"/>
                <a:sym typeface="Times New Roman"/>
              </a:rPr>
              <a:t>?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endParaRPr lang="en-US" sz="2000" i="1" noProof="0" dirty="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SzPts val="1800"/>
              <a:buNone/>
            </a:pPr>
            <a:endParaRPr lang="en-US" sz="2000" i="1" noProof="0" dirty="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65" name="Google Shape;65;p1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en-US" noProof="0" dirty="0">
                <a:latin typeface="Georgia"/>
                <a:ea typeface="Georgia"/>
                <a:cs typeface="Georgia"/>
                <a:sym typeface="Georgia"/>
              </a:rPr>
              <a:t>Research question</a:t>
            </a: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Clr>
                <a:schemeClr val="dk1"/>
              </a:buClr>
              <a:buSzPct val="61111"/>
              <a:buFont typeface="Arial"/>
              <a:buNone/>
            </a:pPr>
            <a:endParaRPr lang="en-US" sz="1800" noProof="0" dirty="0">
              <a:solidFill>
                <a:schemeClr val="dk2"/>
              </a:solidFill>
              <a:latin typeface="Georgia"/>
              <a:ea typeface="Georgia"/>
              <a:cs typeface="Georgia"/>
              <a:sym typeface="Georgia"/>
            </a:endParaRPr>
          </a:p>
        </p:txBody>
      </p:sp>
      <p:sp>
        <p:nvSpPr>
          <p:cNvPr id="66" name="Google Shape;66;p1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t>27</a:t>
            </a:fld>
            <a:endParaRPr lang="en-US" noProof="0" dirty="0"/>
          </a:p>
        </p:txBody>
      </p:sp>
    </p:spTree>
  </p:cSld>
  <p:clrMapOvr>
    <a:masterClrMapping/>
  </p:clrMapOvr>
  <p:transition spd="med">
    <p:fade thruBlk="1"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5"/>
          <p:cNvSpPr txBox="1">
            <a:spLocks noGrp="1"/>
          </p:cNvSpPr>
          <p:nvPr>
            <p:ph type="title"/>
          </p:nvPr>
        </p:nvSpPr>
        <p:spPr>
          <a:xfrm>
            <a:off x="290760" y="56258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lang="en-US" noProof="0" dirty="0">
                <a:latin typeface="Times New Roman"/>
                <a:ea typeface="Times New Roman"/>
                <a:cs typeface="Times New Roman"/>
                <a:sym typeface="Times New Roman"/>
              </a:rPr>
              <a:t>Study 1</a:t>
            </a:r>
            <a:endParaRPr lang="en-US" noProof="0" dirty="0"/>
          </a:p>
        </p:txBody>
      </p:sp>
      <p:sp>
        <p:nvSpPr>
          <p:cNvPr id="72" name="Google Shape;72;p15"/>
          <p:cNvSpPr txBox="1">
            <a:spLocks noGrp="1"/>
          </p:cNvSpPr>
          <p:nvPr>
            <p:ph type="body" idx="1"/>
          </p:nvPr>
        </p:nvSpPr>
        <p:spPr>
          <a:xfrm>
            <a:off x="290760" y="1396580"/>
            <a:ext cx="2808000" cy="31794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dk1"/>
            </a:solidFill>
            <a:prstDash val="lgDash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1524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rPr lang="en-US" sz="1200" i="1" noProof="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Class-based network segregation, economic </a:t>
            </a:r>
            <a:r>
              <a:rPr lang="en-US" i="1" noProof="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</a:t>
            </a:r>
            <a:r>
              <a:rPr lang="en-US" sz="1200" i="1" noProof="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nequality and redistributive </a:t>
            </a:r>
            <a:r>
              <a:rPr lang="en-US" i="1" noProof="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</a:t>
            </a:r>
            <a:r>
              <a:rPr lang="en-US" sz="1200" i="1" noProof="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references across societies</a:t>
            </a:r>
            <a:endParaRPr lang="en-US" noProof="0" dirty="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1524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endParaRPr lang="en-US" noProof="0" dirty="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</a:pPr>
            <a:r>
              <a:rPr lang="en-US" b="1" noProof="0" dirty="0">
                <a:solidFill>
                  <a:srgbClr val="CC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Cross-national</a:t>
            </a:r>
            <a:r>
              <a:rPr lang="en-US" noProof="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comparison</a:t>
            </a:r>
            <a:endParaRPr lang="en-US" noProof="0" dirty="0"/>
          </a:p>
          <a:p>
            <a:pPr marL="45720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</a:pPr>
            <a:r>
              <a:rPr lang="en-US" noProof="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32.000 individuals, 31 countries</a:t>
            </a:r>
            <a:endParaRPr lang="en-US" noProof="0" dirty="0"/>
          </a:p>
          <a:p>
            <a:pPr marL="1524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endParaRPr lang="en-US" noProof="0" dirty="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1524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rPr lang="en-US" noProof="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R-gap:</a:t>
            </a:r>
            <a:endParaRPr lang="en-US" noProof="0" dirty="0"/>
          </a:p>
          <a:p>
            <a:pPr marL="45720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Times New Roman"/>
              <a:buChar char="-"/>
            </a:pPr>
            <a:r>
              <a:rPr lang="en-US" noProof="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class </a:t>
            </a:r>
            <a:r>
              <a:rPr lang="en-US" b="1" noProof="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segregation</a:t>
            </a:r>
            <a:r>
              <a:rPr lang="en-US" noProof="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in social networks influence redistributive preferences (RP)</a:t>
            </a:r>
            <a:endParaRPr lang="en-US" noProof="0" dirty="0"/>
          </a:p>
          <a:p>
            <a:pPr marL="45720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Times New Roman"/>
              <a:buChar char="-"/>
            </a:pPr>
            <a:r>
              <a:rPr lang="en-US" noProof="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Income inequality as moderator of </a:t>
            </a:r>
            <a:r>
              <a:rPr lang="en-US" b="1" noProof="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class relations</a:t>
            </a:r>
            <a:r>
              <a:rPr lang="en-US" noProof="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on RP</a:t>
            </a:r>
            <a:endParaRPr lang="en-US" noProof="0" dirty="0"/>
          </a:p>
          <a:p>
            <a:pPr marL="1524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endParaRPr lang="en-US" noProof="0" dirty="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endParaRPr lang="en-US" noProof="0" dirty="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1524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endParaRPr lang="en-US" noProof="0" dirty="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endParaRPr lang="en-US" noProof="0" dirty="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73" name="Google Shape;73;p15"/>
          <p:cNvSpPr txBox="1">
            <a:spLocks noGrp="1"/>
          </p:cNvSpPr>
          <p:nvPr>
            <p:ph type="sldNum" idx="12"/>
          </p:nvPr>
        </p:nvSpPr>
        <p:spPr>
          <a:xfrm>
            <a:off x="8451518" y="467019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t>28</a:t>
            </a:fld>
            <a:endParaRPr lang="en-US" noProof="0" dirty="0"/>
          </a:p>
        </p:txBody>
      </p:sp>
      <p:sp>
        <p:nvSpPr>
          <p:cNvPr id="74" name="Google Shape;74;p15"/>
          <p:cNvSpPr txBox="1"/>
          <p:nvPr/>
        </p:nvSpPr>
        <p:spPr>
          <a:xfrm>
            <a:off x="3241489" y="552788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</a:pPr>
            <a:r>
              <a:rPr lang="en-US" sz="2400" b="0" i="0" u="none" strike="noStrike" cap="none" noProof="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Study 2</a:t>
            </a:r>
            <a:endParaRPr lang="en-US" noProof="0" dirty="0"/>
          </a:p>
        </p:txBody>
      </p:sp>
      <p:sp>
        <p:nvSpPr>
          <p:cNvPr id="75" name="Google Shape;75;p15"/>
          <p:cNvSpPr txBox="1"/>
          <p:nvPr/>
        </p:nvSpPr>
        <p:spPr>
          <a:xfrm>
            <a:off x="3241489" y="1386788"/>
            <a:ext cx="2808000" cy="31794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dk1"/>
            </a:solidFill>
            <a:prstDash val="lgDash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15240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/>
              <a:buNone/>
            </a:pPr>
            <a:r>
              <a:rPr lang="en-US" sz="1200" b="0" i="1" u="none" strike="noStrike" cap="none" noProof="0" dirty="0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Changes </a:t>
            </a:r>
            <a:r>
              <a:rPr lang="en-US" sz="1200" i="1" noProof="0" dirty="0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network socioeconomic diversity </a:t>
            </a:r>
            <a:r>
              <a:rPr lang="en-US" sz="1200" b="0" i="1" u="none" strike="noStrike" cap="none" noProof="0" dirty="0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and </a:t>
            </a:r>
            <a:r>
              <a:rPr lang="en-US" sz="1200" i="1" noProof="0" dirty="0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market justice preferences in Chile</a:t>
            </a:r>
            <a:endParaRPr lang="en-US" sz="1200" b="0" i="0" u="none" strike="noStrike" cap="none" noProof="0" dirty="0">
              <a:solidFill>
                <a:schemeClr val="dk2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marR="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/>
              <a:buChar char="●"/>
            </a:pPr>
            <a:r>
              <a:rPr lang="en-US" sz="1200" b="1" i="0" u="none" strike="noStrike" cap="none" noProof="0" dirty="0">
                <a:solidFill>
                  <a:srgbClr val="CC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Longitudinal </a:t>
            </a:r>
            <a:r>
              <a:rPr lang="en-US" sz="1200" b="0" i="0" u="none" strike="noStrike" cap="none" noProof="0" dirty="0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panel design</a:t>
            </a:r>
            <a:endParaRPr lang="en-US" noProof="0" dirty="0"/>
          </a:p>
          <a:p>
            <a:pPr marL="457200" marR="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/>
              <a:buChar char="●"/>
            </a:pPr>
            <a:r>
              <a:rPr lang="en-US" sz="1200" b="0" i="0" u="none" strike="noStrike" cap="none" noProof="0" dirty="0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Case of Chile </a:t>
            </a:r>
            <a:endParaRPr lang="en-US" noProof="0" dirty="0"/>
          </a:p>
          <a:p>
            <a: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/>
              <a:buNone/>
            </a:pPr>
            <a:endParaRPr lang="en-US" sz="1200" b="0" i="0" u="none" strike="noStrike" cap="none" noProof="0" dirty="0">
              <a:solidFill>
                <a:schemeClr val="dk2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15240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/>
              <a:buNone/>
            </a:pPr>
            <a:r>
              <a:rPr lang="en-US" sz="1200" b="0" i="0" u="none" strike="noStrike" cap="none" noProof="0" dirty="0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R-gap:</a:t>
            </a:r>
            <a:endParaRPr lang="en-US" noProof="0" dirty="0"/>
          </a:p>
          <a:p>
            <a:pPr marL="457200" marR="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/>
              <a:buChar char="-"/>
            </a:pPr>
            <a:r>
              <a:rPr lang="en-US" sz="1200" b="0" i="0" u="none" strike="noStrike" cap="none" noProof="0" dirty="0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Individual </a:t>
            </a:r>
            <a:r>
              <a:rPr lang="en-US" sz="1200" b="1" i="0" u="none" strike="noStrike" cap="none" noProof="0" dirty="0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changes </a:t>
            </a:r>
            <a:r>
              <a:rPr lang="en-US" sz="1200" b="0" i="0" u="none" strike="noStrike" cap="none" noProof="0" dirty="0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on network composition cause changes on market justice preferences (e.g. education, health or pensions)</a:t>
            </a:r>
            <a:endParaRPr lang="en-US" noProof="0" dirty="0"/>
          </a:p>
        </p:txBody>
      </p:sp>
      <p:sp>
        <p:nvSpPr>
          <p:cNvPr id="76" name="Google Shape;76;p15"/>
          <p:cNvSpPr txBox="1"/>
          <p:nvPr/>
        </p:nvSpPr>
        <p:spPr>
          <a:xfrm>
            <a:off x="11259518" y="4660405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-US" sz="1000" b="0" i="0" u="none" strike="noStrike" cap="none" noProof="0" smtClean="0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28</a:t>
            </a:fld>
            <a:endParaRPr lang="en-US" sz="1000" b="0" i="0" u="none" strike="noStrike" cap="none" noProof="0" dirty="0">
              <a:solidFill>
                <a:schemeClr val="dk2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77" name="Google Shape;77;p15"/>
          <p:cNvSpPr txBox="1"/>
          <p:nvPr/>
        </p:nvSpPr>
        <p:spPr>
          <a:xfrm>
            <a:off x="6192218" y="552788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</a:pPr>
            <a:r>
              <a:rPr lang="en-US" sz="2400" b="0" i="0" u="none" strike="noStrike" cap="none" noProof="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Study 3</a:t>
            </a:r>
            <a:endParaRPr lang="en-US" noProof="0" dirty="0"/>
          </a:p>
        </p:txBody>
      </p:sp>
      <p:sp>
        <p:nvSpPr>
          <p:cNvPr id="78" name="Google Shape;78;p15"/>
          <p:cNvSpPr txBox="1"/>
          <p:nvPr/>
        </p:nvSpPr>
        <p:spPr>
          <a:xfrm>
            <a:off x="6185291" y="1386788"/>
            <a:ext cx="2808000" cy="31794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dk1"/>
            </a:solidFill>
            <a:prstDash val="lgDash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rmAutofit lnSpcReduction="10000"/>
          </a:bodyPr>
          <a:lstStyle/>
          <a:p>
            <a:pPr marL="15240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/>
              <a:buNone/>
            </a:pPr>
            <a:r>
              <a:rPr lang="en-US" sz="1200" b="0" i="1" u="none" strike="noStrike" cap="none" noProof="0" dirty="0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Reference groups and social solidarity: evidence from a comparative factorial survey in Chile and Germany</a:t>
            </a:r>
            <a:endParaRPr lang="en-US" noProof="0" dirty="0"/>
          </a:p>
          <a:p>
            <a:pPr marL="15240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/>
              <a:buNone/>
            </a:pPr>
            <a:endParaRPr lang="en-US" sz="1200" b="0" i="0" u="none" strike="noStrike" cap="none" noProof="0" dirty="0">
              <a:solidFill>
                <a:schemeClr val="dk2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marR="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CC0000"/>
              </a:buClr>
              <a:buSzPts val="1200"/>
              <a:buChar char="●"/>
            </a:pPr>
            <a:r>
              <a:rPr lang="en-US" sz="1200" b="1" noProof="0" dirty="0">
                <a:solidFill>
                  <a:srgbClr val="CC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V</a:t>
            </a:r>
            <a:r>
              <a:rPr lang="en-US" sz="1200" b="1" i="0" u="none" strike="noStrike" cap="none" noProof="0" dirty="0">
                <a:solidFill>
                  <a:srgbClr val="CC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ignette </a:t>
            </a:r>
            <a:r>
              <a:rPr lang="en-US" sz="1200" b="1" noProof="0" dirty="0">
                <a:solidFill>
                  <a:srgbClr val="CC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experiment</a:t>
            </a:r>
            <a:endParaRPr lang="en-US" b="1" noProof="0" dirty="0">
              <a:solidFill>
                <a:srgbClr val="CC0000"/>
              </a:solidFill>
            </a:endParaRPr>
          </a:p>
          <a:p>
            <a:pPr marL="457200" marR="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/>
              <a:buChar char="●"/>
            </a:pPr>
            <a:r>
              <a:rPr lang="en-US" sz="1200" noProof="0" dirty="0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Social cohesion attitudes in relation to</a:t>
            </a:r>
            <a:r>
              <a:rPr lang="en-US" sz="1200" b="0" i="0" u="none" strike="noStrike" cap="none" noProof="0" dirty="0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social groups</a:t>
            </a:r>
            <a:endParaRPr lang="en-US" noProof="0" dirty="0"/>
          </a:p>
          <a:p>
            <a:pPr marL="15240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/>
              <a:buNone/>
            </a:pPr>
            <a:endParaRPr lang="en-US" sz="1200" b="0" i="0" u="none" strike="noStrike" cap="none" noProof="0" dirty="0">
              <a:solidFill>
                <a:schemeClr val="dk2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15240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/>
              <a:buNone/>
            </a:pPr>
            <a:r>
              <a:rPr lang="en-US" sz="1200" b="0" i="0" u="none" strike="noStrike" cap="none" noProof="0" dirty="0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R-gap:</a:t>
            </a:r>
            <a:endParaRPr lang="en-US" noProof="0" dirty="0"/>
          </a:p>
          <a:p>
            <a:pPr marL="457200" marR="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/>
              <a:buChar char="-"/>
            </a:pPr>
            <a:r>
              <a:rPr lang="en-US" sz="1200" b="0" i="0" u="none" strike="noStrike" cap="none" noProof="0" dirty="0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Understand social solidarity (trust, </a:t>
            </a:r>
            <a:r>
              <a:rPr lang="en-US" sz="1200" b="0" i="0" u="none" strike="noStrike" cap="none" noProof="0" dirty="0" err="1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cooperation,</a:t>
            </a:r>
            <a:r>
              <a:rPr lang="en-US" sz="1200" noProof="0" dirty="0" err="1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conflict</a:t>
            </a:r>
            <a:r>
              <a:rPr lang="en-US" sz="1200" b="0" i="0" u="none" strike="noStrike" cap="none" noProof="0" dirty="0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) in </a:t>
            </a:r>
            <a:r>
              <a:rPr lang="en-US" sz="1200" b="1" i="0" u="none" strike="noStrike" cap="none" noProof="0" dirty="0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experimental  (comparative) </a:t>
            </a:r>
            <a:r>
              <a:rPr lang="en-US" sz="1200" b="0" i="0" u="none" strike="noStrike" cap="none" noProof="0" dirty="0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context how individuals react to diverse social groups (e.g. SES or ethnic, religion)</a:t>
            </a:r>
            <a:endParaRPr lang="en-US" noProof="0" dirty="0"/>
          </a:p>
          <a:p>
            <a:pPr marL="15240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/>
              <a:buNone/>
            </a:pPr>
            <a:endParaRPr lang="en-US" sz="1200" b="0" i="0" u="none" strike="noStrike" cap="none" noProof="0" dirty="0">
              <a:solidFill>
                <a:schemeClr val="dk2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79" name="Google Shape;79;p15"/>
          <p:cNvSpPr txBox="1"/>
          <p:nvPr/>
        </p:nvSpPr>
        <p:spPr>
          <a:xfrm>
            <a:off x="14352976" y="4660405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-US" sz="1000" b="0" i="0" u="none" strike="noStrike" cap="none" noProof="0" smtClean="0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28</a:t>
            </a:fld>
            <a:endParaRPr lang="en-US" sz="1000" b="0" i="0" u="none" strike="noStrike" cap="none" noProof="0" dirty="0">
              <a:solidFill>
                <a:schemeClr val="dk2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  <p:transition spd="slow">
    <p:pu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TextBox 46">
            <a:extLst>
              <a:ext uri="{FF2B5EF4-FFF2-40B4-BE49-F238E27FC236}">
                <a16:creationId xmlns:a16="http://schemas.microsoft.com/office/drawing/2014/main" id="{C9931CF8-F02C-0954-352E-3C48585135B6}"/>
              </a:ext>
            </a:extLst>
          </p:cNvPr>
          <p:cNvSpPr txBox="1"/>
          <p:nvPr/>
        </p:nvSpPr>
        <p:spPr>
          <a:xfrm>
            <a:off x="528320" y="2032000"/>
            <a:ext cx="5350932" cy="1384995"/>
          </a:xfrm>
          <a:prstGeom prst="rect">
            <a:avLst/>
          </a:prstGeom>
          <a:ln>
            <a:prstDash val="sysDot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s-CL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This</a:t>
            </a:r>
            <a:r>
              <a:rPr lang="es-CL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s-CL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study</a:t>
            </a:r>
            <a:r>
              <a:rPr lang="es-CL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endParaRPr lang="es-CL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s-CL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s-CL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s-CL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s-CL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5B581AD-3D76-B047-07A6-A183CF589AB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29</a:t>
            </a:fld>
            <a:endParaRPr lang="en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BCE2E96-C589-7EBD-3E3C-892D6743E3D0}"/>
              </a:ext>
            </a:extLst>
          </p:cNvPr>
          <p:cNvSpPr txBox="1"/>
          <p:nvPr/>
        </p:nvSpPr>
        <p:spPr>
          <a:xfrm>
            <a:off x="3713479" y="2648374"/>
            <a:ext cx="1733973" cy="52322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s-CL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Attitudes</a:t>
            </a:r>
            <a:r>
              <a:rPr lang="es-CL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and</a:t>
            </a:r>
          </a:p>
          <a:p>
            <a:r>
              <a:rPr lang="es-CL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Behaviors</a:t>
            </a:r>
            <a:endParaRPr lang="es-CL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9E96F2C-10C7-0D70-0D98-9D4B4CF8B55E}"/>
              </a:ext>
            </a:extLst>
          </p:cNvPr>
          <p:cNvSpPr txBox="1"/>
          <p:nvPr/>
        </p:nvSpPr>
        <p:spPr>
          <a:xfrm>
            <a:off x="741681" y="686647"/>
            <a:ext cx="1733973" cy="307777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s-CL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Structural</a:t>
            </a:r>
            <a:r>
              <a:rPr lang="es-CL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s-CL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parameters</a:t>
            </a:r>
            <a:endParaRPr lang="es-CL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36237E22-1DDE-4D4E-6A09-85AB865572CE}"/>
              </a:ext>
            </a:extLst>
          </p:cNvPr>
          <p:cNvCxnSpPr>
            <a:cxnSpLocks/>
            <a:stCxn id="9" idx="2"/>
            <a:endCxn id="5" idx="1"/>
          </p:cNvCxnSpPr>
          <p:nvPr/>
        </p:nvCxnSpPr>
        <p:spPr>
          <a:xfrm>
            <a:off x="1608668" y="994424"/>
            <a:ext cx="2104811" cy="1915560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4" name="Oval 23">
            <a:extLst>
              <a:ext uri="{FF2B5EF4-FFF2-40B4-BE49-F238E27FC236}">
                <a16:creationId xmlns:a16="http://schemas.microsoft.com/office/drawing/2014/main" id="{548D0691-4728-659F-AB43-18B5DD8BA13F}"/>
              </a:ext>
            </a:extLst>
          </p:cNvPr>
          <p:cNvSpPr/>
          <p:nvPr/>
        </p:nvSpPr>
        <p:spPr>
          <a:xfrm>
            <a:off x="6685279" y="357511"/>
            <a:ext cx="1605280" cy="966047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CL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Cohesion</a:t>
            </a:r>
            <a:endParaRPr lang="es-CL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F8D50FC4-E2A9-308E-23E4-6DC3296093B5}"/>
              </a:ext>
            </a:extLst>
          </p:cNvPr>
          <p:cNvCxnSpPr>
            <a:cxnSpLocks/>
            <a:stCxn id="5" idx="3"/>
            <a:endCxn id="24" idx="4"/>
          </p:cNvCxnSpPr>
          <p:nvPr/>
        </p:nvCxnSpPr>
        <p:spPr>
          <a:xfrm flipV="1">
            <a:off x="5447452" y="1323558"/>
            <a:ext cx="2040467" cy="1586426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8CBA71FC-1A37-60E1-20F1-5E575653A50E}"/>
              </a:ext>
            </a:extLst>
          </p:cNvPr>
          <p:cNvCxnSpPr>
            <a:cxnSpLocks/>
            <a:stCxn id="9" idx="3"/>
            <a:endCxn id="24" idx="2"/>
          </p:cNvCxnSpPr>
          <p:nvPr/>
        </p:nvCxnSpPr>
        <p:spPr>
          <a:xfrm flipV="1">
            <a:off x="2475654" y="840535"/>
            <a:ext cx="4209625" cy="1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B4B51116-0A09-948A-9476-F8D50D29F792}"/>
              </a:ext>
            </a:extLst>
          </p:cNvPr>
          <p:cNvSpPr txBox="1"/>
          <p:nvPr/>
        </p:nvSpPr>
        <p:spPr>
          <a:xfrm>
            <a:off x="741680" y="2648373"/>
            <a:ext cx="1733973" cy="52322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s-CL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Individual </a:t>
            </a:r>
            <a:r>
              <a:rPr lang="es-CL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parameters</a:t>
            </a:r>
            <a:endParaRPr lang="es-CL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EBF629DC-BB86-F0E1-D42C-5C9970A0AA05}"/>
              </a:ext>
            </a:extLst>
          </p:cNvPr>
          <p:cNvCxnSpPr>
            <a:cxnSpLocks/>
            <a:stCxn id="36" idx="3"/>
            <a:endCxn id="5" idx="1"/>
          </p:cNvCxnSpPr>
          <p:nvPr/>
        </p:nvCxnSpPr>
        <p:spPr>
          <a:xfrm>
            <a:off x="2475653" y="2909983"/>
            <a:ext cx="1237826" cy="1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56F5D1F6-61F5-84D4-B567-BCA2014E0E98}"/>
              </a:ext>
            </a:extLst>
          </p:cNvPr>
          <p:cNvCxnSpPr>
            <a:cxnSpLocks/>
            <a:stCxn id="9" idx="2"/>
            <a:endCxn id="36" idx="0"/>
          </p:cNvCxnSpPr>
          <p:nvPr/>
        </p:nvCxnSpPr>
        <p:spPr>
          <a:xfrm flipH="1">
            <a:off x="1608667" y="994424"/>
            <a:ext cx="1" cy="1653949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A3E31A86-1120-39A4-D871-F54E2AEF607E}"/>
              </a:ext>
            </a:extLst>
          </p:cNvPr>
          <p:cNvSpPr txBox="1"/>
          <p:nvPr/>
        </p:nvSpPr>
        <p:spPr>
          <a:xfrm>
            <a:off x="670558" y="3840480"/>
            <a:ext cx="7355840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Structural</a:t>
            </a:r>
            <a:r>
              <a:rPr lang="es-CL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s-CL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parameters</a:t>
            </a:r>
            <a:r>
              <a:rPr lang="es-CL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es-CL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Wealth</a:t>
            </a:r>
            <a:r>
              <a:rPr lang="es-CL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s-CL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Inequality</a:t>
            </a:r>
            <a:r>
              <a:rPr lang="es-CL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s-CL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Heterogeneity</a:t>
            </a:r>
            <a:r>
              <a:rPr lang="es-CL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s-CL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Polarization</a:t>
            </a:r>
            <a:r>
              <a:rPr lang="es-CL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s-CL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Consensus</a:t>
            </a:r>
            <a:r>
              <a:rPr lang="es-CL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r>
              <a:rPr lang="es-CL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Individual </a:t>
            </a:r>
            <a:r>
              <a:rPr lang="es-CL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parameters</a:t>
            </a:r>
            <a:r>
              <a:rPr lang="es-CL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Social </a:t>
            </a:r>
            <a:r>
              <a:rPr lang="es-CL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Class</a:t>
            </a:r>
            <a:r>
              <a:rPr lang="es-CL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s-CL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Religion</a:t>
            </a:r>
            <a:r>
              <a:rPr lang="es-CL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s-CL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Political</a:t>
            </a:r>
            <a:r>
              <a:rPr lang="es-CL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s-CL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Party</a:t>
            </a:r>
            <a:r>
              <a:rPr lang="es-CL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s-CL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Values</a:t>
            </a:r>
            <a:endParaRPr lang="es-CL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s-CL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Attitudes</a:t>
            </a:r>
            <a:r>
              <a:rPr lang="es-CL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and </a:t>
            </a:r>
            <a:r>
              <a:rPr lang="es-CL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Behavior</a:t>
            </a:r>
            <a:r>
              <a:rPr lang="es-CL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Trust, </a:t>
            </a:r>
            <a:r>
              <a:rPr lang="es-CL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Participation</a:t>
            </a:r>
            <a:r>
              <a:rPr lang="es-CL">
                <a:latin typeface="Times New Roman" panose="02020603050405020304" pitchFamily="18" charset="0"/>
                <a:cs typeface="Times New Roman" panose="02020603050405020304" pitchFamily="18" charset="0"/>
              </a:rPr>
              <a:t>, Networks</a:t>
            </a:r>
            <a:endParaRPr lang="es-CL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23249223"/>
      </p:ext>
    </p:extLst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2111</Words>
  <Application>Microsoft Office PowerPoint</Application>
  <PresentationFormat>On-screen Show (16:9)</PresentationFormat>
  <Paragraphs>217</Paragraphs>
  <Slides>29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3" baseType="lpstr">
      <vt:lpstr>Arial</vt:lpstr>
      <vt:lpstr>Georgia</vt:lpstr>
      <vt:lpstr>Times New Roman</vt:lpstr>
      <vt:lpstr>Simple Light</vt:lpstr>
      <vt:lpstr>  Características de los grupos sociales y cohesión social: Evidencia de un Experimento de Encuesta Factorial Comparativa en Chile y Alemania Social Groups Composition and Social Cohesion: Evidence from a Comparative Factorial Survey Experiment in Chile and Germany</vt:lpstr>
      <vt:lpstr>Colaboración </vt:lpstr>
      <vt:lpstr>Visiones teóricas sobre la cohesión social</vt:lpstr>
      <vt:lpstr>Fuerzas promotoras e inhibidoras de la cohesión</vt:lpstr>
      <vt:lpstr>Fuerzas promotoras e inhibidoras de la cohesión</vt:lpstr>
      <vt:lpstr>Fuerzas promotoras e inhibidoras de la cohesión</vt:lpstr>
      <vt:lpstr>¿Cómo afectan las características de los grupos sociales a la cohesión social?</vt:lpstr>
      <vt:lpstr>PowerPoint Presentation</vt:lpstr>
      <vt:lpstr>PowerPoint Presentation</vt:lpstr>
      <vt:lpstr>Experimento de encuesta factorial</vt:lpstr>
      <vt:lpstr>PowerPoint Presentation</vt:lpstr>
      <vt:lpstr>PowerPoint Presentation</vt:lpstr>
      <vt:lpstr>PowerPoint Presentation</vt:lpstr>
      <vt:lpstr>Resultados: los otros</vt:lpstr>
      <vt:lpstr>PowerPoint Presentation</vt:lpstr>
      <vt:lpstr>Resultados: los que son como yo</vt:lpstr>
      <vt:lpstr>PowerPoint Presentation</vt:lpstr>
      <vt:lpstr>PowerPoint Presentation</vt:lpstr>
      <vt:lpstr>PowerPoint Presentation</vt:lpstr>
      <vt:lpstr>PowerPoint Presentation</vt:lpstr>
      <vt:lpstr>Conclusiones </vt:lpstr>
      <vt:lpstr>Conclusiones</vt:lpstr>
      <vt:lpstr>¡Gracias!</vt:lpstr>
      <vt:lpstr>PowerPoint Presentation</vt:lpstr>
      <vt:lpstr>PowerPoint Presentation</vt:lpstr>
      <vt:lpstr>PowerPoint Presentation</vt:lpstr>
      <vt:lpstr>Research question </vt:lpstr>
      <vt:lpstr>Study 1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Iturra, Julio</cp:lastModifiedBy>
  <cp:revision>59</cp:revision>
  <dcterms:modified xsi:type="dcterms:W3CDTF">2026-05-07T08:57:05Z</dcterms:modified>
</cp:coreProperties>
</file>