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30"/>
  </p:notesMasterIdLst>
  <p:sldIdLst>
    <p:sldId id="256" r:id="rId2"/>
    <p:sldId id="259" r:id="rId3"/>
    <p:sldId id="260" r:id="rId4"/>
    <p:sldId id="314" r:id="rId5"/>
    <p:sldId id="317" r:id="rId6"/>
    <p:sldId id="315" r:id="rId7"/>
    <p:sldId id="316" r:id="rId8"/>
    <p:sldId id="326" r:id="rId9"/>
    <p:sldId id="297" r:id="rId10"/>
    <p:sldId id="265" r:id="rId11"/>
    <p:sldId id="266" r:id="rId12"/>
    <p:sldId id="294" r:id="rId13"/>
    <p:sldId id="308" r:id="rId14"/>
    <p:sldId id="268" r:id="rId15"/>
    <p:sldId id="269" r:id="rId16"/>
    <p:sldId id="313" r:id="rId17"/>
    <p:sldId id="318" r:id="rId18"/>
    <p:sldId id="319" r:id="rId19"/>
    <p:sldId id="321" r:id="rId20"/>
    <p:sldId id="322" r:id="rId21"/>
    <p:sldId id="307" r:id="rId22"/>
    <p:sldId id="323" r:id="rId23"/>
    <p:sldId id="275" r:id="rId24"/>
    <p:sldId id="324" r:id="rId25"/>
    <p:sldId id="325" r:id="rId26"/>
    <p:sldId id="276" r:id="rId27"/>
    <p:sldId id="257" r:id="rId28"/>
    <p:sldId id="258" r:id="rId2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Default Section" id="{E944F7FE-C5D1-441F-98D7-08F74BF82EC6}">
          <p14:sldIdLst>
            <p14:sldId id="256"/>
            <p14:sldId id="259"/>
            <p14:sldId id="260"/>
            <p14:sldId id="314"/>
            <p14:sldId id="317"/>
            <p14:sldId id="315"/>
            <p14:sldId id="316"/>
            <p14:sldId id="326"/>
            <p14:sldId id="297"/>
            <p14:sldId id="265"/>
            <p14:sldId id="266"/>
            <p14:sldId id="294"/>
            <p14:sldId id="308"/>
            <p14:sldId id="268"/>
            <p14:sldId id="269"/>
            <p14:sldId id="313"/>
            <p14:sldId id="318"/>
            <p14:sldId id="319"/>
            <p14:sldId id="321"/>
            <p14:sldId id="322"/>
            <p14:sldId id="307"/>
            <p14:sldId id="323"/>
            <p14:sldId id="275"/>
            <p14:sldId id="324"/>
            <p14:sldId id="325"/>
            <p14:sldId id="276"/>
            <p14:sldId id="257"/>
            <p14:sldId id="25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88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FC4"/>
    <a:srgbClr val="F876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9D81053-A4BA-4367-A853-4DE9199D8B26}" v="7" dt="2025-12-10T18:50:05.153"/>
  </p1510:revLst>
</p1510:revInfo>
</file>

<file path=ppt/tableStyles.xml><?xml version="1.0" encoding="utf-8"?>
<a:tblStyleLst xmlns:a="http://schemas.openxmlformats.org/drawingml/2006/main" def="{417090E2-8BA2-4DE9-9036-707C3FF0FA69}">
  <a:tblStyle styleId="{417090E2-8BA2-4DE9-9036-707C3FF0FA6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543" autoAdjust="0"/>
    <p:restoredTop sz="94660"/>
  </p:normalViewPr>
  <p:slideViewPr>
    <p:cSldViewPr snapToGrid="0">
      <p:cViewPr varScale="1">
        <p:scale>
          <a:sx n="141" d="100"/>
          <a:sy n="141" d="100"/>
        </p:scale>
        <p:origin x="462" y="108"/>
      </p:cViewPr>
      <p:guideLst>
        <p:guide orient="horz" pos="288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6/11/relationships/changesInfo" Target="changesInfos/changesInfo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lio César Iturra Sanhueza" userId="e2de3052-3501-452a-9806-eb4e3c41687c" providerId="ADAL" clId="{9573727F-4811-45D9-A52A-5B3A3BCA0CD9}"/>
    <pc:docChg chg="undo custSel addSld delSld modSld sldOrd modSection">
      <pc:chgData name="Julio César Iturra Sanhueza" userId="e2de3052-3501-452a-9806-eb4e3c41687c" providerId="ADAL" clId="{9573727F-4811-45D9-A52A-5B3A3BCA0CD9}" dt="2025-12-10T18:50:17.149" v="104" actId="478"/>
      <pc:docMkLst>
        <pc:docMk/>
      </pc:docMkLst>
      <pc:sldChg chg="modSp mod">
        <pc:chgData name="Julio César Iturra Sanhueza" userId="e2de3052-3501-452a-9806-eb4e3c41687c" providerId="ADAL" clId="{9573727F-4811-45D9-A52A-5B3A3BCA0CD9}" dt="2025-12-10T18:47:19.319" v="3" actId="27636"/>
        <pc:sldMkLst>
          <pc:docMk/>
          <pc:sldMk cId="0" sldId="268"/>
        </pc:sldMkLst>
        <pc:spChg chg="mod">
          <ac:chgData name="Julio César Iturra Sanhueza" userId="e2de3052-3501-452a-9806-eb4e3c41687c" providerId="ADAL" clId="{9573727F-4811-45D9-A52A-5B3A3BCA0CD9}" dt="2025-12-10T18:47:19.319" v="3" actId="27636"/>
          <ac:spMkLst>
            <pc:docMk/>
            <pc:sldMk cId="0" sldId="268"/>
            <ac:spMk id="157" creationId="{00000000-0000-0000-0000-000000000000}"/>
          </ac:spMkLst>
        </pc:spChg>
      </pc:sldChg>
      <pc:sldChg chg="addSp delSp modSp del mod">
        <pc:chgData name="Julio César Iturra Sanhueza" userId="e2de3052-3501-452a-9806-eb4e3c41687c" providerId="ADAL" clId="{9573727F-4811-45D9-A52A-5B3A3BCA0CD9}" dt="2025-12-10T18:50:03.523" v="93" actId="47"/>
        <pc:sldMkLst>
          <pc:docMk/>
          <pc:sldMk cId="0" sldId="291"/>
        </pc:sldMkLst>
        <pc:spChg chg="mod">
          <ac:chgData name="Julio César Iturra Sanhueza" userId="e2de3052-3501-452a-9806-eb4e3c41687c" providerId="ADAL" clId="{9573727F-4811-45D9-A52A-5B3A3BCA0CD9}" dt="2025-12-10T18:49:46.470" v="70" actId="1035"/>
          <ac:spMkLst>
            <pc:docMk/>
            <pc:sldMk cId="0" sldId="291"/>
            <ac:spMk id="2" creationId="{B3D491B1-A7E8-3C25-A082-803379E1A9BD}"/>
          </ac:spMkLst>
        </pc:spChg>
        <pc:spChg chg="mod topLvl">
          <ac:chgData name="Julio César Iturra Sanhueza" userId="e2de3052-3501-452a-9806-eb4e3c41687c" providerId="ADAL" clId="{9573727F-4811-45D9-A52A-5B3A3BCA0CD9}" dt="2025-12-10T18:49:46.470" v="70" actId="1035"/>
          <ac:spMkLst>
            <pc:docMk/>
            <pc:sldMk cId="0" sldId="291"/>
            <ac:spMk id="3" creationId="{1AFC7972-1E5B-9311-49EA-F3921876BCFC}"/>
          </ac:spMkLst>
        </pc:spChg>
        <pc:spChg chg="mod topLvl">
          <ac:chgData name="Julio César Iturra Sanhueza" userId="e2de3052-3501-452a-9806-eb4e3c41687c" providerId="ADAL" clId="{9573727F-4811-45D9-A52A-5B3A3BCA0CD9}" dt="2025-12-10T18:49:32.286" v="32" actId="165"/>
          <ac:spMkLst>
            <pc:docMk/>
            <pc:sldMk cId="0" sldId="291"/>
            <ac:spMk id="4" creationId="{D440E6DD-7272-0CAD-1101-A969B049B6A4}"/>
          </ac:spMkLst>
        </pc:spChg>
        <pc:spChg chg="mod">
          <ac:chgData name="Julio César Iturra Sanhueza" userId="e2de3052-3501-452a-9806-eb4e3c41687c" providerId="ADAL" clId="{9573727F-4811-45D9-A52A-5B3A3BCA0CD9}" dt="2025-12-10T18:49:46.470" v="70" actId="1035"/>
          <ac:spMkLst>
            <pc:docMk/>
            <pc:sldMk cId="0" sldId="291"/>
            <ac:spMk id="5" creationId="{2E02EE1C-69B4-A556-A5EF-AF84F79286E8}"/>
          </ac:spMkLst>
        </pc:spChg>
        <pc:spChg chg="mod">
          <ac:chgData name="Julio César Iturra Sanhueza" userId="e2de3052-3501-452a-9806-eb4e3c41687c" providerId="ADAL" clId="{9573727F-4811-45D9-A52A-5B3A3BCA0CD9}" dt="2025-12-10T18:48:55.411" v="17" actId="1076"/>
          <ac:spMkLst>
            <pc:docMk/>
            <pc:sldMk cId="0" sldId="291"/>
            <ac:spMk id="6" creationId="{763B3A31-DA82-E19E-4EC4-4FB1A598E75A}"/>
          </ac:spMkLst>
        </pc:spChg>
        <pc:spChg chg="mod">
          <ac:chgData name="Julio César Iturra Sanhueza" userId="e2de3052-3501-452a-9806-eb4e3c41687c" providerId="ADAL" clId="{9573727F-4811-45D9-A52A-5B3A3BCA0CD9}" dt="2025-12-10T18:48:37.548" v="13" actId="14100"/>
          <ac:spMkLst>
            <pc:docMk/>
            <pc:sldMk cId="0" sldId="291"/>
            <ac:spMk id="7" creationId="{6C9D862A-4998-1E08-1501-6C38C0BB5B6B}"/>
          </ac:spMkLst>
        </pc:spChg>
        <pc:spChg chg="mod">
          <ac:chgData name="Julio César Iturra Sanhueza" userId="e2de3052-3501-452a-9806-eb4e3c41687c" providerId="ADAL" clId="{9573727F-4811-45D9-A52A-5B3A3BCA0CD9}" dt="2025-12-10T18:48:55.411" v="17" actId="1076"/>
          <ac:spMkLst>
            <pc:docMk/>
            <pc:sldMk cId="0" sldId="291"/>
            <ac:spMk id="8" creationId="{28E93C0A-A96C-5138-F6E6-AB2C56421F1C}"/>
          </ac:spMkLst>
        </pc:spChg>
        <pc:spChg chg="mod topLvl">
          <ac:chgData name="Julio César Iturra Sanhueza" userId="e2de3052-3501-452a-9806-eb4e3c41687c" providerId="ADAL" clId="{9573727F-4811-45D9-A52A-5B3A3BCA0CD9}" dt="2025-12-10T18:49:46.470" v="70" actId="1035"/>
          <ac:spMkLst>
            <pc:docMk/>
            <pc:sldMk cId="0" sldId="291"/>
            <ac:spMk id="9" creationId="{5FE3A255-D2E8-C9F0-D8CD-21BE68A4A621}"/>
          </ac:spMkLst>
        </pc:spChg>
        <pc:spChg chg="mod">
          <ac:chgData name="Julio César Iturra Sanhueza" userId="e2de3052-3501-452a-9806-eb4e3c41687c" providerId="ADAL" clId="{9573727F-4811-45D9-A52A-5B3A3BCA0CD9}" dt="2025-12-10T18:49:46.470" v="70" actId="1035"/>
          <ac:spMkLst>
            <pc:docMk/>
            <pc:sldMk cId="0" sldId="291"/>
            <ac:spMk id="25" creationId="{4C476F48-9B3D-6600-A216-979BBA61B66C}"/>
          </ac:spMkLst>
        </pc:spChg>
        <pc:spChg chg="mod">
          <ac:chgData name="Julio César Iturra Sanhueza" userId="e2de3052-3501-452a-9806-eb4e3c41687c" providerId="ADAL" clId="{9573727F-4811-45D9-A52A-5B3A3BCA0CD9}" dt="2025-12-10T18:49:46.470" v="70" actId="1035"/>
          <ac:spMkLst>
            <pc:docMk/>
            <pc:sldMk cId="0" sldId="291"/>
            <ac:spMk id="75" creationId="{7B4AD257-54DC-E013-7730-02FE7A86F7D7}"/>
          </ac:spMkLst>
        </pc:spChg>
        <pc:spChg chg="mod">
          <ac:chgData name="Julio César Iturra Sanhueza" userId="e2de3052-3501-452a-9806-eb4e3c41687c" providerId="ADAL" clId="{9573727F-4811-45D9-A52A-5B3A3BCA0CD9}" dt="2025-12-10T18:49:46.470" v="70" actId="1035"/>
          <ac:spMkLst>
            <pc:docMk/>
            <pc:sldMk cId="0" sldId="291"/>
            <ac:spMk id="76" creationId="{A5A3152A-F1F9-16AD-F11D-832855209A10}"/>
          </ac:spMkLst>
        </pc:spChg>
        <pc:spChg chg="mod">
          <ac:chgData name="Julio César Iturra Sanhueza" userId="e2de3052-3501-452a-9806-eb4e3c41687c" providerId="ADAL" clId="{9573727F-4811-45D9-A52A-5B3A3BCA0CD9}" dt="2025-12-10T18:49:46.470" v="70" actId="1035"/>
          <ac:spMkLst>
            <pc:docMk/>
            <pc:sldMk cId="0" sldId="291"/>
            <ac:spMk id="77" creationId="{9EEC3144-C7D2-3728-415C-941F7442E8B8}"/>
          </ac:spMkLst>
        </pc:spChg>
        <pc:spChg chg="mod">
          <ac:chgData name="Julio César Iturra Sanhueza" userId="e2de3052-3501-452a-9806-eb4e3c41687c" providerId="ADAL" clId="{9573727F-4811-45D9-A52A-5B3A3BCA0CD9}" dt="2025-12-10T18:48:39.288" v="15" actId="14100"/>
          <ac:spMkLst>
            <pc:docMk/>
            <pc:sldMk cId="0" sldId="291"/>
            <ac:spMk id="78" creationId="{4F2BCAEB-FB48-4C92-B6F8-42243079C5CA}"/>
          </ac:spMkLst>
        </pc:spChg>
        <pc:spChg chg="mod">
          <ac:chgData name="Julio César Iturra Sanhueza" userId="e2de3052-3501-452a-9806-eb4e3c41687c" providerId="ADAL" clId="{9573727F-4811-45D9-A52A-5B3A3BCA0CD9}" dt="2025-12-10T18:49:46.470" v="70" actId="1035"/>
          <ac:spMkLst>
            <pc:docMk/>
            <pc:sldMk cId="0" sldId="291"/>
            <ac:spMk id="79" creationId="{3F318A84-E20F-2BC2-6C77-14D0187E0BB8}"/>
          </ac:spMkLst>
        </pc:spChg>
        <pc:spChg chg="del mod">
          <ac:chgData name="Julio César Iturra Sanhueza" userId="e2de3052-3501-452a-9806-eb4e3c41687c" providerId="ADAL" clId="{9573727F-4811-45D9-A52A-5B3A3BCA0CD9}" dt="2025-12-10T18:47:39.114" v="7" actId="478"/>
          <ac:spMkLst>
            <pc:docMk/>
            <pc:sldMk cId="0" sldId="291"/>
            <ac:spMk id="127" creationId="{00000000-0000-0000-0000-000000000000}"/>
          </ac:spMkLst>
        </pc:spChg>
        <pc:spChg chg="mod">
          <ac:chgData name="Julio César Iturra Sanhueza" userId="e2de3052-3501-452a-9806-eb4e3c41687c" providerId="ADAL" clId="{9573727F-4811-45D9-A52A-5B3A3BCA0CD9}" dt="2025-12-10T18:49:46.470" v="70" actId="1035"/>
          <ac:spMkLst>
            <pc:docMk/>
            <pc:sldMk cId="0" sldId="291"/>
            <ac:spMk id="128" creationId="{00000000-0000-0000-0000-000000000000}"/>
          </ac:spMkLst>
        </pc:spChg>
        <pc:grpChg chg="add del mod">
          <ac:chgData name="Julio César Iturra Sanhueza" userId="e2de3052-3501-452a-9806-eb4e3c41687c" providerId="ADAL" clId="{9573727F-4811-45D9-A52A-5B3A3BCA0CD9}" dt="2025-12-10T18:49:32.286" v="32" actId="165"/>
          <ac:grpSpMkLst>
            <pc:docMk/>
            <pc:sldMk cId="0" sldId="291"/>
            <ac:grpSpMk id="10" creationId="{2E97173F-1277-E355-7194-DE1AD43083E7}"/>
          </ac:grpSpMkLst>
        </pc:grpChg>
        <pc:cxnChg chg="mod">
          <ac:chgData name="Julio César Iturra Sanhueza" userId="e2de3052-3501-452a-9806-eb4e3c41687c" providerId="ADAL" clId="{9573727F-4811-45D9-A52A-5B3A3BCA0CD9}" dt="2025-12-10T18:49:19.712" v="28" actId="1076"/>
          <ac:cxnSpMkLst>
            <pc:docMk/>
            <pc:sldMk cId="0" sldId="291"/>
            <ac:cxnSpMk id="37" creationId="{3DDE7B43-35A2-1A84-B515-705DFC87BD0F}"/>
          </ac:cxnSpMkLst>
        </pc:cxnChg>
      </pc:sldChg>
      <pc:sldChg chg="delSp modSp mod">
        <pc:chgData name="Julio César Iturra Sanhueza" userId="e2de3052-3501-452a-9806-eb4e3c41687c" providerId="ADAL" clId="{9573727F-4811-45D9-A52A-5B3A3BCA0CD9}" dt="2025-12-10T18:49:57.087" v="92" actId="1036"/>
        <pc:sldMkLst>
          <pc:docMk/>
          <pc:sldMk cId="3351718079" sldId="297"/>
        </pc:sldMkLst>
        <pc:spChg chg="mod">
          <ac:chgData name="Julio César Iturra Sanhueza" userId="e2de3052-3501-452a-9806-eb4e3c41687c" providerId="ADAL" clId="{9573727F-4811-45D9-A52A-5B3A3BCA0CD9}" dt="2025-12-10T18:49:57.087" v="92" actId="1036"/>
          <ac:spMkLst>
            <pc:docMk/>
            <pc:sldMk cId="3351718079" sldId="297"/>
            <ac:spMk id="2" creationId="{39C8F8B9-C6E2-1BCB-4655-4DB4F8F40041}"/>
          </ac:spMkLst>
        </pc:spChg>
        <pc:spChg chg="mod">
          <ac:chgData name="Julio César Iturra Sanhueza" userId="e2de3052-3501-452a-9806-eb4e3c41687c" providerId="ADAL" clId="{9573727F-4811-45D9-A52A-5B3A3BCA0CD9}" dt="2025-12-10T18:49:57.087" v="92" actId="1036"/>
          <ac:spMkLst>
            <pc:docMk/>
            <pc:sldMk cId="3351718079" sldId="297"/>
            <ac:spMk id="6" creationId="{CAFE6412-0B96-376C-EF93-29FBFDA9B487}"/>
          </ac:spMkLst>
        </pc:spChg>
        <pc:spChg chg="mod">
          <ac:chgData name="Julio César Iturra Sanhueza" userId="e2de3052-3501-452a-9806-eb4e3c41687c" providerId="ADAL" clId="{9573727F-4811-45D9-A52A-5B3A3BCA0CD9}" dt="2025-12-10T18:49:57.087" v="92" actId="1036"/>
          <ac:spMkLst>
            <pc:docMk/>
            <pc:sldMk cId="3351718079" sldId="297"/>
            <ac:spMk id="7" creationId="{295AEBC4-4D07-2974-7627-5CA5410FDBC9}"/>
          </ac:spMkLst>
        </pc:spChg>
        <pc:spChg chg="mod">
          <ac:chgData name="Julio César Iturra Sanhueza" userId="e2de3052-3501-452a-9806-eb4e3c41687c" providerId="ADAL" clId="{9573727F-4811-45D9-A52A-5B3A3BCA0CD9}" dt="2025-12-10T18:49:57.087" v="92" actId="1036"/>
          <ac:spMkLst>
            <pc:docMk/>
            <pc:sldMk cId="3351718079" sldId="297"/>
            <ac:spMk id="25" creationId="{3B5390AC-E6A1-5AD6-97AF-5424C10FEAC1}"/>
          </ac:spMkLst>
        </pc:spChg>
        <pc:spChg chg="mod">
          <ac:chgData name="Julio César Iturra Sanhueza" userId="e2de3052-3501-452a-9806-eb4e3c41687c" providerId="ADAL" clId="{9573727F-4811-45D9-A52A-5B3A3BCA0CD9}" dt="2025-12-10T18:49:57.087" v="92" actId="1036"/>
          <ac:spMkLst>
            <pc:docMk/>
            <pc:sldMk cId="3351718079" sldId="297"/>
            <ac:spMk id="28" creationId="{25DFDE2A-CC59-D81A-8634-A7CC9DD74B48}"/>
          </ac:spMkLst>
        </pc:spChg>
        <pc:spChg chg="mod">
          <ac:chgData name="Julio César Iturra Sanhueza" userId="e2de3052-3501-452a-9806-eb4e3c41687c" providerId="ADAL" clId="{9573727F-4811-45D9-A52A-5B3A3BCA0CD9}" dt="2025-12-10T18:49:57.087" v="92" actId="1036"/>
          <ac:spMkLst>
            <pc:docMk/>
            <pc:sldMk cId="3351718079" sldId="297"/>
            <ac:spMk id="38" creationId="{C6FE5CC8-7129-B667-98A3-AC2E8BD4700D}"/>
          </ac:spMkLst>
        </pc:spChg>
        <pc:spChg chg="mod">
          <ac:chgData name="Julio César Iturra Sanhueza" userId="e2de3052-3501-452a-9806-eb4e3c41687c" providerId="ADAL" clId="{9573727F-4811-45D9-A52A-5B3A3BCA0CD9}" dt="2025-12-10T18:49:57.087" v="92" actId="1036"/>
          <ac:spMkLst>
            <pc:docMk/>
            <pc:sldMk cId="3351718079" sldId="297"/>
            <ac:spMk id="39" creationId="{749F3221-1C39-1578-1B5F-2896545C3069}"/>
          </ac:spMkLst>
        </pc:spChg>
        <pc:spChg chg="mod">
          <ac:chgData name="Julio César Iturra Sanhueza" userId="e2de3052-3501-452a-9806-eb4e3c41687c" providerId="ADAL" clId="{9573727F-4811-45D9-A52A-5B3A3BCA0CD9}" dt="2025-12-10T18:49:57.087" v="92" actId="1036"/>
          <ac:spMkLst>
            <pc:docMk/>
            <pc:sldMk cId="3351718079" sldId="297"/>
            <ac:spMk id="50" creationId="{6F2A4285-B47F-6E19-682F-FE16BF761B69}"/>
          </ac:spMkLst>
        </pc:spChg>
        <pc:spChg chg="mod">
          <ac:chgData name="Julio César Iturra Sanhueza" userId="e2de3052-3501-452a-9806-eb4e3c41687c" providerId="ADAL" clId="{9573727F-4811-45D9-A52A-5B3A3BCA0CD9}" dt="2025-12-10T18:49:57.087" v="92" actId="1036"/>
          <ac:spMkLst>
            <pc:docMk/>
            <pc:sldMk cId="3351718079" sldId="297"/>
            <ac:spMk id="52" creationId="{4295B050-5046-37BE-50D0-A0C678689BD8}"/>
          </ac:spMkLst>
        </pc:spChg>
        <pc:spChg chg="mod">
          <ac:chgData name="Julio César Iturra Sanhueza" userId="e2de3052-3501-452a-9806-eb4e3c41687c" providerId="ADAL" clId="{9573727F-4811-45D9-A52A-5B3A3BCA0CD9}" dt="2025-12-10T18:49:57.087" v="92" actId="1036"/>
          <ac:spMkLst>
            <pc:docMk/>
            <pc:sldMk cId="3351718079" sldId="297"/>
            <ac:spMk id="53" creationId="{9DDA89A9-1478-69F0-18DF-4F01CC408278}"/>
          </ac:spMkLst>
        </pc:spChg>
        <pc:spChg chg="del mod">
          <ac:chgData name="Julio César Iturra Sanhueza" userId="e2de3052-3501-452a-9806-eb4e3c41687c" providerId="ADAL" clId="{9573727F-4811-45D9-A52A-5B3A3BCA0CD9}" dt="2025-12-10T18:47:43.748" v="9" actId="478"/>
          <ac:spMkLst>
            <pc:docMk/>
            <pc:sldMk cId="3351718079" sldId="297"/>
            <ac:spMk id="127" creationId="{7EAFAAE5-346D-74F7-4723-3A99CD614ECF}"/>
          </ac:spMkLst>
        </pc:spChg>
        <pc:spChg chg="mod">
          <ac:chgData name="Julio César Iturra Sanhueza" userId="e2de3052-3501-452a-9806-eb4e3c41687c" providerId="ADAL" clId="{9573727F-4811-45D9-A52A-5B3A3BCA0CD9}" dt="2025-12-10T18:47:33.758" v="5" actId="6549"/>
          <ac:spMkLst>
            <pc:docMk/>
            <pc:sldMk cId="3351718079" sldId="297"/>
            <ac:spMk id="128" creationId="{E1487194-D584-2E1C-ED70-989ACBCD7F0D}"/>
          </ac:spMkLst>
        </pc:spChg>
      </pc:sldChg>
      <pc:sldChg chg="delSp modSp add mod ord">
        <pc:chgData name="Julio César Iturra Sanhueza" userId="e2de3052-3501-452a-9806-eb4e3c41687c" providerId="ADAL" clId="{9573727F-4811-45D9-A52A-5B3A3BCA0CD9}" dt="2025-12-10T18:50:17.149" v="104" actId="478"/>
        <pc:sldMkLst>
          <pc:docMk/>
          <pc:sldMk cId="1180629799" sldId="326"/>
        </pc:sldMkLst>
        <pc:spChg chg="del">
          <ac:chgData name="Julio César Iturra Sanhueza" userId="e2de3052-3501-452a-9806-eb4e3c41687c" providerId="ADAL" clId="{9573727F-4811-45D9-A52A-5B3A3BCA0CD9}" dt="2025-12-10T18:50:12.961" v="99" actId="478"/>
          <ac:spMkLst>
            <pc:docMk/>
            <pc:sldMk cId="1180629799" sldId="326"/>
            <ac:spMk id="28" creationId="{0F77D9E8-6C59-D02B-9879-F09687927881}"/>
          </ac:spMkLst>
        </pc:spChg>
        <pc:spChg chg="del">
          <ac:chgData name="Julio César Iturra Sanhueza" userId="e2de3052-3501-452a-9806-eb4e3c41687c" providerId="ADAL" clId="{9573727F-4811-45D9-A52A-5B3A3BCA0CD9}" dt="2025-12-10T18:50:15.562" v="102" actId="478"/>
          <ac:spMkLst>
            <pc:docMk/>
            <pc:sldMk cId="1180629799" sldId="326"/>
            <ac:spMk id="38" creationId="{F4BB2AF5-E318-66D2-F801-5EACDE76C562}"/>
          </ac:spMkLst>
        </pc:spChg>
        <pc:spChg chg="del">
          <ac:chgData name="Julio César Iturra Sanhueza" userId="e2de3052-3501-452a-9806-eb4e3c41687c" providerId="ADAL" clId="{9573727F-4811-45D9-A52A-5B3A3BCA0CD9}" dt="2025-12-10T18:50:14.451" v="101" actId="478"/>
          <ac:spMkLst>
            <pc:docMk/>
            <pc:sldMk cId="1180629799" sldId="326"/>
            <ac:spMk id="39" creationId="{DC47E2A0-FA2F-9D64-9973-D0A5E0CA2C58}"/>
          </ac:spMkLst>
        </pc:spChg>
        <pc:spChg chg="del">
          <ac:chgData name="Julio César Iturra Sanhueza" userId="e2de3052-3501-452a-9806-eb4e3c41687c" providerId="ADAL" clId="{9573727F-4811-45D9-A52A-5B3A3BCA0CD9}" dt="2025-12-10T18:50:13.738" v="100" actId="478"/>
          <ac:spMkLst>
            <pc:docMk/>
            <pc:sldMk cId="1180629799" sldId="326"/>
            <ac:spMk id="40" creationId="{6CAA9318-6AE0-7AC9-FF2B-B251032FC370}"/>
          </ac:spMkLst>
        </pc:spChg>
        <pc:spChg chg="del">
          <ac:chgData name="Julio César Iturra Sanhueza" userId="e2de3052-3501-452a-9806-eb4e3c41687c" providerId="ADAL" clId="{9573727F-4811-45D9-A52A-5B3A3BCA0CD9}" dt="2025-12-10T18:50:16.606" v="103" actId="478"/>
          <ac:spMkLst>
            <pc:docMk/>
            <pc:sldMk cId="1180629799" sldId="326"/>
            <ac:spMk id="41" creationId="{A78F3012-5F21-26B8-544A-2C1DB59C961E}"/>
          </ac:spMkLst>
        </pc:spChg>
        <pc:spChg chg="del">
          <ac:chgData name="Julio César Iturra Sanhueza" userId="e2de3052-3501-452a-9806-eb4e3c41687c" providerId="ADAL" clId="{9573727F-4811-45D9-A52A-5B3A3BCA0CD9}" dt="2025-12-10T18:50:17.149" v="104" actId="478"/>
          <ac:spMkLst>
            <pc:docMk/>
            <pc:sldMk cId="1180629799" sldId="326"/>
            <ac:spMk id="42" creationId="{3F70D75A-EBFB-65DE-E50B-A5FD3063CC86}"/>
          </ac:spMkLst>
        </pc:spChg>
        <pc:spChg chg="del">
          <ac:chgData name="Julio César Iturra Sanhueza" userId="e2de3052-3501-452a-9806-eb4e3c41687c" providerId="ADAL" clId="{9573727F-4811-45D9-A52A-5B3A3BCA0CD9}" dt="2025-12-10T18:50:10.437" v="98" actId="478"/>
          <ac:spMkLst>
            <pc:docMk/>
            <pc:sldMk cId="1180629799" sldId="326"/>
            <ac:spMk id="60" creationId="{D32CACD2-1ED3-9DDF-AABA-00EDA6DB4ADB}"/>
          </ac:spMkLst>
        </pc:spChg>
        <pc:cxnChg chg="del mod">
          <ac:chgData name="Julio César Iturra Sanhueza" userId="e2de3052-3501-452a-9806-eb4e3c41687c" providerId="ADAL" clId="{9573727F-4811-45D9-A52A-5B3A3BCA0CD9}" dt="2025-12-10T18:50:08.950" v="97" actId="478"/>
          <ac:cxnSpMkLst>
            <pc:docMk/>
            <pc:sldMk cId="1180629799" sldId="326"/>
            <ac:cxnSpMk id="33" creationId="{38A5BE96-DDBF-0AF2-B2D8-AE2551B67635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0c865d1a1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0c865d1a1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250a27e95c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250a27e95c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24f29664ea_1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24f29664ea_1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24f42fc18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24f42fc18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>
          <a:extLst>
            <a:ext uri="{FF2B5EF4-FFF2-40B4-BE49-F238E27FC236}">
              <a16:creationId xmlns:a16="http://schemas.microsoft.com/office/drawing/2014/main" id="{9AF5370A-49CC-2D23-3D88-80570855A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24f42fc18a_0_0:notes">
            <a:extLst>
              <a:ext uri="{FF2B5EF4-FFF2-40B4-BE49-F238E27FC236}">
                <a16:creationId xmlns:a16="http://schemas.microsoft.com/office/drawing/2014/main" id="{FBA9202B-635E-E2A3-FE1A-445CC1B44A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24f42fc18a_0_0:notes">
            <a:extLst>
              <a:ext uri="{FF2B5EF4-FFF2-40B4-BE49-F238E27FC236}">
                <a16:creationId xmlns:a16="http://schemas.microsoft.com/office/drawing/2014/main" id="{FB7DF570-FFA1-406A-E6EB-56395C0CF0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400854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24f42fc18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24f42fc18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0c865d1a12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0c865d1a12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>
          <a:extLst>
            <a:ext uri="{FF2B5EF4-FFF2-40B4-BE49-F238E27FC236}">
              <a16:creationId xmlns:a16="http://schemas.microsoft.com/office/drawing/2014/main" id="{45609BEB-9945-F238-AD07-72896E0F7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24f42fc18a_0_48:notes">
            <a:extLst>
              <a:ext uri="{FF2B5EF4-FFF2-40B4-BE49-F238E27FC236}">
                <a16:creationId xmlns:a16="http://schemas.microsoft.com/office/drawing/2014/main" id="{475D8A41-9AA2-35C5-1659-790B61811B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24f42fc18a_0_48:notes">
            <a:extLst>
              <a:ext uri="{FF2B5EF4-FFF2-40B4-BE49-F238E27FC236}">
                <a16:creationId xmlns:a16="http://schemas.microsoft.com/office/drawing/2014/main" id="{5CA1ABBA-A8FD-3221-AE67-4FD8C71C15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60061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>
          <a:extLst>
            <a:ext uri="{FF2B5EF4-FFF2-40B4-BE49-F238E27FC236}">
              <a16:creationId xmlns:a16="http://schemas.microsoft.com/office/drawing/2014/main" id="{31F7CDB9-176E-ABC7-A339-BAE1674C1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24f42fc18a_0_48:notes">
            <a:extLst>
              <a:ext uri="{FF2B5EF4-FFF2-40B4-BE49-F238E27FC236}">
                <a16:creationId xmlns:a16="http://schemas.microsoft.com/office/drawing/2014/main" id="{8FD18108-AB28-1160-FFDB-1FC79926CA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24f42fc18a_0_48:notes">
            <a:extLst>
              <a:ext uri="{FF2B5EF4-FFF2-40B4-BE49-F238E27FC236}">
                <a16:creationId xmlns:a16="http://schemas.microsoft.com/office/drawing/2014/main" id="{3A0294C7-5504-4695-C40D-15ABB6CEE6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15117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0c865d1a12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0c865d1a12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200"/>
              <a:buChar char="-"/>
            </a:pPr>
            <a:endParaRPr sz="1200" i="1">
              <a:solidFill>
                <a:srgbClr val="333333"/>
              </a:solidFill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24f42fc18a_0_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24f42fc18a_0_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24f42fc18a_0_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24f42fc18a_0_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0c865d1a12_0_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0c865d1a12_0_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3e8f039492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3e8f039492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>
          <a:extLst>
            <a:ext uri="{FF2B5EF4-FFF2-40B4-BE49-F238E27FC236}">
              <a16:creationId xmlns:a16="http://schemas.microsoft.com/office/drawing/2014/main" id="{8581A192-DF47-3161-1811-724541D44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0c865d1a12_0_82:notes">
            <a:extLst>
              <a:ext uri="{FF2B5EF4-FFF2-40B4-BE49-F238E27FC236}">
                <a16:creationId xmlns:a16="http://schemas.microsoft.com/office/drawing/2014/main" id="{2F04CA18-F034-9F08-D787-EF4FE06178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0c865d1a12_0_82:notes">
            <a:extLst>
              <a:ext uri="{FF2B5EF4-FFF2-40B4-BE49-F238E27FC236}">
                <a16:creationId xmlns:a16="http://schemas.microsoft.com/office/drawing/2014/main" id="{165652AA-D468-4B34-0983-DA6ED50CB9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99801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24f42fc18a_0_1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24f42fc18a_0_1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0c865d1a12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0c865d1a12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24f94906c7_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24f94906c7_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24f29664ea_1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" name="Google Shape;62;g324f29664ea_1_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24f29664ea_1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" name="Google Shape;69;g324f29664ea_1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buNone/>
              <a:defRPr sz="1000">
                <a:solidFill>
                  <a:schemeClr val="dk2"/>
                </a:solidFill>
              </a:defRPr>
            </a:lvl1pPr>
            <a:lvl2pPr lvl="1" algn="r" rtl="0">
              <a:buNone/>
              <a:defRPr sz="1000">
                <a:solidFill>
                  <a:schemeClr val="dk2"/>
                </a:solidFill>
              </a:defRPr>
            </a:lvl2pPr>
            <a:lvl3pPr lvl="2" algn="r" rtl="0">
              <a:buNone/>
              <a:defRPr sz="1000">
                <a:solidFill>
                  <a:schemeClr val="dk2"/>
                </a:solidFill>
              </a:defRPr>
            </a:lvl3pPr>
            <a:lvl4pPr lvl="3" algn="r" rtl="0">
              <a:buNone/>
              <a:defRPr sz="1000">
                <a:solidFill>
                  <a:schemeClr val="dk2"/>
                </a:solidFill>
              </a:defRPr>
            </a:lvl4pPr>
            <a:lvl5pPr lvl="4" algn="r" rtl="0">
              <a:buNone/>
              <a:defRPr sz="1000">
                <a:solidFill>
                  <a:schemeClr val="dk2"/>
                </a:solidFill>
              </a:defRPr>
            </a:lvl5pPr>
            <a:lvl6pPr lvl="5" algn="r" rtl="0">
              <a:buNone/>
              <a:defRPr sz="1000">
                <a:solidFill>
                  <a:schemeClr val="dk2"/>
                </a:solidFill>
              </a:defRPr>
            </a:lvl6pPr>
            <a:lvl7pPr lvl="6" algn="r" rtl="0">
              <a:buNone/>
              <a:defRPr sz="1000">
                <a:solidFill>
                  <a:schemeClr val="dk2"/>
                </a:solidFill>
              </a:defRPr>
            </a:lvl7pPr>
            <a:lvl8pPr lvl="7" algn="r" rtl="0">
              <a:buNone/>
              <a:defRPr sz="1000">
                <a:solidFill>
                  <a:schemeClr val="dk2"/>
                </a:solidFill>
              </a:defRPr>
            </a:lvl8pPr>
            <a:lvl9pPr lvl="8" algn="r" rtl="0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spd="med">
    <p:fade thruBlk="1"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0" y="744575"/>
            <a:ext cx="91293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lvl="0"/>
            <a:br>
              <a:rPr lang="en-US" sz="2900" noProof="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lang="en-US" sz="2900" noProof="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s-ES" sz="2900" dirty="0">
                <a:latin typeface="Times New Roman"/>
                <a:ea typeface="Times New Roman"/>
                <a:cs typeface="Times New Roman"/>
                <a:sym typeface="Times New Roman"/>
              </a:rPr>
              <a:t>Características de los grupos sociales y cohesión social: Evidencia de un Experimento de Encuesta Factorial Comparativa en Chile y Alemania</a:t>
            </a:r>
            <a:br>
              <a:rPr lang="en-US" sz="2900" noProof="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100" i="1" dirty="0">
                <a:latin typeface="Times New Roman"/>
                <a:ea typeface="Times New Roman"/>
                <a:cs typeface="Times New Roman"/>
                <a:sym typeface="Times New Roman"/>
              </a:rPr>
              <a:t>Social Groups </a:t>
            </a:r>
            <a:r>
              <a:rPr lang="en-US" sz="1100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Composition and Social Cohesion: Evidence from a Comparative Factorial Survey Experiment in Chile and Germany</a:t>
            </a:r>
            <a:endParaRPr lang="en-US" sz="2900" i="1" noProof="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27650"/>
            <a:ext cx="1719073" cy="859536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>
            <a:spLocks noGrp="1"/>
          </p:cNvSpPr>
          <p:nvPr>
            <p:ph type="subTitle" idx="1"/>
          </p:nvPr>
        </p:nvSpPr>
        <p:spPr>
          <a:xfrm>
            <a:off x="100" y="2797175"/>
            <a:ext cx="9129300" cy="205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lang="en-US" sz="1800" noProof="0" dirty="0">
                <a:latin typeface="Times New Roman"/>
                <a:ea typeface="Times New Roman"/>
                <a:cs typeface="Times New Roman"/>
                <a:sym typeface="Times New Roman"/>
              </a:rPr>
              <a:t>Julio Iturra-Sanhueza</a:t>
            </a:r>
            <a:br>
              <a:rPr lang="en-US" sz="1200" noProof="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200" noProof="0" dirty="0">
                <a:latin typeface="Times New Roman"/>
                <a:ea typeface="Times New Roman"/>
                <a:cs typeface="Times New Roman"/>
                <a:sym typeface="Times New Roman"/>
              </a:rPr>
              <a:t>Bremen International Graduate School of Social Sciences</a:t>
            </a: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lang="en-US" sz="1200" b="1" noProof="0" dirty="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Santiago de Chile, 2025</a:t>
            </a: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endParaRPr lang="en-US" sz="1200" noProof="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>
              <a:buSzPts val="935"/>
            </a:pPr>
            <a:r>
              <a:rPr lang="en-US" sz="1200" b="1" noProof="0" dirty="0">
                <a:latin typeface="Times New Roman"/>
                <a:ea typeface="Times New Roman"/>
                <a:cs typeface="Times New Roman"/>
                <a:sym typeface="Times New Roman"/>
              </a:rPr>
              <a:t>Supervisors:</a:t>
            </a:r>
            <a:br>
              <a:rPr lang="en-US" sz="1200" b="1" noProof="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200" noProof="0" dirty="0">
                <a:latin typeface="Times New Roman"/>
                <a:ea typeface="Times New Roman"/>
                <a:cs typeface="Times New Roman"/>
                <a:sym typeface="Times New Roman"/>
              </a:rPr>
              <a:t>Dr. Patrick </a:t>
            </a:r>
            <a:r>
              <a:rPr lang="en-US" sz="1200" noProof="0" dirty="0" err="1">
                <a:latin typeface="Times New Roman"/>
                <a:ea typeface="Times New Roman"/>
                <a:cs typeface="Times New Roman"/>
                <a:sym typeface="Times New Roman"/>
              </a:rPr>
              <a:t>Sachweh</a:t>
            </a:r>
            <a:r>
              <a:rPr lang="en-US" sz="1200" noProof="0" dirty="0">
                <a:latin typeface="Times New Roman"/>
                <a:ea typeface="Times New Roman"/>
                <a:cs typeface="Times New Roman"/>
                <a:sym typeface="Times New Roman"/>
              </a:rPr>
              <a:t> (U. Bremen)</a:t>
            </a:r>
            <a:br>
              <a:rPr lang="en-US" sz="1200" noProof="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200" noProof="0" dirty="0">
                <a:latin typeface="Times New Roman"/>
                <a:ea typeface="Times New Roman"/>
                <a:cs typeface="Times New Roman"/>
                <a:sym typeface="Times New Roman"/>
              </a:rPr>
              <a:t>Dr. Olaf Groh-Samberg (U. Bremen)</a:t>
            </a:r>
          </a:p>
          <a:p>
            <a:pPr marL="0" lvl="0" indent="0">
              <a:buSzPts val="935"/>
            </a:pPr>
            <a:r>
              <a:rPr lang="en-US" sz="1200" noProof="0" dirty="0">
                <a:latin typeface="Times New Roman"/>
                <a:ea typeface="Times New Roman"/>
                <a:cs typeface="Times New Roman"/>
                <a:sym typeface="Times New Roman"/>
              </a:rPr>
              <a:t>Dr. Simone Schneider (U. Pompeu Fabra)</a:t>
            </a: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endParaRPr lang="en-US" sz="1200" noProof="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endParaRPr lang="en-US" sz="1200" noProof="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endParaRPr lang="en-US" sz="690" noProof="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57" name="Google Shape;57;p13"/>
          <p:cNvPicPr preferRelativeResize="0"/>
          <p:nvPr/>
        </p:nvPicPr>
        <p:blipFill rotWithShape="1">
          <a:blip r:embed="rId4">
            <a:alphaModFix/>
          </a:blip>
          <a:srcRect l="225222" t="-195420" r="-166809" b="195420"/>
          <a:stretch/>
        </p:blipFill>
        <p:spPr>
          <a:xfrm>
            <a:off x="6286153" y="148950"/>
            <a:ext cx="1153377" cy="995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983047" y="59738"/>
            <a:ext cx="2158928" cy="995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1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634025" y="333063"/>
            <a:ext cx="1864023" cy="44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2</a:t>
            </a:fld>
            <a:endParaRPr lang="en-US" noProof="0" dirty="0"/>
          </a:p>
        </p:txBody>
      </p:sp>
      <p:sp>
        <p:nvSpPr>
          <p:cNvPr id="85" name="Google Shape;85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 err="1">
                <a:latin typeface="Georgia"/>
                <a:ea typeface="Georgia"/>
                <a:cs typeface="Georgia"/>
                <a:sym typeface="Georgia"/>
              </a:rPr>
              <a:t>Colaboración</a:t>
            </a:r>
            <a:r>
              <a:rPr lang="en-US" noProof="0" dirty="0">
                <a:latin typeface="Georgia"/>
                <a:ea typeface="Georgia"/>
                <a:cs typeface="Georgia"/>
                <a:sym typeface="Georgia"/>
              </a:rPr>
              <a:t> </a:t>
            </a:r>
          </a:p>
        </p:txBody>
      </p:sp>
      <p:pic>
        <p:nvPicPr>
          <p:cNvPr id="86" name="Google Shape;8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816" y="1575050"/>
            <a:ext cx="4065258" cy="1625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16"/>
          <p:cNvPicPr preferRelativeResize="0"/>
          <p:nvPr/>
        </p:nvPicPr>
        <p:blipFill rotWithShape="1">
          <a:blip r:embed="rId4">
            <a:alphaModFix/>
          </a:blip>
          <a:srcRect t="23849" b="26524"/>
          <a:stretch/>
        </p:blipFill>
        <p:spPr>
          <a:xfrm>
            <a:off x="5495000" y="1673663"/>
            <a:ext cx="3274749" cy="1625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213600" y="2398338"/>
            <a:ext cx="924675" cy="924675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6"/>
          <p:cNvSpPr txBox="1"/>
          <p:nvPr/>
        </p:nvSpPr>
        <p:spPr>
          <a:xfrm>
            <a:off x="925525" y="3323000"/>
            <a:ext cx="3186300" cy="15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Germany </a:t>
            </a:r>
            <a:r>
              <a:rPr lang="en-US" sz="1800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(U. Bremen)</a:t>
            </a:r>
            <a:br>
              <a:rPr lang="en-US" sz="1800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Prof. Dr. Olaf Groh-Samberg</a:t>
            </a:r>
            <a:br>
              <a:rPr lang="en-US" sz="1800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Dr. Jean-Yves Gerlitz</a:t>
            </a:r>
            <a:br>
              <a:rPr lang="en-US" sz="1800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Dr. Nils </a:t>
            </a:r>
            <a:r>
              <a:rPr lang="en-US" sz="1800" noProof="0" dirty="0" err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Teichler</a:t>
            </a:r>
            <a:r>
              <a:rPr lang="en-US" sz="1800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br>
              <a:rPr lang="en-US" sz="1800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Dr. Anne Speer</a:t>
            </a:r>
          </a:p>
        </p:txBody>
      </p:sp>
      <p:sp>
        <p:nvSpPr>
          <p:cNvPr id="90" name="Google Shape;90;p16"/>
          <p:cNvSpPr txBox="1"/>
          <p:nvPr/>
        </p:nvSpPr>
        <p:spPr>
          <a:xfrm>
            <a:off x="5651775" y="3323000"/>
            <a:ext cx="2820600" cy="15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Chile </a:t>
            </a:r>
            <a:r>
              <a:rPr lang="en-US" sz="1800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(U. de Chile)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Prof. Dr. Juan C. Castillo </a:t>
            </a:r>
            <a:br>
              <a:rPr lang="en-US" sz="1800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Kevin Carrasco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Andreas </a:t>
            </a:r>
            <a:r>
              <a:rPr lang="en-US" sz="1800" noProof="0" dirty="0" err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Laffert</a:t>
            </a:r>
            <a:endParaRPr lang="en-US" sz="1800" noProof="0" dirty="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1" name="Google Shape;91;p16"/>
          <p:cNvSpPr txBox="1"/>
          <p:nvPr/>
        </p:nvSpPr>
        <p:spPr>
          <a:xfrm>
            <a:off x="4213600" y="4061900"/>
            <a:ext cx="7368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 err="1">
                <a:solidFill>
                  <a:srgbClr val="99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Yo</a:t>
            </a:r>
            <a:endParaRPr lang="en-US" sz="2400" noProof="0" dirty="0">
              <a:solidFill>
                <a:srgbClr val="99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2" name="Google Shape;92;p16"/>
          <p:cNvSpPr txBox="1"/>
          <p:nvPr/>
        </p:nvSpPr>
        <p:spPr>
          <a:xfrm>
            <a:off x="311700" y="4703625"/>
            <a:ext cx="8124900" cy="18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ransition spd="med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es-ES" dirty="0"/>
              <a:t>Visiones teóricas sobre la cohesión social</a:t>
            </a:r>
            <a:endParaRPr lang="en-US" noProof="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418830F-FF44-929D-DA5F-46010DF7C2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anchor="t">
            <a:noAutofit/>
          </a:bodyPr>
          <a:lstStyle/>
          <a:p>
            <a:pPr marL="0" lvl="0" indent="0">
              <a:spcBef>
                <a:spcPts val="1200"/>
              </a:spcBef>
              <a:buNone/>
            </a:pPr>
            <a:r>
              <a:rPr lang="es-ES" sz="1100" dirty="0">
                <a:latin typeface="Times New Roman"/>
                <a:ea typeface="Times New Roman"/>
                <a:cs typeface="Times New Roman"/>
                <a:sym typeface="Times New Roman"/>
              </a:rPr>
              <a:t>Puede ser entendida como un estado de las cosas relativo a las interacciones:</a:t>
            </a:r>
          </a:p>
          <a:p>
            <a:pPr marL="171450" indent="-171450">
              <a:spcBef>
                <a:spcPts val="1200"/>
              </a:spcBef>
            </a:pPr>
            <a:r>
              <a:rPr lang="es-ES" sz="1100" b="1" dirty="0">
                <a:latin typeface="Times New Roman"/>
                <a:ea typeface="Times New Roman"/>
                <a:cs typeface="Times New Roman"/>
                <a:sym typeface="Times New Roman"/>
              </a:rPr>
              <a:t>verticales </a:t>
            </a:r>
            <a:r>
              <a:rPr lang="es-ES" sz="1100" dirty="0">
                <a:latin typeface="Times New Roman"/>
                <a:ea typeface="Times New Roman"/>
                <a:cs typeface="Times New Roman"/>
                <a:sym typeface="Times New Roman"/>
              </a:rPr>
              <a:t>(entre el </a:t>
            </a:r>
            <a:r>
              <a:rPr lang="es-ES" sz="1100" b="1" dirty="0">
                <a:latin typeface="Times New Roman"/>
                <a:ea typeface="Times New Roman"/>
                <a:cs typeface="Times New Roman"/>
                <a:sym typeface="Times New Roman"/>
              </a:rPr>
              <a:t>Estado y sus ciudadanos y sus organizaciones</a:t>
            </a:r>
            <a:r>
              <a:rPr lang="es-ES" sz="1100" dirty="0">
                <a:latin typeface="Times New Roman"/>
                <a:ea typeface="Times New Roman"/>
                <a:cs typeface="Times New Roman"/>
                <a:sym typeface="Times New Roman"/>
              </a:rPr>
              <a:t>)</a:t>
            </a:r>
            <a:r>
              <a:rPr lang="en-US" sz="1100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s-ES" sz="1100" dirty="0">
                <a:latin typeface="Times New Roman"/>
                <a:ea typeface="Times New Roman"/>
                <a:cs typeface="Times New Roman"/>
                <a:sym typeface="Times New Roman"/>
              </a:rPr>
              <a:t>y</a:t>
            </a:r>
            <a:r>
              <a:rPr lang="es-ES" sz="1100" b="1" dirty="0">
                <a:latin typeface="Times New Roman"/>
                <a:ea typeface="Times New Roman"/>
                <a:cs typeface="Times New Roman"/>
                <a:sym typeface="Times New Roman"/>
              </a:rPr>
              <a:t>,</a:t>
            </a:r>
            <a:endParaRPr lang="es-ES" sz="11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171450" indent="-171450">
              <a:spcBef>
                <a:spcPts val="1200"/>
              </a:spcBef>
            </a:pPr>
            <a:r>
              <a:rPr lang="es-ES" sz="1100" b="1" dirty="0">
                <a:latin typeface="Times New Roman"/>
                <a:ea typeface="Times New Roman"/>
                <a:cs typeface="Times New Roman"/>
                <a:sym typeface="Times New Roman"/>
              </a:rPr>
              <a:t>horizontales </a:t>
            </a:r>
            <a:r>
              <a:rPr lang="es-ES" sz="1100" dirty="0">
                <a:latin typeface="Times New Roman"/>
                <a:ea typeface="Times New Roman"/>
                <a:cs typeface="Times New Roman"/>
                <a:sym typeface="Times New Roman"/>
              </a:rPr>
              <a:t>(entre </a:t>
            </a:r>
            <a:r>
              <a:rPr lang="es-ES" sz="1100" b="1" dirty="0">
                <a:latin typeface="Times New Roman"/>
                <a:ea typeface="Times New Roman"/>
                <a:cs typeface="Times New Roman"/>
                <a:sym typeface="Times New Roman"/>
              </a:rPr>
              <a:t>individuos y grupos</a:t>
            </a:r>
            <a:r>
              <a:rPr lang="es-ES" sz="1100" dirty="0">
                <a:latin typeface="Times New Roman"/>
                <a:ea typeface="Times New Roman"/>
                <a:cs typeface="Times New Roman"/>
                <a:sym typeface="Times New Roman"/>
              </a:rPr>
              <a:t> de la sociedad),</a:t>
            </a:r>
          </a:p>
          <a:p>
            <a:pPr marL="0" lvl="0" indent="0">
              <a:spcBef>
                <a:spcPts val="1200"/>
              </a:spcBef>
              <a:buNone/>
            </a:pPr>
            <a:r>
              <a:rPr lang="es-ES" sz="1100" dirty="0">
                <a:latin typeface="Times New Roman"/>
                <a:ea typeface="Times New Roman"/>
                <a:cs typeface="Times New Roman"/>
                <a:sym typeface="Times New Roman"/>
              </a:rPr>
              <a:t>(…) caracterizado por un conjunto de actitudes y normas que incluyen la </a:t>
            </a:r>
            <a:r>
              <a:rPr lang="es-ES" sz="1100" b="1" dirty="0">
                <a:latin typeface="Times New Roman"/>
                <a:ea typeface="Times New Roman"/>
                <a:cs typeface="Times New Roman"/>
                <a:sym typeface="Times New Roman"/>
              </a:rPr>
              <a:t>confianza</a:t>
            </a:r>
            <a:r>
              <a:rPr lang="es-ES" sz="1100" dirty="0">
                <a:latin typeface="Times New Roman"/>
                <a:ea typeface="Times New Roman"/>
                <a:cs typeface="Times New Roman"/>
                <a:sym typeface="Times New Roman"/>
              </a:rPr>
              <a:t>, el sentimiento de </a:t>
            </a:r>
            <a:r>
              <a:rPr lang="es-ES" sz="1100" b="1" dirty="0">
                <a:latin typeface="Times New Roman"/>
                <a:ea typeface="Times New Roman"/>
                <a:cs typeface="Times New Roman"/>
                <a:sym typeface="Times New Roman"/>
              </a:rPr>
              <a:t>pertenencia </a:t>
            </a:r>
            <a:r>
              <a:rPr lang="es-ES" sz="1100" dirty="0">
                <a:latin typeface="Times New Roman"/>
                <a:ea typeface="Times New Roman"/>
                <a:cs typeface="Times New Roman"/>
                <a:sym typeface="Times New Roman"/>
              </a:rPr>
              <a:t>y la voluntad de </a:t>
            </a:r>
            <a:r>
              <a:rPr lang="es-ES" sz="1100" b="1" dirty="0">
                <a:latin typeface="Times New Roman"/>
                <a:ea typeface="Times New Roman"/>
                <a:cs typeface="Times New Roman"/>
                <a:sym typeface="Times New Roman"/>
              </a:rPr>
              <a:t>participar</a:t>
            </a:r>
            <a:r>
              <a:rPr lang="es-ES" sz="1100" dirty="0">
                <a:latin typeface="Times New Roman"/>
                <a:ea typeface="Times New Roman"/>
                <a:cs typeface="Times New Roman"/>
                <a:sym typeface="Times New Roman"/>
              </a:rPr>
              <a:t> y </a:t>
            </a:r>
            <a:r>
              <a:rPr lang="es-ES" sz="1100" b="1" dirty="0">
                <a:latin typeface="Times New Roman"/>
                <a:ea typeface="Times New Roman"/>
                <a:cs typeface="Times New Roman"/>
                <a:sym typeface="Times New Roman"/>
              </a:rPr>
              <a:t>ayudar</a:t>
            </a:r>
            <a:r>
              <a:rPr lang="es-ES" sz="1100" dirty="0">
                <a:latin typeface="Times New Roman"/>
                <a:ea typeface="Times New Roman"/>
                <a:cs typeface="Times New Roman"/>
                <a:sym typeface="Times New Roman"/>
              </a:rPr>
              <a:t>, así como sus manifestaciones conductuales </a:t>
            </a:r>
            <a:r>
              <a:rPr lang="en-US" sz="1100" dirty="0">
                <a:latin typeface="Times New Roman"/>
                <a:ea typeface="Times New Roman"/>
                <a:cs typeface="Times New Roman"/>
                <a:sym typeface="Times New Roman"/>
              </a:rPr>
              <a:t>(</a:t>
            </a:r>
            <a:r>
              <a:rPr lang="en-US" sz="1100" dirty="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Chan, To, &amp; Chan, 2006</a:t>
            </a:r>
            <a:r>
              <a:rPr lang="en-US" sz="1100" dirty="0">
                <a:latin typeface="Times New Roman"/>
                <a:ea typeface="Times New Roman"/>
                <a:cs typeface="Times New Roman"/>
                <a:sym typeface="Times New Roman"/>
              </a:rPr>
              <a:t>).</a:t>
            </a:r>
          </a:p>
          <a:p>
            <a:pPr marL="0" lvl="0" indent="0">
              <a:spcBef>
                <a:spcPts val="1200"/>
              </a:spcBef>
              <a:buNone/>
            </a:pPr>
            <a:r>
              <a:rPr lang="es-ES" sz="1100" dirty="0">
                <a:latin typeface="Times New Roman"/>
                <a:ea typeface="Times New Roman"/>
                <a:cs typeface="Times New Roman"/>
                <a:sym typeface="Times New Roman"/>
              </a:rPr>
              <a:t>La identificación de intereses, metas y valores en común y en conflicto da pie a la identificación de oportunidades de </a:t>
            </a:r>
            <a:r>
              <a:rPr lang="es-ES" sz="1100" b="1" dirty="0">
                <a:latin typeface="Times New Roman"/>
                <a:ea typeface="Times New Roman"/>
                <a:cs typeface="Times New Roman"/>
                <a:sym typeface="Times New Roman"/>
              </a:rPr>
              <a:t>cooperación</a:t>
            </a:r>
            <a:r>
              <a:rPr lang="es-ES" sz="1100" dirty="0">
                <a:latin typeface="Times New Roman"/>
                <a:ea typeface="Times New Roman"/>
                <a:cs typeface="Times New Roman"/>
                <a:sym typeface="Times New Roman"/>
              </a:rPr>
              <a:t> motivadas por lazos de </a:t>
            </a:r>
            <a:r>
              <a:rPr lang="es-ES" sz="1100" b="1" dirty="0">
                <a:latin typeface="Times New Roman"/>
                <a:ea typeface="Times New Roman"/>
                <a:cs typeface="Times New Roman"/>
                <a:sym typeface="Times New Roman"/>
              </a:rPr>
              <a:t>confianza</a:t>
            </a:r>
            <a:r>
              <a:rPr lang="es-ES" sz="1100" dirty="0">
                <a:latin typeface="Times New Roman"/>
                <a:ea typeface="Times New Roman"/>
                <a:cs typeface="Times New Roman"/>
                <a:sym typeface="Times New Roman"/>
              </a:rPr>
              <a:t> y al apoyo dentro de su </a:t>
            </a:r>
            <a:r>
              <a:rPr lang="es-ES" sz="1100" b="1" dirty="0">
                <a:latin typeface="Times New Roman"/>
                <a:ea typeface="Times New Roman"/>
                <a:cs typeface="Times New Roman"/>
                <a:sym typeface="Times New Roman"/>
              </a:rPr>
              <a:t>comunidad </a:t>
            </a:r>
            <a:r>
              <a:rPr lang="es-ES" sz="1100" dirty="0">
                <a:latin typeface="Times New Roman"/>
                <a:ea typeface="Times New Roman"/>
                <a:cs typeface="Times New Roman"/>
                <a:sym typeface="Times New Roman"/>
              </a:rPr>
              <a:t>local o nacional </a:t>
            </a:r>
            <a:r>
              <a:rPr lang="en-US" sz="1100" dirty="0">
                <a:latin typeface="Times New Roman"/>
                <a:ea typeface="Times New Roman"/>
                <a:cs typeface="Times New Roman"/>
                <a:sym typeface="Times New Roman"/>
              </a:rPr>
              <a:t>(</a:t>
            </a:r>
            <a:r>
              <a:rPr lang="en-US" sz="1100" dirty="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Green &amp; Janmaat, 2011</a:t>
            </a:r>
            <a:r>
              <a:rPr lang="en-US" sz="1100" dirty="0">
                <a:latin typeface="Times New Roman"/>
                <a:ea typeface="Times New Roman"/>
                <a:cs typeface="Times New Roman"/>
                <a:sym typeface="Times New Roman"/>
              </a:rPr>
              <a:t>).</a:t>
            </a:r>
          </a:p>
          <a:p>
            <a:pPr marL="0" lvl="0" indent="0">
              <a:spcBef>
                <a:spcPts val="1200"/>
              </a:spcBef>
              <a:buNone/>
            </a:pPr>
            <a:endParaRPr lang="en-US" sz="11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56A59C-94E3-0BBD-F7C4-6ECADA1D0ADB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>
            <a:normAutofit fontScale="77500" lnSpcReduction="20000"/>
          </a:bodyPr>
          <a:lstStyle/>
          <a:p>
            <a:pPr marL="139700" indent="0">
              <a:buNone/>
            </a:pPr>
            <a:r>
              <a:rPr lang="es-E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Adicionalmente, estas expresiones actitudinales y conductuales contribuyen a la formación de medios (entornos o ambientes) sociales o </a:t>
            </a:r>
            <a:r>
              <a:rPr lang="es-ES" b="1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milieus</a:t>
            </a:r>
            <a:r>
              <a:rPr lang="es-E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entendidos como</a:t>
            </a:r>
            <a:r>
              <a:rPr lang="es-E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139700" indent="0">
              <a:buNone/>
            </a:pPr>
            <a:endParaRPr lang="es-E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39700" indent="0" algn="r">
              <a:buNone/>
            </a:pPr>
            <a:r>
              <a:rPr lang="es-E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(…) grandes </a:t>
            </a:r>
            <a:r>
              <a:rPr lang="es-ES" b="1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grupos latentes</a:t>
            </a:r>
            <a:r>
              <a:rPr lang="es-E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definidos por una combinación de posición </a:t>
            </a:r>
            <a:r>
              <a:rPr lang="es-E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socioeconómica</a:t>
            </a:r>
            <a:r>
              <a:rPr lang="es-E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(estratificación vertical) y </a:t>
            </a:r>
            <a:r>
              <a:rPr lang="es-E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valores culturales</a:t>
            </a:r>
            <a:r>
              <a:rPr lang="es-E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compartidos (espacio de valores horizontal) </a:t>
            </a:r>
          </a:p>
          <a:p>
            <a:pPr marL="139700" indent="0" algn="r">
              <a:buNone/>
            </a:pPr>
            <a:r>
              <a:rPr lang="es-CL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s-CL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Groh-Samberg</a:t>
            </a:r>
            <a:r>
              <a:rPr lang="es-CL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et al., 2023</a:t>
            </a:r>
            <a:r>
              <a:rPr lang="es-CL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s-E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lang="es-E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s-E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39700" indent="0">
              <a:buNone/>
            </a:pPr>
            <a:r>
              <a:rPr lang="es-E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 esta perspectiva, los individuos se encuentran integrados en </a:t>
            </a:r>
            <a:r>
              <a:rPr lang="es-E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milieus</a:t>
            </a:r>
            <a:r>
              <a:rPr lang="es-E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 los </a:t>
            </a:r>
            <a:r>
              <a:rPr lang="es-E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milieus</a:t>
            </a:r>
            <a:r>
              <a:rPr lang="es-E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 integran (más o menos) en la sociedad.  </a:t>
            </a:r>
          </a:p>
          <a:p>
            <a:pPr marL="139700" indent="0">
              <a:buNone/>
            </a:pPr>
            <a:endParaRPr lang="es-E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s-ES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Cohesión interna del</a:t>
            </a:r>
            <a:r>
              <a:rPr lang="es-ES" b="1" i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b="1" i="1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milieu</a:t>
            </a:r>
            <a:r>
              <a:rPr lang="es-E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la similitud de condiciones y valores favorece la confianza, la conformidad, el consenso y la cooperación.</a:t>
            </a:r>
            <a:br>
              <a:rPr lang="es-E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s-E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s-ES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Cohesión </a:t>
            </a:r>
            <a:r>
              <a:rPr lang="es-ES" b="1" i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entre </a:t>
            </a:r>
            <a:r>
              <a:rPr lang="es-ES" b="1" i="1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milieus</a:t>
            </a:r>
            <a:r>
              <a:rPr lang="es-E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los vínculos entre grupos, la movilidad y las instituciones que gestionan las desigualdades y los conflictos de valores mantienen los medios conectados y el conflicto contenido. </a:t>
            </a:r>
          </a:p>
          <a:p>
            <a:pPr marL="139700" indent="0">
              <a:buNone/>
            </a:pPr>
            <a:endParaRPr lang="es-E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Google Shape;98;p17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3</a:t>
            </a:fld>
            <a:endParaRPr lang="en-US" noProof="0" dirty="0"/>
          </a:p>
        </p:txBody>
      </p:sp>
    </p:spTree>
  </p:cSld>
  <p:clrMapOvr>
    <a:masterClrMapping/>
  </p:clrMapOvr>
  <p:transition spd="med">
    <p:fade thruBlk="1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noProof="0" dirty="0" err="1">
                <a:latin typeface="Georgia" panose="02040502050405020303" pitchFamily="18" charset="0"/>
              </a:rPr>
              <a:t>Fuerzas</a:t>
            </a:r>
            <a:r>
              <a:rPr lang="en-US" sz="2400" noProof="0" dirty="0">
                <a:latin typeface="Georgia" panose="02040502050405020303" pitchFamily="18" charset="0"/>
              </a:rPr>
              <a:t> </a:t>
            </a:r>
            <a:r>
              <a:rPr lang="en-US" sz="2400" noProof="0" dirty="0" err="1">
                <a:latin typeface="Georgia" panose="02040502050405020303" pitchFamily="18" charset="0"/>
              </a:rPr>
              <a:t>promotoras</a:t>
            </a:r>
            <a:r>
              <a:rPr lang="en-US" sz="2400" noProof="0" dirty="0">
                <a:latin typeface="Georgia" panose="02040502050405020303" pitchFamily="18" charset="0"/>
              </a:rPr>
              <a:t> e </a:t>
            </a:r>
            <a:r>
              <a:rPr lang="en-US" sz="2400" noProof="0" dirty="0" err="1">
                <a:latin typeface="Georgia" panose="02040502050405020303" pitchFamily="18" charset="0"/>
              </a:rPr>
              <a:t>inhibidoras</a:t>
            </a:r>
            <a:r>
              <a:rPr lang="en-US" sz="2400" noProof="0" dirty="0">
                <a:latin typeface="Georgia" panose="02040502050405020303" pitchFamily="18" charset="0"/>
              </a:rPr>
              <a:t> de la </a:t>
            </a:r>
            <a:r>
              <a:rPr lang="en-US" sz="2400" noProof="0" dirty="0" err="1">
                <a:latin typeface="Georgia" panose="02040502050405020303" pitchFamily="18" charset="0"/>
              </a:rPr>
              <a:t>cohesi</a:t>
            </a:r>
            <a:r>
              <a:rPr lang="en-US" sz="2400" dirty="0" err="1">
                <a:latin typeface="Georgia" panose="02040502050405020303" pitchFamily="18" charset="0"/>
              </a:rPr>
              <a:t>ón</a:t>
            </a:r>
            <a:endParaRPr lang="en-US" sz="2400" noProof="0" dirty="0">
              <a:latin typeface="Georgia" panose="02040502050405020303" pitchFamily="18" charset="0"/>
            </a:endParaRPr>
          </a:p>
        </p:txBody>
      </p:sp>
      <p:sp>
        <p:nvSpPr>
          <p:cNvPr id="107" name="Google Shape;107;p18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US" sz="1200" b="1" dirty="0">
                <a:solidFill>
                  <a:srgbClr val="99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Dominio </a:t>
            </a:r>
            <a:r>
              <a:rPr lang="en-US" sz="1200" b="1" dirty="0" err="1">
                <a:solidFill>
                  <a:srgbClr val="99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socioeconómico</a:t>
            </a:r>
            <a:r>
              <a:rPr lang="en-US" sz="1200" b="1" dirty="0">
                <a:solidFill>
                  <a:srgbClr val="99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</a:p>
          <a:p>
            <a:pPr indent="-298450">
              <a:spcBef>
                <a:spcPts val="1200"/>
              </a:spcBef>
              <a:buClr>
                <a:schemeClr val="dk1"/>
              </a:buClr>
              <a:buSzPts val="1100"/>
              <a:buFont typeface="Times New Roman"/>
              <a:buChar char="●"/>
            </a:pPr>
            <a:r>
              <a:rPr lang="en-US" sz="11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El </a:t>
            </a:r>
            <a:r>
              <a:rPr lang="en-US" sz="11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sostiene</a:t>
            </a:r>
            <a:r>
              <a:rPr lang="en-US" sz="11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11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que</a:t>
            </a:r>
            <a:r>
              <a:rPr lang="en-US" sz="11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la </a:t>
            </a:r>
            <a:r>
              <a:rPr lang="en-US" sz="11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desigualdad</a:t>
            </a:r>
            <a:r>
              <a:rPr lang="en-US" sz="11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11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económica</a:t>
            </a:r>
            <a:r>
              <a:rPr lang="en-US" sz="11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es “</a:t>
            </a:r>
            <a:r>
              <a:rPr lang="en-US" sz="11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corrosiva</a:t>
            </a:r>
            <a:r>
              <a:rPr lang="en-US" sz="11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” para la </a:t>
            </a:r>
            <a:r>
              <a:rPr lang="en-US" sz="11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cohesión</a:t>
            </a:r>
            <a:r>
              <a:rPr lang="en-US" sz="11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social </a:t>
            </a: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s-CL" sz="1100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Delhey</a:t>
            </a:r>
            <a:r>
              <a:rPr lang="es-CL" sz="1100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et al., 2023</a:t>
            </a: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s-ES" sz="1100" dirty="0">
                <a:solidFill>
                  <a:schemeClr val="dk1"/>
                </a:solidFill>
                <a:latin typeface="Times New Roman"/>
                <a:cs typeface="Times New Roman"/>
                <a:sym typeface="Times New Roman"/>
              </a:rPr>
              <a:t>. En este contexto, una mayor </a:t>
            </a:r>
            <a:r>
              <a:rPr lang="es-E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disposición a esfuerzos colectivos suele explicarse por una mayor confianza social</a:t>
            </a:r>
            <a: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</a:t>
            </a:r>
            <a:r>
              <a:rPr lang="en-US" sz="1100" dirty="0" err="1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Diprete</a:t>
            </a:r>
            <a:r>
              <a:rPr lang="en-US" sz="1100" dirty="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Gelman, </a:t>
            </a:r>
            <a:r>
              <a:rPr lang="en-US" sz="1100" dirty="0" err="1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Mccormick</a:t>
            </a:r>
            <a:r>
              <a:rPr lang="en-US" sz="1100" dirty="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Teitler, &amp; Zheng, 2011</a:t>
            </a:r>
            <a: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). </a:t>
            </a:r>
          </a:p>
          <a:p>
            <a:pPr indent="-298450">
              <a:spcBef>
                <a:spcPts val="1200"/>
              </a:spcBef>
              <a:buClr>
                <a:schemeClr val="dk1"/>
              </a:buClr>
              <a:buSzPts val="1100"/>
              <a:buFont typeface="Times New Roman"/>
              <a:buChar char="●"/>
            </a:pPr>
            <a:r>
              <a:rPr lang="en-US" sz="11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Diferencias</a:t>
            </a:r>
            <a: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1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socioeconómicas</a:t>
            </a:r>
            <a: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</a:t>
            </a:r>
            <a:r>
              <a:rPr lang="en-US" sz="11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verticales</a:t>
            </a:r>
            <a: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</a:t>
            </a:r>
            <a:r>
              <a:rPr lang="en-US" sz="11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pueden</a:t>
            </a:r>
            <a: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s-E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trazar fronteras simbólicas de "respetabilidad" y "distinción" (</a:t>
            </a:r>
            <a:r>
              <a:rPr lang="es-ES" sz="1100" dirty="0" err="1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Groh-Samberg</a:t>
            </a:r>
            <a:r>
              <a:rPr lang="es-ES" sz="1100" dirty="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et al., 2023, p. 315</a:t>
            </a:r>
            <a:r>
              <a:rPr lang="es-E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</a:t>
            </a:r>
            <a:b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 lang="en-US" sz="11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 indent="-298450">
              <a:buSzPts val="1100"/>
              <a:buFont typeface="Times New Roman"/>
              <a:buChar char="●"/>
            </a:pPr>
            <a:r>
              <a:rPr lang="es-E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 nivel individual, el nivel socioeconómico (NSE) se asocia a menores riesgos percibidos en situaciones de intercambio, lo cual explicaría una mayor disposición a confiar en otros </a:t>
            </a:r>
            <a: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</a:t>
            </a:r>
            <a:r>
              <a:rPr lang="en-US" sz="1100" dirty="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Fiske &amp; Markus, 2012</a:t>
            </a:r>
            <a: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). Como </a:t>
            </a:r>
            <a:r>
              <a:rPr lang="en-US" sz="11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contrapartes</a:t>
            </a:r>
            <a: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 </a:t>
            </a:r>
            <a:r>
              <a:rPr lang="en-US" sz="11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cooperación</a:t>
            </a:r>
            <a: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s-CL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personas de NSE alto (credenciales e ingresos) son </a:t>
            </a:r>
            <a:r>
              <a:rPr lang="es-E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percibidas como más competentes, en contraste con individuos de menor NSE </a:t>
            </a:r>
            <a: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</a:t>
            </a:r>
            <a:r>
              <a:rPr lang="en-US" sz="1100" dirty="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Salgado, Núñez, &amp; Mackenna, 2021</a:t>
            </a:r>
            <a: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).</a:t>
            </a:r>
            <a:b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 lang="en-US" sz="11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 indent="-298450">
              <a:buSzPts val="1100"/>
              <a:buFont typeface="Times New Roman"/>
              <a:buChar char="●"/>
            </a:pPr>
            <a:endParaRPr lang="en-US" sz="11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 indent="-298450">
              <a:buSzPts val="1100"/>
              <a:buFont typeface="Times New Roman"/>
              <a:buChar char="●"/>
            </a:pPr>
            <a:endParaRPr lang="en-US" sz="11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158750" lvl="0" indent="0">
              <a:buSzPts val="1100"/>
              <a:buNone/>
            </a:pPr>
            <a:endParaRPr lang="en-US" sz="11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 indent="-298450">
              <a:buSzPts val="1100"/>
              <a:buFont typeface="Times New Roman"/>
              <a:buChar char="●"/>
            </a:pPr>
            <a:endParaRPr lang="en-US" sz="1100" noProof="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8" name="Google Shape;108;p18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4</a:t>
            </a:fld>
            <a:endParaRPr lang="en-US" noProof="0" dirty="0"/>
          </a:p>
        </p:txBody>
      </p:sp>
      <p:pic>
        <p:nvPicPr>
          <p:cNvPr id="2050" name="Picture 2" descr="15,000+ Social Ladder Stock Photos, Pictures &amp; Royalty-Free Images - iStock  | Upward mobility, Social class, Middle class">
            <a:extLst>
              <a:ext uri="{FF2B5EF4-FFF2-40B4-BE49-F238E27FC236}">
                <a16:creationId xmlns:a16="http://schemas.microsoft.com/office/drawing/2014/main" id="{03D25B9A-A3B7-A20B-7E6F-F9A19824D5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9849" y="1623136"/>
            <a:ext cx="3996959" cy="2854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>
    <p:fade thruBlk="1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C961F500-3D24-1743-4A70-8BB8869A6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8">
            <a:extLst>
              <a:ext uri="{FF2B5EF4-FFF2-40B4-BE49-F238E27FC236}">
                <a16:creationId xmlns:a16="http://schemas.microsoft.com/office/drawing/2014/main" id="{7939FD2E-A09A-2BD1-43B6-4FB8B8E3A2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noProof="0" dirty="0" err="1">
                <a:latin typeface="Georgia" panose="02040502050405020303" pitchFamily="18" charset="0"/>
              </a:rPr>
              <a:t>Fuerzas</a:t>
            </a:r>
            <a:r>
              <a:rPr lang="en-US" sz="2400" noProof="0" dirty="0">
                <a:latin typeface="Georgia" panose="02040502050405020303" pitchFamily="18" charset="0"/>
              </a:rPr>
              <a:t> </a:t>
            </a:r>
            <a:r>
              <a:rPr lang="en-US" sz="2400" noProof="0" dirty="0" err="1">
                <a:latin typeface="Georgia" panose="02040502050405020303" pitchFamily="18" charset="0"/>
              </a:rPr>
              <a:t>promotoras</a:t>
            </a:r>
            <a:r>
              <a:rPr lang="en-US" sz="2400" noProof="0" dirty="0">
                <a:latin typeface="Georgia" panose="02040502050405020303" pitchFamily="18" charset="0"/>
              </a:rPr>
              <a:t> e </a:t>
            </a:r>
            <a:r>
              <a:rPr lang="en-US" sz="2400" noProof="0" dirty="0" err="1">
                <a:latin typeface="Georgia" panose="02040502050405020303" pitchFamily="18" charset="0"/>
              </a:rPr>
              <a:t>inhibidoras</a:t>
            </a:r>
            <a:r>
              <a:rPr lang="en-US" sz="2400" noProof="0" dirty="0">
                <a:latin typeface="Georgia" panose="02040502050405020303" pitchFamily="18" charset="0"/>
              </a:rPr>
              <a:t> de la </a:t>
            </a:r>
            <a:r>
              <a:rPr lang="en-US" sz="2400" noProof="0" dirty="0" err="1">
                <a:latin typeface="Georgia" panose="02040502050405020303" pitchFamily="18" charset="0"/>
              </a:rPr>
              <a:t>cohesi</a:t>
            </a:r>
            <a:r>
              <a:rPr lang="en-US" sz="2400" dirty="0" err="1">
                <a:latin typeface="Georgia" panose="02040502050405020303" pitchFamily="18" charset="0"/>
              </a:rPr>
              <a:t>ón</a:t>
            </a:r>
            <a:endParaRPr lang="en-US" sz="2400" noProof="0" dirty="0">
              <a:latin typeface="Georgia" panose="02040502050405020303" pitchFamily="18" charset="0"/>
            </a:endParaRPr>
          </a:p>
        </p:txBody>
      </p:sp>
      <p:sp>
        <p:nvSpPr>
          <p:cNvPr id="108" name="Google Shape;108;p18">
            <a:extLst>
              <a:ext uri="{FF2B5EF4-FFF2-40B4-BE49-F238E27FC236}">
                <a16:creationId xmlns:a16="http://schemas.microsoft.com/office/drawing/2014/main" id="{658919AC-4F98-154C-0EAE-81BE0C3C67E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None/>
            </a:pPr>
            <a:fld id="{00000000-1234-1234-1234-123412341234}" type="slidenum">
              <a:rPr lang="en-US" sz="900" noProof="0" smtClean="0"/>
              <a:pPr marL="0" lvl="0" indent="0" rtl="0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None/>
              </a:pPr>
              <a:t>5</a:t>
            </a:fld>
            <a:endParaRPr lang="en-US" sz="900" noProof="0"/>
          </a:p>
        </p:txBody>
      </p:sp>
      <p:sp>
        <p:nvSpPr>
          <p:cNvPr id="107" name="Google Shape;107;p18">
            <a:extLst>
              <a:ext uri="{FF2B5EF4-FFF2-40B4-BE49-F238E27FC236}">
                <a16:creationId xmlns:a16="http://schemas.microsoft.com/office/drawing/2014/main" id="{E6DC0880-9666-42CC-0754-F83289A8787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762500" y="1208225"/>
            <a:ext cx="4069800" cy="3264408"/>
          </a:xfrm>
        </p:spPr>
        <p:txBody>
          <a:bodyPr spcFirstLastPara="1" lIns="91425" tIns="91425" rIns="91425" bIns="91425" anchor="t" anchorCtr="0">
            <a:normAutofit fontScale="92500" lnSpcReduction="20000"/>
          </a:bodyPr>
          <a:lstStyle/>
          <a:p>
            <a:pPr marL="0" lvl="0" indent="0">
              <a:buNone/>
            </a:pPr>
            <a:r>
              <a:rPr lang="en-US" sz="1200" b="1" dirty="0" err="1">
                <a:solidFill>
                  <a:srgbClr val="9900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Dimensión</a:t>
            </a:r>
            <a:r>
              <a:rPr lang="en-US" sz="1200" b="1" dirty="0">
                <a:solidFill>
                  <a:srgbClr val="9900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 </a:t>
            </a:r>
            <a:r>
              <a:rPr lang="en-US" sz="1200" b="1" dirty="0" err="1">
                <a:solidFill>
                  <a:srgbClr val="9900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valores</a:t>
            </a:r>
            <a:endParaRPr lang="en-US" sz="1200" b="1" dirty="0">
              <a:solidFill>
                <a:srgbClr val="9900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 indent="-298450">
              <a:lnSpc>
                <a:spcPct val="100000"/>
              </a:lnSpc>
              <a:spcBef>
                <a:spcPts val="1200"/>
              </a:spcBef>
              <a:buSzPts val="1100"/>
              <a:buFont typeface="Times New Roman"/>
              <a:buChar char="●"/>
            </a:pPr>
            <a:r>
              <a:rPr lang="es-ES" sz="1200" dirty="0">
                <a:latin typeface="Times New Roman"/>
                <a:ea typeface="Times New Roman"/>
                <a:cs typeface="Times New Roman"/>
                <a:sym typeface="Times New Roman"/>
              </a:rPr>
              <a:t>En sociedades con mayor homogeneidad de valores muestran mayores niveles de confianza social, sugiriendo que objetivos comunes</a:t>
            </a:r>
            <a:r>
              <a:rPr lang="en-US" sz="1200" dirty="0">
                <a:latin typeface="Times New Roman"/>
                <a:ea typeface="Times New Roman"/>
                <a:cs typeface="Times New Roman"/>
                <a:sym typeface="Times New Roman"/>
              </a:rPr>
              <a:t> se </a:t>
            </a:r>
            <a:r>
              <a:rPr lang="en-US" sz="1200" dirty="0" err="1">
                <a:latin typeface="Times New Roman"/>
                <a:ea typeface="Times New Roman"/>
                <a:cs typeface="Times New Roman"/>
                <a:sym typeface="Times New Roman"/>
              </a:rPr>
              <a:t>ven</a:t>
            </a:r>
            <a:r>
              <a:rPr lang="en-US" sz="12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200" dirty="0" err="1">
                <a:latin typeface="Times New Roman"/>
                <a:ea typeface="Times New Roman"/>
                <a:cs typeface="Times New Roman"/>
                <a:sym typeface="Times New Roman"/>
              </a:rPr>
              <a:t>promovidos</a:t>
            </a:r>
            <a:r>
              <a:rPr lang="en-US" sz="12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200" dirty="0" err="1">
                <a:latin typeface="Times New Roman"/>
                <a:ea typeface="Times New Roman"/>
                <a:cs typeface="Times New Roman"/>
                <a:sym typeface="Times New Roman"/>
              </a:rPr>
              <a:t>por</a:t>
            </a:r>
            <a:r>
              <a:rPr lang="en-US" sz="1200" dirty="0">
                <a:latin typeface="Times New Roman"/>
                <a:ea typeface="Times New Roman"/>
                <a:cs typeface="Times New Roman"/>
                <a:sym typeface="Times New Roman"/>
              </a:rPr>
              <a:t> la </a:t>
            </a:r>
            <a:r>
              <a:rPr lang="en-US" sz="1200" dirty="0" err="1">
                <a:latin typeface="Times New Roman"/>
                <a:ea typeface="Times New Roman"/>
                <a:cs typeface="Times New Roman"/>
                <a:sym typeface="Times New Roman"/>
              </a:rPr>
              <a:t>similitud</a:t>
            </a:r>
            <a:r>
              <a:rPr lang="en-US" sz="12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200" dirty="0" err="1">
                <a:latin typeface="Times New Roman"/>
                <a:ea typeface="Times New Roman"/>
                <a:cs typeface="Times New Roman"/>
                <a:sym typeface="Times New Roman"/>
              </a:rPr>
              <a:t>en</a:t>
            </a:r>
            <a:r>
              <a:rPr lang="en-US" sz="1200" dirty="0">
                <a:latin typeface="Times New Roman"/>
                <a:ea typeface="Times New Roman"/>
                <a:cs typeface="Times New Roman"/>
                <a:sym typeface="Times New Roman"/>
              </a:rPr>
              <a:t> la </a:t>
            </a:r>
            <a:r>
              <a:rPr lang="en-US" sz="1200" dirty="0" err="1">
                <a:latin typeface="Times New Roman"/>
                <a:ea typeface="Times New Roman"/>
                <a:cs typeface="Times New Roman"/>
                <a:sym typeface="Times New Roman"/>
              </a:rPr>
              <a:t>orientación</a:t>
            </a:r>
            <a:r>
              <a:rPr lang="en-US" sz="12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200" dirty="0" err="1">
                <a:latin typeface="Times New Roman"/>
                <a:ea typeface="Times New Roman"/>
                <a:cs typeface="Times New Roman"/>
                <a:sym typeface="Times New Roman"/>
              </a:rPr>
              <a:t>valórica</a:t>
            </a:r>
            <a:r>
              <a:rPr lang="en-US" sz="1200" dirty="0">
                <a:latin typeface="Times New Roman"/>
                <a:ea typeface="Times New Roman"/>
                <a:cs typeface="Times New Roman"/>
                <a:sym typeface="Times New Roman"/>
              </a:rPr>
              <a:t> (</a:t>
            </a:r>
            <a:r>
              <a:rPr lang="en-US" sz="1200" dirty="0" err="1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Uslaner</a:t>
            </a:r>
            <a:r>
              <a:rPr lang="en-US" sz="1200" dirty="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&amp; Brown, 2005</a:t>
            </a:r>
            <a:r>
              <a:rPr lang="en-US" sz="1200" dirty="0">
                <a:latin typeface="Times New Roman"/>
                <a:ea typeface="Times New Roman"/>
                <a:cs typeface="Times New Roman"/>
                <a:sym typeface="Times New Roman"/>
              </a:rPr>
              <a:t>).</a:t>
            </a:r>
            <a:br>
              <a:rPr lang="en-US" sz="120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endParaRPr lang="en-US" sz="12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 indent="-298450">
              <a:lnSpc>
                <a:spcPct val="100000"/>
              </a:lnSpc>
              <a:buSzPts val="1100"/>
            </a:pPr>
            <a:r>
              <a:rPr lang="es-ES" sz="1200" dirty="0">
                <a:latin typeface="Times New Roman"/>
                <a:ea typeface="Times New Roman"/>
                <a:cs typeface="Times New Roman"/>
                <a:sym typeface="Times New Roman"/>
              </a:rPr>
              <a:t>Según la teoría de los </a:t>
            </a:r>
            <a:r>
              <a:rPr lang="es-ES" sz="1200" b="1" dirty="0">
                <a:latin typeface="Times New Roman"/>
                <a:ea typeface="Times New Roman"/>
                <a:cs typeface="Times New Roman"/>
                <a:sym typeface="Times New Roman"/>
              </a:rPr>
              <a:t>valores humanos básicos</a:t>
            </a:r>
            <a:r>
              <a:rPr lang="es-ES" sz="12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200" dirty="0">
                <a:latin typeface="Times New Roman"/>
                <a:ea typeface="Times New Roman"/>
                <a:cs typeface="Times New Roman"/>
                <a:sym typeface="Times New Roman"/>
              </a:rPr>
              <a:t>(Schwartz, </a:t>
            </a:r>
            <a:r>
              <a:rPr lang="en-US" sz="1200" dirty="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1992</a:t>
            </a:r>
            <a:r>
              <a:rPr lang="en-US" sz="1200" dirty="0">
                <a:latin typeface="Times New Roman"/>
                <a:ea typeface="Times New Roman"/>
                <a:cs typeface="Times New Roman"/>
                <a:sym typeface="Times New Roman"/>
              </a:rPr>
              <a:t>), </a:t>
            </a:r>
            <a:r>
              <a:rPr lang="en-US" sz="1200" dirty="0" err="1">
                <a:latin typeface="Times New Roman"/>
                <a:ea typeface="Times New Roman"/>
                <a:cs typeface="Times New Roman"/>
                <a:sym typeface="Times New Roman"/>
              </a:rPr>
              <a:t>los</a:t>
            </a:r>
            <a:r>
              <a:rPr lang="en-US" sz="12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200" dirty="0" err="1">
                <a:latin typeface="Times New Roman"/>
                <a:ea typeface="Times New Roman"/>
                <a:cs typeface="Times New Roman"/>
                <a:sym typeface="Times New Roman"/>
              </a:rPr>
              <a:t>valores</a:t>
            </a:r>
            <a:r>
              <a:rPr lang="en-US" sz="12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s-ES" sz="1200" dirty="0">
                <a:latin typeface="Times New Roman"/>
                <a:ea typeface="Times New Roman"/>
                <a:cs typeface="Times New Roman"/>
                <a:sym typeface="Times New Roman"/>
              </a:rPr>
              <a:t>pueden dividirse en </a:t>
            </a:r>
            <a:r>
              <a:rPr lang="es-ES" sz="1200" b="1" dirty="0">
                <a:latin typeface="Times New Roman"/>
                <a:ea typeface="Times New Roman"/>
                <a:cs typeface="Times New Roman"/>
                <a:sym typeface="Times New Roman"/>
              </a:rPr>
              <a:t>cuatro valores</a:t>
            </a:r>
            <a:r>
              <a:rPr lang="es-ES" sz="1200" dirty="0">
                <a:latin typeface="Times New Roman"/>
                <a:ea typeface="Times New Roman"/>
                <a:cs typeface="Times New Roman"/>
                <a:sym typeface="Times New Roman"/>
              </a:rPr>
              <a:t> de orden superior en conflicto:</a:t>
            </a:r>
            <a:br>
              <a:rPr lang="es-ES" sz="120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2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</a:p>
          <a:p>
            <a:pPr lvl="1" indent="-298450">
              <a:lnSpc>
                <a:spcPct val="100000"/>
              </a:lnSpc>
              <a:buSzPts val="1100"/>
            </a:pPr>
            <a:r>
              <a:rPr lang="es-ES" sz="1000" b="1" dirty="0" err="1">
                <a:latin typeface="Times New Roman"/>
                <a:ea typeface="Times New Roman"/>
                <a:cs typeface="Times New Roman"/>
                <a:sym typeface="Times New Roman"/>
              </a:rPr>
              <a:t>Auto-trascendencia</a:t>
            </a:r>
            <a:r>
              <a:rPr lang="es-ES" sz="1000" dirty="0">
                <a:latin typeface="Times New Roman"/>
                <a:ea typeface="Times New Roman"/>
                <a:cs typeface="Times New Roman"/>
                <a:sym typeface="Times New Roman"/>
              </a:rPr>
              <a:t> (universalismo, benevolencia) </a:t>
            </a:r>
            <a:br>
              <a:rPr lang="es-ES" sz="100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s-ES" sz="1000" dirty="0">
                <a:latin typeface="Times New Roman"/>
                <a:ea typeface="Times New Roman"/>
                <a:cs typeface="Times New Roman"/>
                <a:sym typeface="Times New Roman"/>
              </a:rPr>
              <a:t>vs. </a:t>
            </a:r>
            <a:r>
              <a:rPr lang="es-ES" sz="1000" b="1" dirty="0" err="1">
                <a:latin typeface="Times New Roman"/>
                <a:ea typeface="Times New Roman"/>
                <a:cs typeface="Times New Roman"/>
                <a:sym typeface="Times New Roman"/>
              </a:rPr>
              <a:t>auto-promoción</a:t>
            </a:r>
            <a:r>
              <a:rPr lang="es-ES" sz="1000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s-ES" sz="1000" dirty="0">
                <a:latin typeface="Times New Roman"/>
                <a:ea typeface="Times New Roman"/>
                <a:cs typeface="Times New Roman"/>
                <a:sym typeface="Times New Roman"/>
              </a:rPr>
              <a:t>(logro, poder, placer)</a:t>
            </a:r>
            <a:r>
              <a:rPr lang="en-US" sz="1000" dirty="0">
                <a:latin typeface="Times New Roman"/>
                <a:ea typeface="Times New Roman"/>
                <a:cs typeface="Times New Roman"/>
                <a:sym typeface="Times New Roman"/>
              </a:rPr>
              <a:t>; </a:t>
            </a:r>
          </a:p>
          <a:p>
            <a:pPr lvl="1" indent="-298450">
              <a:lnSpc>
                <a:spcPct val="100000"/>
              </a:lnSpc>
              <a:buSzPts val="1100"/>
            </a:pPr>
            <a:endParaRPr lang="en-US" sz="10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1" indent="-298450">
              <a:lnSpc>
                <a:spcPct val="100000"/>
              </a:lnSpc>
              <a:buSzPts val="1100"/>
            </a:pPr>
            <a:r>
              <a:rPr lang="en-US" sz="1000" b="1" dirty="0">
                <a:latin typeface="Times New Roman"/>
                <a:ea typeface="Times New Roman"/>
                <a:cs typeface="Times New Roman"/>
                <a:sym typeface="Times New Roman"/>
              </a:rPr>
              <a:t>Apertura al </a:t>
            </a:r>
            <a:r>
              <a:rPr lang="en-US" sz="1000" b="1" dirty="0" err="1">
                <a:latin typeface="Times New Roman"/>
                <a:ea typeface="Times New Roman"/>
                <a:cs typeface="Times New Roman"/>
                <a:sym typeface="Times New Roman"/>
              </a:rPr>
              <a:t>cambio</a:t>
            </a:r>
            <a:r>
              <a:rPr lang="en-US" sz="1000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000" dirty="0">
                <a:latin typeface="Times New Roman"/>
                <a:ea typeface="Times New Roman"/>
                <a:cs typeface="Times New Roman"/>
                <a:sym typeface="Times New Roman"/>
              </a:rPr>
              <a:t>(</a:t>
            </a:r>
            <a:r>
              <a:rPr lang="en-US" sz="1000" dirty="0" err="1">
                <a:latin typeface="Times New Roman"/>
                <a:ea typeface="Times New Roman"/>
                <a:cs typeface="Times New Roman"/>
                <a:sym typeface="Times New Roman"/>
              </a:rPr>
              <a:t>estimulación</a:t>
            </a:r>
            <a:r>
              <a:rPr lang="en-US" sz="1000" dirty="0"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1000" dirty="0" err="1">
                <a:latin typeface="Times New Roman"/>
                <a:ea typeface="Times New Roman"/>
                <a:cs typeface="Times New Roman"/>
                <a:sym typeface="Times New Roman"/>
              </a:rPr>
              <a:t>creatividad</a:t>
            </a:r>
            <a:r>
              <a:rPr lang="en-US" sz="1000" dirty="0">
                <a:latin typeface="Times New Roman"/>
                <a:ea typeface="Times New Roman"/>
                <a:cs typeface="Times New Roman"/>
                <a:sym typeface="Times New Roman"/>
              </a:rPr>
              <a:t>) </a:t>
            </a:r>
            <a:br>
              <a:rPr lang="en-US" sz="100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000" dirty="0">
                <a:latin typeface="Times New Roman"/>
                <a:ea typeface="Times New Roman"/>
                <a:cs typeface="Times New Roman"/>
                <a:sym typeface="Times New Roman"/>
              </a:rPr>
              <a:t>vs. </a:t>
            </a:r>
            <a:r>
              <a:rPr lang="en-US" sz="1000" b="1" dirty="0">
                <a:latin typeface="Times New Roman"/>
                <a:ea typeface="Times New Roman"/>
                <a:cs typeface="Times New Roman"/>
                <a:sym typeface="Times New Roman"/>
              </a:rPr>
              <a:t>Conservación </a:t>
            </a:r>
            <a:r>
              <a:rPr lang="en-US" sz="1000" dirty="0">
                <a:latin typeface="Times New Roman"/>
                <a:ea typeface="Times New Roman"/>
                <a:cs typeface="Times New Roman"/>
                <a:sym typeface="Times New Roman"/>
              </a:rPr>
              <a:t>(</a:t>
            </a:r>
            <a:r>
              <a:rPr lang="en-US" sz="1000" dirty="0" err="1">
                <a:latin typeface="Times New Roman"/>
                <a:ea typeface="Times New Roman"/>
                <a:cs typeface="Times New Roman"/>
                <a:sym typeface="Times New Roman"/>
              </a:rPr>
              <a:t>estabilidad</a:t>
            </a:r>
            <a:r>
              <a:rPr lang="en-US" sz="1000" dirty="0"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1000" dirty="0" err="1">
                <a:latin typeface="Times New Roman"/>
                <a:ea typeface="Times New Roman"/>
                <a:cs typeface="Times New Roman"/>
                <a:sym typeface="Times New Roman"/>
              </a:rPr>
              <a:t>tradición</a:t>
            </a:r>
            <a:r>
              <a:rPr lang="en-US" sz="1000" dirty="0">
                <a:latin typeface="Times New Roman"/>
                <a:ea typeface="Times New Roman"/>
                <a:cs typeface="Times New Roman"/>
                <a:sym typeface="Times New Roman"/>
              </a:rPr>
              <a:t>).         </a:t>
            </a:r>
          </a:p>
          <a:p>
            <a:pPr lvl="1" indent="-298450">
              <a:lnSpc>
                <a:spcPct val="100000"/>
              </a:lnSpc>
              <a:buSzPts val="1100"/>
            </a:pPr>
            <a:endParaRPr lang="en-US" sz="10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1" indent="-298450">
              <a:lnSpc>
                <a:spcPct val="100000"/>
              </a:lnSpc>
              <a:buSzPts val="1100"/>
            </a:pPr>
            <a:r>
              <a:rPr lang="en-US" sz="1000" i="1" dirty="0">
                <a:latin typeface="Times New Roman"/>
                <a:ea typeface="Times New Roman"/>
                <a:cs typeface="Times New Roman"/>
                <a:sym typeface="Times New Roman"/>
              </a:rPr>
              <a:t>Foco Social</a:t>
            </a:r>
            <a:r>
              <a:rPr lang="en-US" sz="1000" dirty="0">
                <a:latin typeface="Times New Roman"/>
                <a:ea typeface="Times New Roman"/>
                <a:cs typeface="Times New Roman"/>
                <a:sym typeface="Times New Roman"/>
              </a:rPr>
              <a:t> (</a:t>
            </a:r>
            <a:r>
              <a:rPr lang="en-US" sz="1000" b="1" dirty="0">
                <a:latin typeface="Times New Roman"/>
                <a:ea typeface="Times New Roman"/>
                <a:cs typeface="Times New Roman"/>
                <a:sym typeface="Times New Roman"/>
              </a:rPr>
              <a:t>Auto-</a:t>
            </a:r>
            <a:r>
              <a:rPr lang="en-US" sz="1000" b="1" dirty="0" err="1">
                <a:latin typeface="Times New Roman"/>
                <a:ea typeface="Times New Roman"/>
                <a:cs typeface="Times New Roman"/>
                <a:sym typeface="Times New Roman"/>
              </a:rPr>
              <a:t>trascendencia</a:t>
            </a:r>
            <a:r>
              <a:rPr lang="en-US" sz="1000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000" dirty="0">
                <a:latin typeface="Times New Roman"/>
                <a:ea typeface="Times New Roman"/>
                <a:cs typeface="Times New Roman"/>
                <a:sym typeface="Times New Roman"/>
              </a:rPr>
              <a:t>+ </a:t>
            </a:r>
            <a:r>
              <a:rPr lang="en-US" sz="1000" b="1" dirty="0">
                <a:latin typeface="Times New Roman"/>
                <a:ea typeface="Times New Roman"/>
                <a:cs typeface="Times New Roman"/>
                <a:sym typeface="Times New Roman"/>
              </a:rPr>
              <a:t>Conservación</a:t>
            </a:r>
            <a:r>
              <a:rPr lang="en-US" sz="1000" dirty="0">
                <a:latin typeface="Times New Roman"/>
                <a:ea typeface="Times New Roman"/>
                <a:cs typeface="Times New Roman"/>
                <a:sym typeface="Times New Roman"/>
              </a:rPr>
              <a:t>) vs</a:t>
            </a:r>
            <a:br>
              <a:rPr lang="en-US" sz="100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000" i="1" dirty="0">
                <a:latin typeface="Times New Roman"/>
                <a:ea typeface="Times New Roman"/>
                <a:cs typeface="Times New Roman"/>
                <a:sym typeface="Times New Roman"/>
              </a:rPr>
              <a:t>Foco Personal </a:t>
            </a:r>
            <a:r>
              <a:rPr lang="en-US" sz="1000" dirty="0">
                <a:latin typeface="Times New Roman"/>
                <a:ea typeface="Times New Roman"/>
                <a:cs typeface="Times New Roman"/>
                <a:sym typeface="Times New Roman"/>
              </a:rPr>
              <a:t>(</a:t>
            </a:r>
            <a:r>
              <a:rPr lang="en-US" sz="1000" b="1" dirty="0">
                <a:latin typeface="Times New Roman"/>
                <a:ea typeface="Times New Roman"/>
                <a:cs typeface="Times New Roman"/>
                <a:sym typeface="Times New Roman"/>
              </a:rPr>
              <a:t>Apertura Cambio </a:t>
            </a:r>
            <a:r>
              <a:rPr lang="en-US" sz="1000" dirty="0">
                <a:latin typeface="Times New Roman"/>
                <a:ea typeface="Times New Roman"/>
                <a:cs typeface="Times New Roman"/>
                <a:sym typeface="Times New Roman"/>
              </a:rPr>
              <a:t>+ A</a:t>
            </a:r>
            <a:r>
              <a:rPr lang="en-US" sz="1000" b="1" dirty="0">
                <a:latin typeface="Times New Roman"/>
                <a:ea typeface="Times New Roman"/>
                <a:cs typeface="Times New Roman"/>
                <a:sym typeface="Times New Roman"/>
              </a:rPr>
              <a:t>uto-</a:t>
            </a:r>
            <a:r>
              <a:rPr lang="en-US" sz="1000" b="1" dirty="0" err="1">
                <a:latin typeface="Times New Roman"/>
                <a:ea typeface="Times New Roman"/>
                <a:cs typeface="Times New Roman"/>
                <a:sym typeface="Times New Roman"/>
              </a:rPr>
              <a:t>promoción</a:t>
            </a:r>
            <a:r>
              <a:rPr lang="en-US" sz="1000" dirty="0">
                <a:latin typeface="Times New Roman"/>
                <a:ea typeface="Times New Roman"/>
                <a:cs typeface="Times New Roman"/>
                <a:sym typeface="Times New Roman"/>
              </a:rPr>
              <a:t>)</a:t>
            </a:r>
            <a:br>
              <a:rPr lang="en-US" sz="100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000" dirty="0">
                <a:latin typeface="Times New Roman"/>
                <a:ea typeface="Times New Roman"/>
                <a:cs typeface="Times New Roman"/>
                <a:sym typeface="Times New Roman"/>
              </a:rPr>
              <a:t>                            </a:t>
            </a:r>
            <a:endParaRPr lang="en-US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 indent="-298450">
              <a:lnSpc>
                <a:spcPct val="100000"/>
              </a:lnSpc>
              <a:buSzPts val="1100"/>
            </a:pPr>
            <a:r>
              <a:rPr lang="es-ES" sz="1200" dirty="0">
                <a:latin typeface="Times New Roman"/>
                <a:ea typeface="Times New Roman"/>
                <a:cs typeface="Times New Roman"/>
                <a:sym typeface="Times New Roman"/>
              </a:rPr>
              <a:t>Funcionan como criterios de evaluación, por lo que determinados perfiles de valores pueden promover o inhibir la cohesión </a:t>
            </a:r>
            <a:r>
              <a:rPr lang="en-US" sz="1200" dirty="0">
                <a:latin typeface="Times New Roman"/>
                <a:ea typeface="Times New Roman"/>
                <a:cs typeface="Times New Roman"/>
                <a:sym typeface="Times New Roman"/>
              </a:rPr>
              <a:t>(</a:t>
            </a:r>
            <a:r>
              <a:rPr lang="en-US" sz="1200" dirty="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Schröder, Speer, Sachweh, &amp; Groh-Samberg, 2022</a:t>
            </a:r>
            <a:r>
              <a:rPr lang="en-US" sz="1200" dirty="0">
                <a:latin typeface="Times New Roman"/>
                <a:ea typeface="Times New Roman"/>
                <a:cs typeface="Times New Roman"/>
                <a:sym typeface="Times New Roman"/>
              </a:rPr>
              <a:t>)</a:t>
            </a:r>
          </a:p>
          <a:p>
            <a:pPr lvl="0" indent="-298450" algn="ctr">
              <a:lnSpc>
                <a:spcPct val="105000"/>
              </a:lnSpc>
              <a:spcAft>
                <a:spcPts val="600"/>
              </a:spcAft>
              <a:buClr>
                <a:srgbClr val="000000"/>
              </a:buClr>
              <a:buSzPts val="1100"/>
              <a:buFont typeface="Arial"/>
              <a:buChar char="●"/>
            </a:pPr>
            <a:endParaRPr lang="en-US" sz="900" b="0" i="0" u="none" strike="noStrike" cap="none" noProof="0" dirty="0">
              <a:solidFill>
                <a:schemeClr val="dk1"/>
              </a:solidFill>
            </a:endParaRPr>
          </a:p>
        </p:txBody>
      </p:sp>
      <p:pic>
        <p:nvPicPr>
          <p:cNvPr id="2" name="Picture 2" descr="Hierarchical Cluster Analysis of Human Value Priorities and Associations  with Subjective Well-Being, Subjective General Health, Social Life, and  Depression across Europe">
            <a:extLst>
              <a:ext uri="{FF2B5EF4-FFF2-40B4-BE49-F238E27FC236}">
                <a16:creationId xmlns:a16="http://schemas.microsoft.com/office/drawing/2014/main" id="{E25ED32A-0585-1AD7-7AE3-6872AEFE8A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250" y="1208225"/>
            <a:ext cx="3416299" cy="33839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10501180"/>
      </p:ext>
    </p:extLst>
  </p:cSld>
  <p:clrMapOvr>
    <a:masterClrMapping/>
  </p:clrMapOvr>
  <p:transition spd="med">
    <p:fade thruBlk="1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en-US" dirty="0" err="1"/>
              <a:t>Fuerzas</a:t>
            </a:r>
            <a:r>
              <a:rPr lang="en-US" dirty="0"/>
              <a:t> </a:t>
            </a:r>
            <a:r>
              <a:rPr lang="en-US" dirty="0" err="1"/>
              <a:t>promotoras</a:t>
            </a:r>
            <a:r>
              <a:rPr lang="en-US" dirty="0"/>
              <a:t> e </a:t>
            </a:r>
            <a:r>
              <a:rPr lang="en-US" dirty="0" err="1"/>
              <a:t>inhibidoras</a:t>
            </a:r>
            <a:r>
              <a:rPr lang="en-US" dirty="0"/>
              <a:t> de la </a:t>
            </a:r>
            <a:r>
              <a:rPr lang="en-US" dirty="0" err="1"/>
              <a:t>cohesión</a:t>
            </a:r>
            <a:endParaRPr lang="en-US" noProof="0" dirty="0"/>
          </a:p>
        </p:txBody>
      </p:sp>
      <p:sp>
        <p:nvSpPr>
          <p:cNvPr id="114" name="Google Shape;114;p19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US" b="1" dirty="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El </a:t>
            </a:r>
            <a:r>
              <a:rPr lang="en-US" b="1" dirty="0" err="1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ámbito</a:t>
            </a:r>
            <a:r>
              <a:rPr lang="en-US" b="1" dirty="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sociocultural</a:t>
            </a:r>
            <a:endParaRPr lang="en-US" sz="1200" b="1" dirty="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 indent="-298450">
              <a:spcBef>
                <a:spcPts val="1200"/>
              </a:spcBef>
              <a:buClr>
                <a:schemeClr val="dk1"/>
              </a:buClr>
              <a:buSzPts val="1100"/>
              <a:buFont typeface="Times New Roman"/>
              <a:buChar char="●"/>
            </a:pPr>
            <a:r>
              <a:rPr lang="es-E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Las sociedades se esfuerzan por ser resilientes a las consecuencias que tiene la diversidad cultural sobre la cohesión social </a:t>
            </a:r>
            <a: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</a:t>
            </a:r>
            <a:r>
              <a:rPr lang="en-US" sz="1100" dirty="0" err="1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Baldassarri</a:t>
            </a:r>
            <a:r>
              <a:rPr lang="en-US" sz="1100" dirty="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&amp; Abascal, 2020</a:t>
            </a:r>
            <a: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).</a:t>
            </a:r>
          </a:p>
          <a:p>
            <a:pPr lvl="0" indent="-298450">
              <a:buClr>
                <a:schemeClr val="dk1"/>
              </a:buClr>
              <a:buSzPts val="1100"/>
            </a:pPr>
            <a:r>
              <a:rPr lang="es-E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Los migrantes pueden percibirse como una amenaza económica, asociada al incremento de la percepción de la competencia laboral o cultural, vinculada a la pérdida de una identidad nacional </a:t>
            </a:r>
            <a: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</a:t>
            </a:r>
            <a:r>
              <a:rPr lang="en-US" sz="1100" dirty="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Tropp &amp; Pettigrew, 2005</a:t>
            </a:r>
            <a: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).</a:t>
            </a:r>
          </a:p>
          <a:p>
            <a:pPr marL="158750" lvl="0" indent="0">
              <a:buClr>
                <a:schemeClr val="dk1"/>
              </a:buClr>
              <a:buSzPts val="1100"/>
              <a:buNone/>
            </a:pPr>
            <a:endParaRPr lang="en-US" sz="11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 indent="-298450">
              <a:buClr>
                <a:schemeClr val="dk1"/>
              </a:buClr>
              <a:buSzPts val="1100"/>
            </a:pPr>
            <a:r>
              <a:rPr lang="es-E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 pertenencia a grupos religiosos está asociada con las expectativas sobre el apego a las normas y valores sociales</a:t>
            </a:r>
            <a:r>
              <a:rPr lang="es-ES" sz="11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</a:t>
            </a:r>
            <a:r>
              <a:rPr lang="en-US" sz="1100" dirty="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Rowatt &amp; Al-Kire, 2021</a:t>
            </a:r>
            <a: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).</a:t>
            </a:r>
          </a:p>
          <a:p>
            <a:pPr lvl="0" indent="-298450">
              <a:buClr>
                <a:schemeClr val="dk1"/>
              </a:buClr>
              <a:buSzPts val="1100"/>
            </a:pPr>
            <a:r>
              <a:rPr lang="es-E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Las personas religiosas pueden ser percibidas como planificadoras lentas, no impulsivas y más dignas de confianza que las no religiosas.</a:t>
            </a:r>
            <a: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</a:t>
            </a:r>
            <a:r>
              <a:rPr lang="en-US" sz="1100" dirty="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Moon, </a:t>
            </a:r>
            <a:r>
              <a:rPr lang="en-US" sz="1100" dirty="0" err="1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Krems</a:t>
            </a:r>
            <a:r>
              <a:rPr lang="en-US" sz="1100" dirty="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&amp; Cohen, 2018</a:t>
            </a:r>
            <a: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). </a:t>
            </a:r>
            <a:r>
              <a:rPr lang="es-E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Además, las minorías religiosas pueden ser percibidas como una amenaza para el poder dominante. </a:t>
            </a:r>
            <a: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culture.</a:t>
            </a:r>
            <a:endParaRPr lang="en-US" sz="11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en-US" sz="1100" noProof="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5" name="Google Shape;115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US" b="1" dirty="0">
                <a:solidFill>
                  <a:srgbClr val="0000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El </a:t>
            </a:r>
            <a:r>
              <a:rPr lang="en-US" b="1" dirty="0" err="1">
                <a:solidFill>
                  <a:srgbClr val="0000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ámbito</a:t>
            </a:r>
            <a:r>
              <a:rPr lang="en-US" b="1" dirty="0">
                <a:solidFill>
                  <a:srgbClr val="0000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b="1" dirty="0" err="1">
                <a:solidFill>
                  <a:srgbClr val="0000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político</a:t>
            </a:r>
            <a:r>
              <a:rPr lang="en-US" b="1" dirty="0">
                <a:solidFill>
                  <a:srgbClr val="0000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100" b="1" noProof="0" dirty="0">
                <a:solidFill>
                  <a:srgbClr val="0000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	</a:t>
            </a:r>
            <a:r>
              <a:rPr lang="en-US" sz="1100" noProof="0" dirty="0">
                <a:latin typeface="Times New Roman"/>
                <a:ea typeface="Times New Roman"/>
                <a:cs typeface="Times New Roman"/>
                <a:sym typeface="Times New Roman"/>
              </a:rPr>
              <a:t>		</a:t>
            </a:r>
          </a:p>
          <a:p>
            <a:pPr lvl="0" indent="-298450">
              <a:lnSpc>
                <a:spcPct val="100000"/>
              </a:lnSpc>
              <a:spcBef>
                <a:spcPts val="1200"/>
              </a:spcBef>
              <a:buClr>
                <a:schemeClr val="dk1"/>
              </a:buClr>
              <a:buSzPts val="1100"/>
            </a:pPr>
            <a:r>
              <a:rPr lang="es-ES" sz="12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Las posiciones políticas influyen en las evaluaciones sociales, y la identidad política determina las percepciones de fiabilidad y apertura a la reciprocidad. </a:t>
            </a:r>
            <a:r>
              <a:rPr lang="en-US" sz="1200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</a:t>
            </a:r>
            <a:r>
              <a:rPr lang="en-US" sz="1200" noProof="0" dirty="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Groh-Samberg et al., 2023</a:t>
            </a:r>
            <a:r>
              <a:rPr lang="en-US" sz="1200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).</a:t>
            </a:r>
            <a:r>
              <a:rPr lang="en-US" sz="12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lang="en-US" sz="1200" noProof="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 indent="-298450">
              <a:lnSpc>
                <a:spcPct val="100000"/>
              </a:lnSpc>
              <a:buClr>
                <a:schemeClr val="dk1"/>
              </a:buClr>
              <a:buSzPts val="1100"/>
              <a:buFont typeface="Times New Roman"/>
              <a:buChar char="●"/>
            </a:pPr>
            <a:r>
              <a:rPr lang="es-ES" sz="12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 división política pone de relieve las evaluaciones basadas en la pertenencia a grupos, en las que los individuos evalúan posiciones en un espectro izquierda-derecha que traza las identidades de los grupos políticos</a:t>
            </a:r>
            <a:r>
              <a:rPr lang="en-US" sz="1200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</a:t>
            </a:r>
            <a:r>
              <a:rPr lang="en-US" sz="1200" noProof="0" dirty="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Hernández-Lagos &amp; Minor, 2020</a:t>
            </a:r>
            <a:r>
              <a:rPr lang="en-US" sz="1200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</a:t>
            </a:r>
          </a:p>
          <a:p>
            <a:pPr lvl="0" indent="-298450">
              <a:lnSpc>
                <a:spcPct val="100000"/>
              </a:lnSpc>
              <a:buClr>
                <a:schemeClr val="dk1"/>
              </a:buClr>
              <a:buSzPts val="1100"/>
              <a:buFont typeface="Times New Roman"/>
              <a:buChar char="●"/>
            </a:pPr>
            <a:r>
              <a:rPr lang="es-ES" sz="12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Los centristas suelen ser vistos como más moderados, abiertos al compromiso y menos extremistas, lo que los hace más accesibles a personas de diversos orígenes políticos.</a:t>
            </a:r>
            <a:r>
              <a:rPr lang="en-US" sz="1200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</a:t>
            </a:r>
            <a:r>
              <a:rPr lang="en-US" sz="1200" noProof="0" dirty="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Hernández-Lagos &amp; Minor, 2020</a:t>
            </a:r>
            <a:r>
              <a:rPr lang="en-US" sz="1200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).</a:t>
            </a:r>
            <a:endParaRPr lang="en-US" sz="1200" noProof="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6" name="Google Shape;116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6</a:t>
            </a:fld>
            <a:endParaRPr lang="en-US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lvl="0" algn="l">
              <a:buSzPct val="30555"/>
            </a:pPr>
            <a:r>
              <a:rPr lang="es-ES" i="1" dirty="0">
                <a:latin typeface="Georgia"/>
                <a:ea typeface="Georgia"/>
                <a:cs typeface="Georgia"/>
                <a:sym typeface="Georgia"/>
              </a:rPr>
              <a:t>¿Cómo afectan las características de los grupos sociales a la cohesión social?</a:t>
            </a:r>
            <a:endParaRPr lang="en-US" i="1" noProof="0" dirty="0"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22" name="Google Shape;122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7</a:t>
            </a:fld>
            <a:endParaRPr lang="en-US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>
          <a:extLst>
            <a:ext uri="{FF2B5EF4-FFF2-40B4-BE49-F238E27FC236}">
              <a16:creationId xmlns:a16="http://schemas.microsoft.com/office/drawing/2014/main" id="{F29692D1-E564-A91C-4C07-934CE687F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4">
            <a:extLst>
              <a:ext uri="{FF2B5EF4-FFF2-40B4-BE49-F238E27FC236}">
                <a16:creationId xmlns:a16="http://schemas.microsoft.com/office/drawing/2014/main" id="{B5CCD284-4559-3395-3B78-9978BF7E0E75}"/>
              </a:ext>
            </a:extLst>
          </p:cNvPr>
          <p:cNvSpPr txBox="1"/>
          <p:nvPr/>
        </p:nvSpPr>
        <p:spPr>
          <a:xfrm>
            <a:off x="1196074" y="577459"/>
            <a:ext cx="6978108" cy="3970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r"/>
            <a:r>
              <a:rPr lang="en-US" i="1" noProof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Respondente</a:t>
            </a: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r>
              <a:rPr lang="en-US" i="1" noProof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Viñeta</a:t>
            </a:r>
            <a:endParaRPr lang="en-US" i="1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8" name="Google Shape;128;p21">
            <a:extLst>
              <a:ext uri="{FF2B5EF4-FFF2-40B4-BE49-F238E27FC236}">
                <a16:creationId xmlns:a16="http://schemas.microsoft.com/office/drawing/2014/main" id="{B5D6255B-4EB6-202D-59BA-2F96887CFAA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0FF9D31-A31A-D27F-3704-FBB26A774EBF}"/>
              </a:ext>
            </a:extLst>
          </p:cNvPr>
          <p:cNvSpPr txBox="1"/>
          <p:nvPr/>
        </p:nvSpPr>
        <p:spPr>
          <a:xfrm>
            <a:off x="1467400" y="2724093"/>
            <a:ext cx="1440000" cy="2769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NSE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E4AE7008-3030-851B-7A54-5B91AFFE8C52}"/>
              </a:ext>
            </a:extLst>
          </p:cNvPr>
          <p:cNvGrpSpPr/>
          <p:nvPr/>
        </p:nvGrpSpPr>
        <p:grpSpPr>
          <a:xfrm>
            <a:off x="6114829" y="2946892"/>
            <a:ext cx="1440000" cy="1080000"/>
            <a:chOff x="6057900" y="3392309"/>
            <a:chExt cx="1440000" cy="108000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415F6E0-8F54-85A8-C595-D32C1EABD5C1}"/>
                </a:ext>
              </a:extLst>
            </p:cNvPr>
            <p:cNvSpPr txBox="1"/>
            <p:nvPr/>
          </p:nvSpPr>
          <p:spPr>
            <a:xfrm>
              <a:off x="6057900" y="3392309"/>
              <a:ext cx="1440000" cy="1080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endParaRPr lang="en-US" noProof="0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B19C7F8-1FB9-A43C-FFCE-2F534332F891}"/>
                </a:ext>
              </a:extLst>
            </p:cNvPr>
            <p:cNvSpPr txBox="1"/>
            <p:nvPr/>
          </p:nvSpPr>
          <p:spPr>
            <a:xfrm>
              <a:off x="6225540" y="3538745"/>
              <a:ext cx="1080000" cy="27699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sz="1200" b="1" noProof="0" dirty="0" err="1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Confianza</a:t>
              </a:r>
              <a:endParaRPr lang="en-US" sz="1200" b="1" noProof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ED339B4-D4CE-2C6C-21CF-557BA0FC9417}"/>
                </a:ext>
              </a:extLst>
            </p:cNvPr>
            <p:cNvSpPr txBox="1"/>
            <p:nvPr/>
          </p:nvSpPr>
          <p:spPr>
            <a:xfrm>
              <a:off x="6225540" y="4026425"/>
              <a:ext cx="1080000" cy="27699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sz="1200" noProof="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Cooperación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255F57D3-D6FE-2751-7B70-18D0D3CD27DD}"/>
              </a:ext>
            </a:extLst>
          </p:cNvPr>
          <p:cNvSpPr txBox="1"/>
          <p:nvPr/>
        </p:nvSpPr>
        <p:spPr>
          <a:xfrm>
            <a:off x="1467400" y="3150153"/>
            <a:ext cx="1440000" cy="2769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noProof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Migración</a:t>
            </a:r>
            <a:endParaRPr lang="en-US" sz="12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4F7706-87DA-1B6F-2C51-6E48FBA8FE4E}"/>
              </a:ext>
            </a:extLst>
          </p:cNvPr>
          <p:cNvSpPr txBox="1"/>
          <p:nvPr/>
        </p:nvSpPr>
        <p:spPr>
          <a:xfrm>
            <a:off x="1467400" y="3486892"/>
            <a:ext cx="1440000" cy="2769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noProof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Religión</a:t>
            </a:r>
            <a:endParaRPr lang="en-US" sz="12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552909-20C6-EA26-12D4-FD26B3C2CD67}"/>
              </a:ext>
            </a:extLst>
          </p:cNvPr>
          <p:cNvSpPr txBox="1"/>
          <p:nvPr/>
        </p:nvSpPr>
        <p:spPr>
          <a:xfrm>
            <a:off x="1467400" y="3813011"/>
            <a:ext cx="1440000" cy="2769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Pos. Política (Cent.)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2A487E-D723-6760-4C88-85DABCAEE79F}"/>
              </a:ext>
            </a:extLst>
          </p:cNvPr>
          <p:cNvSpPr txBox="1"/>
          <p:nvPr/>
        </p:nvSpPr>
        <p:spPr>
          <a:xfrm>
            <a:off x="1467400" y="4146751"/>
            <a:ext cx="1440000" cy="2769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Autotrascendencia</a:t>
            </a:r>
            <a:endParaRPr lang="en-US" sz="12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0E84186-1648-DEAD-95C3-575845871017}"/>
              </a:ext>
            </a:extLst>
          </p:cNvPr>
          <p:cNvCxnSpPr>
            <a:stCxn id="2" idx="3"/>
            <a:endCxn id="9" idx="1"/>
          </p:cNvCxnSpPr>
          <p:nvPr/>
        </p:nvCxnSpPr>
        <p:spPr>
          <a:xfrm>
            <a:off x="2907400" y="2862593"/>
            <a:ext cx="3207429" cy="624299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65634A5-3FB0-1D0D-80BE-5B8735D8A731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2907400" y="3288653"/>
            <a:ext cx="3207429" cy="198239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A996344-7FB7-8C7D-563D-445739B4DD9F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 flipV="1">
            <a:off x="2907400" y="3486892"/>
            <a:ext cx="3207429" cy="13850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1FF8940-0C91-8D06-0CE5-332804E7219B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 flipV="1">
            <a:off x="2907400" y="3486892"/>
            <a:ext cx="3207429" cy="464619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49E2841-2689-7BBC-5F7D-B6B67707402B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2907400" y="3486892"/>
            <a:ext cx="3207429" cy="798359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1000C9F-3C5C-406F-AA2E-5A22F60C9997}"/>
              </a:ext>
            </a:extLst>
          </p:cNvPr>
          <p:cNvCxnSpPr>
            <a:cxnSpLocks/>
            <a:stCxn id="25" idx="1"/>
            <a:endCxn id="25" idx="3"/>
          </p:cNvCxnSpPr>
          <p:nvPr/>
        </p:nvCxnSpPr>
        <p:spPr>
          <a:xfrm>
            <a:off x="1196074" y="2562618"/>
            <a:ext cx="6978108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04DFFCD5-F79D-7779-99F3-E5C9EDAA2B23}"/>
              </a:ext>
            </a:extLst>
          </p:cNvPr>
          <p:cNvSpPr txBox="1"/>
          <p:nvPr/>
        </p:nvSpPr>
        <p:spPr>
          <a:xfrm>
            <a:off x="3677025" y="2781306"/>
            <a:ext cx="4433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+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2ABC1F1-54EA-1668-5525-75F7D5BB8F4A}"/>
              </a:ext>
            </a:extLst>
          </p:cNvPr>
          <p:cNvSpPr txBox="1"/>
          <p:nvPr/>
        </p:nvSpPr>
        <p:spPr>
          <a:xfrm>
            <a:off x="3659987" y="3866872"/>
            <a:ext cx="4433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+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8227655-2CEF-588E-8F91-C87A120EF61B}"/>
              </a:ext>
            </a:extLst>
          </p:cNvPr>
          <p:cNvSpPr txBox="1"/>
          <p:nvPr/>
        </p:nvSpPr>
        <p:spPr>
          <a:xfrm>
            <a:off x="3547960" y="3032122"/>
            <a:ext cx="4433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-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5FD68B7-DE2B-34AE-5286-2320D14C5522}"/>
              </a:ext>
            </a:extLst>
          </p:cNvPr>
          <p:cNvSpPr txBox="1"/>
          <p:nvPr/>
        </p:nvSpPr>
        <p:spPr>
          <a:xfrm>
            <a:off x="3478660" y="3341604"/>
            <a:ext cx="4433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+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0DD7653-0730-BE4A-2CC3-6231DB31C3F8}"/>
              </a:ext>
            </a:extLst>
          </p:cNvPr>
          <p:cNvSpPr txBox="1"/>
          <p:nvPr/>
        </p:nvSpPr>
        <p:spPr>
          <a:xfrm>
            <a:off x="3514685" y="3609431"/>
            <a:ext cx="4433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+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9F7D669-55BE-3492-3014-0216DD13D658}"/>
              </a:ext>
            </a:extLst>
          </p:cNvPr>
          <p:cNvSpPr txBox="1"/>
          <p:nvPr/>
        </p:nvSpPr>
        <p:spPr>
          <a:xfrm>
            <a:off x="3547960" y="2809604"/>
            <a:ext cx="579040" cy="1476895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806297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>
          <a:extLst>
            <a:ext uri="{FF2B5EF4-FFF2-40B4-BE49-F238E27FC236}">
              <a16:creationId xmlns:a16="http://schemas.microsoft.com/office/drawing/2014/main" id="{7C7A082D-3631-5118-7334-4FC442B291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4">
            <a:extLst>
              <a:ext uri="{FF2B5EF4-FFF2-40B4-BE49-F238E27FC236}">
                <a16:creationId xmlns:a16="http://schemas.microsoft.com/office/drawing/2014/main" id="{3B5390AC-E6A1-5AD6-97AF-5424C10FEAC1}"/>
              </a:ext>
            </a:extLst>
          </p:cNvPr>
          <p:cNvSpPr txBox="1"/>
          <p:nvPr/>
        </p:nvSpPr>
        <p:spPr>
          <a:xfrm>
            <a:off x="1196074" y="577459"/>
            <a:ext cx="6978108" cy="3970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r"/>
            <a:r>
              <a:rPr lang="en-US" i="1" noProof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Respondente</a:t>
            </a: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r>
              <a:rPr lang="en-US" i="1" noProof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Viñeta</a:t>
            </a:r>
            <a:endParaRPr lang="en-US" i="1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5DFDE2A-CC59-D81A-8634-A7CC9DD74B48}"/>
              </a:ext>
            </a:extLst>
          </p:cNvPr>
          <p:cNvSpPr txBox="1"/>
          <p:nvPr/>
        </p:nvSpPr>
        <p:spPr>
          <a:xfrm>
            <a:off x="1385454" y="625948"/>
            <a:ext cx="1614055" cy="1882038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US" noProof="0" dirty="0"/>
          </a:p>
        </p:txBody>
      </p:sp>
      <p:sp>
        <p:nvSpPr>
          <p:cNvPr id="128" name="Google Shape;128;p21">
            <a:extLst>
              <a:ext uri="{FF2B5EF4-FFF2-40B4-BE49-F238E27FC236}">
                <a16:creationId xmlns:a16="http://schemas.microsoft.com/office/drawing/2014/main" id="{E1487194-D584-2E1C-ED70-989ACBCD7F0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9C8F8B9-C6E2-1BCB-4655-4DB4F8F40041}"/>
              </a:ext>
            </a:extLst>
          </p:cNvPr>
          <p:cNvSpPr txBox="1"/>
          <p:nvPr/>
        </p:nvSpPr>
        <p:spPr>
          <a:xfrm>
            <a:off x="1467400" y="2724093"/>
            <a:ext cx="1440000" cy="2769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NSE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40E57EE-777B-831A-6746-A9DB91AB9302}"/>
              </a:ext>
            </a:extLst>
          </p:cNvPr>
          <p:cNvGrpSpPr/>
          <p:nvPr/>
        </p:nvGrpSpPr>
        <p:grpSpPr>
          <a:xfrm>
            <a:off x="6114829" y="2946892"/>
            <a:ext cx="1440000" cy="1080000"/>
            <a:chOff x="6057900" y="3392309"/>
            <a:chExt cx="1440000" cy="108000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7104D5C-11DC-1C57-7B3C-D6F277203F50}"/>
                </a:ext>
              </a:extLst>
            </p:cNvPr>
            <p:cNvSpPr txBox="1"/>
            <p:nvPr/>
          </p:nvSpPr>
          <p:spPr>
            <a:xfrm>
              <a:off x="6057900" y="3392309"/>
              <a:ext cx="1440000" cy="1080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endParaRPr lang="en-US" noProof="0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1D506B8-D652-0238-D421-17DA48744DCB}"/>
                </a:ext>
              </a:extLst>
            </p:cNvPr>
            <p:cNvSpPr txBox="1"/>
            <p:nvPr/>
          </p:nvSpPr>
          <p:spPr>
            <a:xfrm>
              <a:off x="6225540" y="3538745"/>
              <a:ext cx="1080000" cy="27699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sz="1200" b="1" noProof="0" dirty="0" err="1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Confianza</a:t>
              </a:r>
              <a:endParaRPr lang="en-US" sz="1200" b="1" noProof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AC4BA4D-0B7B-75AA-AC1B-E143CFA6111C}"/>
                </a:ext>
              </a:extLst>
            </p:cNvPr>
            <p:cNvSpPr txBox="1"/>
            <p:nvPr/>
          </p:nvSpPr>
          <p:spPr>
            <a:xfrm>
              <a:off x="6225540" y="4026425"/>
              <a:ext cx="1080000" cy="27699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sz="1200" noProof="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Cooperación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7EF63D45-0381-6604-3503-85EBB4BD85EC}"/>
              </a:ext>
            </a:extLst>
          </p:cNvPr>
          <p:cNvSpPr txBox="1"/>
          <p:nvPr/>
        </p:nvSpPr>
        <p:spPr>
          <a:xfrm>
            <a:off x="1467400" y="3150153"/>
            <a:ext cx="1440000" cy="2769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noProof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Migración</a:t>
            </a:r>
            <a:endParaRPr lang="en-US" sz="12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FE6412-0B96-376C-EF93-29FBFDA9B487}"/>
              </a:ext>
            </a:extLst>
          </p:cNvPr>
          <p:cNvSpPr txBox="1"/>
          <p:nvPr/>
        </p:nvSpPr>
        <p:spPr>
          <a:xfrm>
            <a:off x="1467400" y="3486892"/>
            <a:ext cx="1440000" cy="2769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noProof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Religión</a:t>
            </a:r>
            <a:endParaRPr lang="en-US" sz="12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5AEBC4-4D07-2974-7627-5CA5410FDBC9}"/>
              </a:ext>
            </a:extLst>
          </p:cNvPr>
          <p:cNvSpPr txBox="1"/>
          <p:nvPr/>
        </p:nvSpPr>
        <p:spPr>
          <a:xfrm>
            <a:off x="1467400" y="3813011"/>
            <a:ext cx="1440000" cy="2769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Pos. Política (Cent.)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E8E355-70B7-2986-B50C-2D7B571173C2}"/>
              </a:ext>
            </a:extLst>
          </p:cNvPr>
          <p:cNvSpPr txBox="1"/>
          <p:nvPr/>
        </p:nvSpPr>
        <p:spPr>
          <a:xfrm>
            <a:off x="1467400" y="4146751"/>
            <a:ext cx="1440000" cy="2769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Autotrascendencia</a:t>
            </a:r>
            <a:endParaRPr lang="en-US" sz="12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518F2D4-2CB4-028F-534E-56B0E72FA7C1}"/>
              </a:ext>
            </a:extLst>
          </p:cNvPr>
          <p:cNvCxnSpPr>
            <a:stCxn id="2" idx="3"/>
            <a:endCxn id="9" idx="1"/>
          </p:cNvCxnSpPr>
          <p:nvPr/>
        </p:nvCxnSpPr>
        <p:spPr>
          <a:xfrm>
            <a:off x="2907400" y="2862593"/>
            <a:ext cx="3207429" cy="624299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D04617E-D294-FE3F-B0F6-DD29AD123504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2907400" y="3288653"/>
            <a:ext cx="3207429" cy="198239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2173A9D-5928-DEEA-7110-BF0F1A67076D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 flipV="1">
            <a:off x="2907400" y="3486892"/>
            <a:ext cx="3207429" cy="13850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4323AB8-4655-4637-DB67-AA5E437AA25D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 flipV="1">
            <a:off x="2907400" y="3486892"/>
            <a:ext cx="3207429" cy="464619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6A7B80B-241E-5C09-CF2F-8908B2FAD4B6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2907400" y="3486892"/>
            <a:ext cx="3207429" cy="798359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2217D9D-2A02-F662-4EAF-1BB0E77F9F39}"/>
              </a:ext>
            </a:extLst>
          </p:cNvPr>
          <p:cNvCxnSpPr>
            <a:cxnSpLocks/>
            <a:stCxn id="25" idx="1"/>
            <a:endCxn id="25" idx="3"/>
          </p:cNvCxnSpPr>
          <p:nvPr/>
        </p:nvCxnSpPr>
        <p:spPr>
          <a:xfrm>
            <a:off x="1196074" y="2562618"/>
            <a:ext cx="6978108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C6FE5CC8-7129-B667-98A3-AC2E8BD4700D}"/>
              </a:ext>
            </a:extLst>
          </p:cNvPr>
          <p:cNvSpPr txBox="1"/>
          <p:nvPr/>
        </p:nvSpPr>
        <p:spPr>
          <a:xfrm>
            <a:off x="1467400" y="698867"/>
            <a:ext cx="1440000" cy="2769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noProof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NSE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49F3221-1C39-1578-1B5F-2896545C3069}"/>
              </a:ext>
            </a:extLst>
          </p:cNvPr>
          <p:cNvSpPr txBox="1"/>
          <p:nvPr/>
        </p:nvSpPr>
        <p:spPr>
          <a:xfrm>
            <a:off x="1467400" y="1124927"/>
            <a:ext cx="1440000" cy="2769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noProof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Migración</a:t>
            </a:r>
            <a:endParaRPr lang="en-US" sz="1200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125157E-2780-EC29-A019-A1D3A852BB37}"/>
              </a:ext>
            </a:extLst>
          </p:cNvPr>
          <p:cNvSpPr txBox="1"/>
          <p:nvPr/>
        </p:nvSpPr>
        <p:spPr>
          <a:xfrm>
            <a:off x="1467400" y="1461666"/>
            <a:ext cx="1440000" cy="2769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noProof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Religión</a:t>
            </a:r>
            <a:endParaRPr lang="en-US" sz="1200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9DBF1C1-A147-6944-A553-60A705B0ED0A}"/>
              </a:ext>
            </a:extLst>
          </p:cNvPr>
          <p:cNvSpPr txBox="1"/>
          <p:nvPr/>
        </p:nvSpPr>
        <p:spPr>
          <a:xfrm>
            <a:off x="1467400" y="1787785"/>
            <a:ext cx="1440000" cy="2769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noProof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Ideología</a:t>
            </a:r>
            <a:r>
              <a:rPr lang="en-US" sz="1200" noProof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Política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5032BDC-103E-B71E-07FA-1931AB7804E2}"/>
              </a:ext>
            </a:extLst>
          </p:cNvPr>
          <p:cNvSpPr txBox="1"/>
          <p:nvPr/>
        </p:nvSpPr>
        <p:spPr>
          <a:xfrm>
            <a:off x="1467400" y="2121525"/>
            <a:ext cx="1440000" cy="2769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Valores</a:t>
            </a:r>
            <a:endParaRPr lang="en-US" sz="12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8977EE5-F3F2-7B6E-3B68-930D2597F52E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2999509" y="1566967"/>
            <a:ext cx="762000" cy="1157126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A8B9E6BD-4FFE-8B81-072C-F8D66FD353DF}"/>
              </a:ext>
            </a:extLst>
          </p:cNvPr>
          <p:cNvSpPr txBox="1"/>
          <p:nvPr/>
        </p:nvSpPr>
        <p:spPr>
          <a:xfrm>
            <a:off x="3677025" y="2781306"/>
            <a:ext cx="4433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+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F2A4285-B47F-6E19-682F-FE16BF761B69}"/>
              </a:ext>
            </a:extLst>
          </p:cNvPr>
          <p:cNvSpPr txBox="1"/>
          <p:nvPr/>
        </p:nvSpPr>
        <p:spPr>
          <a:xfrm>
            <a:off x="3659987" y="3866872"/>
            <a:ext cx="4433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+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598EBD2-AFF9-73F8-D47E-96F1362549DD}"/>
              </a:ext>
            </a:extLst>
          </p:cNvPr>
          <p:cNvSpPr txBox="1"/>
          <p:nvPr/>
        </p:nvSpPr>
        <p:spPr>
          <a:xfrm>
            <a:off x="3547960" y="3032122"/>
            <a:ext cx="4433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-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295B050-5046-37BE-50D0-A0C678689BD8}"/>
              </a:ext>
            </a:extLst>
          </p:cNvPr>
          <p:cNvSpPr txBox="1"/>
          <p:nvPr/>
        </p:nvSpPr>
        <p:spPr>
          <a:xfrm>
            <a:off x="3478660" y="3341604"/>
            <a:ext cx="4433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+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DDA89A9-1478-69F0-18DF-4F01CC408278}"/>
              </a:ext>
            </a:extLst>
          </p:cNvPr>
          <p:cNvSpPr txBox="1"/>
          <p:nvPr/>
        </p:nvSpPr>
        <p:spPr>
          <a:xfrm>
            <a:off x="3514685" y="3609431"/>
            <a:ext cx="4433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+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9EC105A-5AE3-B445-FF3A-9EFAFBB05C22}"/>
              </a:ext>
            </a:extLst>
          </p:cNvPr>
          <p:cNvSpPr txBox="1"/>
          <p:nvPr/>
        </p:nvSpPr>
        <p:spPr>
          <a:xfrm>
            <a:off x="3446901" y="1805535"/>
            <a:ext cx="2319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H6</a:t>
            </a:r>
          </a:p>
          <a:p>
            <a:r>
              <a:rPr lang="en-US" i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(H</a:t>
            </a:r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ipótesis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homofilia</a:t>
            </a:r>
            <a:r>
              <a:rPr lang="en-US" i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EE1EFE7-9514-6615-B0AF-EA8CDBE59764}"/>
              </a:ext>
            </a:extLst>
          </p:cNvPr>
          <p:cNvSpPr txBox="1"/>
          <p:nvPr/>
        </p:nvSpPr>
        <p:spPr>
          <a:xfrm>
            <a:off x="3547960" y="2809604"/>
            <a:ext cx="579040" cy="1476895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517180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en-US" dirty="0" err="1"/>
              <a:t>Experimento</a:t>
            </a:r>
            <a:r>
              <a:rPr lang="en-US" dirty="0"/>
              <a:t> de </a:t>
            </a:r>
            <a:r>
              <a:rPr lang="en-US" dirty="0" err="1"/>
              <a:t>encuesta</a:t>
            </a:r>
            <a:r>
              <a:rPr lang="en-US" dirty="0"/>
              <a:t> factorial</a:t>
            </a:r>
            <a:endParaRPr lang="en-US" noProof="0" dirty="0"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35" name="Google Shape;135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10</a:t>
            </a:fld>
            <a:endParaRPr lang="en-US" noProof="0" dirty="0"/>
          </a:p>
        </p:txBody>
      </p:sp>
      <p:sp>
        <p:nvSpPr>
          <p:cNvPr id="136" name="Google Shape;136;p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sz="13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Diseño</a:t>
            </a:r>
            <a:r>
              <a:rPr lang="en-US" sz="13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del </a:t>
            </a:r>
            <a:r>
              <a:rPr lang="en-US" sz="13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estudio</a:t>
            </a:r>
            <a:r>
              <a:rPr lang="en-US" sz="13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  <a:r>
              <a:rPr lang="es-ES" sz="13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 utiliza un estudio factorial de viñetas para explorar cómo las características específicas de los sujetos ficticios (viñetas) influyen en las evaluaciones de los observadores externos.</a:t>
            </a:r>
            <a:endParaRPr lang="en-US" sz="1300" noProof="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sz="13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Diseño</a:t>
            </a:r>
            <a:r>
              <a:rPr lang="en-US" sz="13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 la </a:t>
            </a:r>
            <a:r>
              <a:rPr lang="en-US" sz="13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viñeta</a:t>
            </a:r>
            <a:r>
              <a:rPr lang="en-US" sz="13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endParaRPr lang="en-US" sz="1300" b="1" noProof="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 indent="-311150">
              <a:lnSpc>
                <a:spcPct val="100000"/>
              </a:lnSpc>
              <a:spcBef>
                <a:spcPts val="1200"/>
              </a:spcBef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lang="en-US" sz="13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Cada </a:t>
            </a:r>
            <a:r>
              <a:rPr lang="en-US" sz="13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viñeta</a:t>
            </a:r>
            <a:r>
              <a:rPr lang="en-US" sz="13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3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incluye</a:t>
            </a:r>
            <a:r>
              <a:rPr lang="en-US" sz="13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3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atributos</a:t>
            </a:r>
            <a:r>
              <a:rPr lang="en-US" sz="13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3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como</a:t>
            </a:r>
            <a:r>
              <a:rPr lang="en-US" sz="13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3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características</a:t>
            </a:r>
            <a:r>
              <a:rPr lang="en-US" sz="13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3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demográficas</a:t>
            </a:r>
            <a:r>
              <a:rPr lang="en-US" sz="13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o </a:t>
            </a:r>
            <a:r>
              <a:rPr lang="en-US" sz="13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socioeconómicas</a:t>
            </a:r>
            <a:r>
              <a:rPr lang="en-US" sz="13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</a:t>
            </a:r>
            <a:r>
              <a:rPr lang="en-US" sz="13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por</a:t>
            </a:r>
            <a:r>
              <a:rPr lang="en-US" sz="13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3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ejemplo</a:t>
            </a:r>
            <a:r>
              <a:rPr lang="en-US" sz="13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13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sexo</a:t>
            </a:r>
            <a:r>
              <a:rPr lang="en-US" sz="13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13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ingresos</a:t>
            </a:r>
            <a:r>
              <a:rPr lang="en-US" sz="13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).</a:t>
            </a:r>
            <a:r>
              <a:rPr lang="en-US" sz="1300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</a:t>
            </a:r>
          </a:p>
          <a:p>
            <a:pPr lvl="0" indent="-311150">
              <a:lnSpc>
                <a:spcPct val="100000"/>
              </a:lnSpc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lang="es-ES" sz="13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Los encuestados evalúan estas viñetas en función de los atributos proporcionados (Detalles diapositiva siguiente)</a:t>
            </a:r>
            <a:endParaRPr lang="en-US" sz="1300" noProof="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7" name="Google Shape;137;p22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>
              <a:buNone/>
            </a:pPr>
            <a:r>
              <a:rPr lang="en-US" sz="1300" b="1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Recogida</a:t>
            </a:r>
            <a:r>
              <a:rPr lang="en-US" sz="1300" b="1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de </a:t>
            </a:r>
            <a:r>
              <a:rPr lang="en-US" sz="1300" b="1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datos</a:t>
            </a:r>
            <a:r>
              <a:rPr lang="en-US" sz="1300" b="1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:</a:t>
            </a:r>
          </a:p>
          <a:p>
            <a:pPr lvl="0" indent="-311150">
              <a:spcBef>
                <a:spcPts val="1200"/>
              </a:spcBef>
              <a:buSzPts val="1300"/>
              <a:buFont typeface="Times New Roman"/>
              <a:buChar char="-"/>
            </a:pPr>
            <a:r>
              <a:rPr lang="es-ES" sz="1300" b="1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Alemania: </a:t>
            </a:r>
            <a:r>
              <a:rPr lang="es-ES" sz="130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septiembre-octubre de 2024 (CAWI). Submuestra de la 4.ª Ola del Panel de Cohesión Social.</a:t>
            </a:r>
            <a:endParaRPr lang="en-US" sz="1300" noProof="0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lvl="0" indent="-311150">
              <a:buSzPts val="1300"/>
              <a:buFont typeface="Times New Roman"/>
              <a:buChar char="-"/>
            </a:pPr>
            <a:r>
              <a:rPr lang="en-US" sz="1300" b="1" noProof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Chile</a:t>
            </a:r>
            <a:r>
              <a:rPr lang="en-US" sz="1300" noProof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: </a:t>
            </a:r>
            <a:r>
              <a:rPr lang="es-ES" sz="130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diciembre de 2024 - enero de 2025 (CAWI), muestra por cuotas de conveniencia.</a:t>
            </a:r>
            <a:endParaRPr lang="en-US" sz="1300" noProof="0" dirty="0">
              <a:solidFill>
                <a:schemeClr val="dk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300" b="1" noProof="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Datos y </a:t>
            </a:r>
            <a:r>
              <a:rPr lang="en-US" sz="1300" b="1" noProof="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métodos</a:t>
            </a:r>
            <a:endParaRPr lang="en-US" sz="1300" b="1" noProof="0" dirty="0">
              <a:solidFill>
                <a:schemeClr val="dk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marL="91440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Times New Roman"/>
              <a:buChar char="○"/>
            </a:pPr>
            <a:endParaRPr lang="en-US" sz="1300" noProof="0" dirty="0">
              <a:solidFill>
                <a:schemeClr val="dk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lvl="1">
              <a:lnSpc>
                <a:spcPct val="100000"/>
              </a:lnSpc>
              <a:buClr>
                <a:schemeClr val="dk1"/>
              </a:buClr>
              <a:buFont typeface="Times New Roman"/>
              <a:buChar char="○"/>
            </a:pPr>
            <a:r>
              <a:rPr lang="es-ES" sz="130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Alemania</a:t>
            </a:r>
            <a:r>
              <a:rPr lang="es-ES" sz="1300" i="1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: N</a:t>
            </a:r>
            <a:r>
              <a:rPr lang="es-ES" sz="130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= 3.907</a:t>
            </a:r>
          </a:p>
          <a:p>
            <a:pPr lvl="1">
              <a:lnSpc>
                <a:spcPct val="100000"/>
              </a:lnSpc>
              <a:buClr>
                <a:schemeClr val="dk1"/>
              </a:buClr>
              <a:buFont typeface="Times New Roman"/>
              <a:buChar char="○"/>
            </a:pPr>
            <a:r>
              <a:rPr lang="en-US" sz="130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Chile:  </a:t>
            </a:r>
            <a:r>
              <a:rPr lang="en-US" sz="1300" i="1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N</a:t>
            </a:r>
            <a:r>
              <a:rPr lang="en-US" sz="130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= 3.676</a:t>
            </a:r>
            <a:endParaRPr lang="en-US" sz="1300" noProof="0" dirty="0">
              <a:solidFill>
                <a:schemeClr val="dk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marL="91440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Times New Roman"/>
              <a:buChar char="○"/>
            </a:pPr>
            <a:r>
              <a:rPr lang="en-US" sz="1300" noProof="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Modelos</a:t>
            </a:r>
            <a:r>
              <a:rPr lang="en-US" sz="1300" noProof="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de regression </a:t>
            </a:r>
            <a:r>
              <a:rPr lang="en-US" sz="1300" noProof="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multinivel</a:t>
            </a:r>
            <a:endParaRPr lang="en-US" sz="1300" noProof="0" dirty="0">
              <a:solidFill>
                <a:schemeClr val="dk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lvl="2">
              <a:lnSpc>
                <a:spcPct val="100000"/>
              </a:lnSpc>
              <a:buClr>
                <a:schemeClr val="dk1"/>
              </a:buClr>
              <a:buFont typeface="Times New Roman"/>
              <a:buChar char="○"/>
            </a:pPr>
            <a:r>
              <a:rPr lang="es-CL" sz="13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I</a:t>
            </a:r>
            <a:r>
              <a:rPr lang="es-CL" sz="1300" noProof="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ntercepto</a:t>
            </a:r>
            <a:r>
              <a:rPr lang="es-CL" sz="1300" noProof="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y pendiente aleatoria (H1 a H5)</a:t>
            </a:r>
          </a:p>
          <a:p>
            <a:pPr lvl="2">
              <a:lnSpc>
                <a:spcPct val="100000"/>
              </a:lnSpc>
              <a:buClr>
                <a:schemeClr val="dk1"/>
              </a:buClr>
              <a:buFont typeface="Times New Roman"/>
              <a:buChar char="○"/>
            </a:pPr>
            <a:r>
              <a:rPr lang="es-CL" sz="13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Interacción </a:t>
            </a:r>
            <a:r>
              <a:rPr lang="es-CL" sz="13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cross-level</a:t>
            </a:r>
            <a:r>
              <a:rPr lang="es-CL" sz="13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(H6)</a:t>
            </a:r>
            <a:endParaRPr lang="es-CL" sz="1300" noProof="0" dirty="0">
              <a:solidFill>
                <a:schemeClr val="dk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marL="60960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endParaRPr lang="en-US" sz="1300" b="1" noProof="0" dirty="0">
              <a:solidFill>
                <a:schemeClr val="dk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11</a:t>
            </a:fld>
            <a:endParaRPr lang="en-US" noProof="0" dirty="0"/>
          </a:p>
        </p:txBody>
      </p:sp>
      <p:sp>
        <p:nvSpPr>
          <p:cNvPr id="143" name="Google Shape;143;p23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0" lv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sz="1300" b="1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Administration: </a:t>
            </a:r>
            <a:r>
              <a:rPr lang="es-ES" sz="13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para garantizar una recogida de datos manejable, cada encuestado evalúa un número limitado de viñetas </a:t>
            </a:r>
            <a:endParaRPr lang="en-US" sz="1300" noProof="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s-ES" sz="13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Este diseño mantiene la variación en las respuestas tanto dentro de los encuestados como entre ellos.</a:t>
            </a:r>
            <a:endParaRPr lang="en-US" b="1" i="1" noProof="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>
              <a:spcBef>
                <a:spcPts val="1200"/>
              </a:spcBef>
              <a:buNone/>
            </a:pPr>
            <a:r>
              <a:rPr lang="en-US" b="1" i="1" noProof="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Universo factorial:</a:t>
            </a:r>
            <a:r>
              <a:rPr lang="en-US" noProof="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s-ES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2*3*3*4*3*3*3*4*4 que representa un universo factorial de 31.104 combinaciones posibles (imposible de evaluar)</a:t>
            </a:r>
            <a:br>
              <a:rPr lang="es-ES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lang="en-US" noProof="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b="1" i="1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Dos pasos (</a:t>
            </a:r>
            <a:r>
              <a:rPr lang="en-US" b="1" i="1" dirty="0" err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algoritmo</a:t>
            </a:r>
            <a:r>
              <a:rPr lang="en-US" b="1" i="1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D-efficient):</a:t>
            </a:r>
            <a:endParaRPr lang="en-US" noProof="0" dirty="0">
              <a:solidFill>
                <a:schemeClr val="tx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 indent="-293370">
              <a:spcBef>
                <a:spcPts val="1200"/>
              </a:spcBef>
              <a:buSzPct val="100000"/>
              <a:buFont typeface="Times New Roman"/>
              <a:buChar char="-"/>
            </a:pPr>
            <a:r>
              <a:rPr lang="en-US" dirty="0" err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Selección</a:t>
            </a:r>
            <a:r>
              <a:rPr lang="en-US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óptima</a:t>
            </a:r>
            <a:r>
              <a:rPr lang="en-US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 </a:t>
            </a:r>
            <a:r>
              <a:rPr lang="en-US" dirty="0" err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viñetas</a:t>
            </a:r>
            <a:r>
              <a:rPr lang="en-US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</a:t>
            </a:r>
            <a:r>
              <a:rPr lang="en-US" noProof="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144)</a:t>
            </a:r>
          </a:p>
          <a:p>
            <a:pPr lvl="0" indent="-293370">
              <a:buSzPct val="100000"/>
              <a:buFont typeface="Times New Roman"/>
              <a:buChar char="-"/>
            </a:pPr>
            <a:r>
              <a:rPr lang="en-US" dirty="0" err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Organícelos</a:t>
            </a:r>
            <a:r>
              <a:rPr lang="en-US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en</a:t>
            </a:r>
            <a:r>
              <a:rPr lang="en-US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bloques</a:t>
            </a:r>
            <a:r>
              <a:rPr lang="en-US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noProof="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(15)</a:t>
            </a:r>
          </a:p>
          <a:p>
            <a:pPr marL="0" lvl="0" indent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1" noProof="0" dirty="0" err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Resultado</a:t>
            </a:r>
            <a:r>
              <a:rPr lang="en-US" b="1" i="1" noProof="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  <a:r>
              <a:rPr lang="es-ES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Cada encuestado evalúa de 9 a 10 viñetas (1 minuto cada una)</a:t>
            </a:r>
            <a:endParaRPr lang="en-US" noProof="0" dirty="0">
              <a:solidFill>
                <a:schemeClr val="tx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4" name="Google Shape;144;p23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/>
          </a:p>
        </p:txBody>
      </p:sp>
      <p:pic>
        <p:nvPicPr>
          <p:cNvPr id="145" name="Google Shape;145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59091" y="3394"/>
            <a:ext cx="4699508" cy="51333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12</a:t>
            </a:fld>
            <a:endParaRPr lang="en-US" noProof="0" dirty="0"/>
          </a:p>
        </p:txBody>
      </p:sp>
      <p:sp>
        <p:nvSpPr>
          <p:cNvPr id="151" name="Google Shape;151;p24"/>
          <p:cNvSpPr txBox="1"/>
          <p:nvPr/>
        </p:nvSpPr>
        <p:spPr>
          <a:xfrm>
            <a:off x="599350" y="1571305"/>
            <a:ext cx="8066700" cy="104641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Person A is a </a:t>
            </a:r>
            <a:r>
              <a:rPr lang="en-US" b="1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man </a:t>
            </a:r>
            <a:r>
              <a:rPr lang="en-US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and is </a:t>
            </a:r>
            <a:r>
              <a:rPr lang="en-US" b="1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45 years old</a:t>
            </a:r>
            <a:r>
              <a:rPr lang="en-US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. He was </a:t>
            </a:r>
            <a:r>
              <a:rPr lang="en-US" b="1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born in Syria, came to Germany</a:t>
            </a:r>
            <a:r>
              <a:rPr lang="en-US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 and is a devout </a:t>
            </a:r>
            <a:r>
              <a:rPr lang="en-US" b="1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Christian</a:t>
            </a:r>
            <a:r>
              <a:rPr lang="en-US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. Person A has completed </a:t>
            </a:r>
            <a:r>
              <a:rPr lang="en-US" b="1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vocational training after finishing secondary school</a:t>
            </a:r>
            <a:r>
              <a:rPr lang="en-US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, is full-time employed and has a monthly income of </a:t>
            </a:r>
            <a:r>
              <a:rPr lang="en-US" b="1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6,000€</a:t>
            </a:r>
            <a:r>
              <a:rPr lang="en-US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 at his disposal. He sees himself politically standing on the </a:t>
            </a:r>
            <a:r>
              <a:rPr lang="en-US" b="1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left</a:t>
            </a:r>
            <a:r>
              <a:rPr lang="en-US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. To person A it is </a:t>
            </a:r>
            <a:r>
              <a:rPr lang="en-US" b="1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important to make your own decisions and lead an entertaining and adventurous life</a:t>
            </a:r>
            <a:r>
              <a:rPr lang="en-US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87977E-D4D2-CC08-87B2-C5C07D51D90A}"/>
              </a:ext>
            </a:extLst>
          </p:cNvPr>
          <p:cNvSpPr txBox="1"/>
          <p:nvPr/>
        </p:nvSpPr>
        <p:spPr>
          <a:xfrm>
            <a:off x="599610" y="2813452"/>
            <a:ext cx="806670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b="1" i="1" noProof="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82600" lvl="0" indent="-342900">
              <a:buSzPts val="1400"/>
              <a:buAutoNum type="arabicParenR"/>
            </a:pPr>
            <a:r>
              <a:rPr lang="es-ES" dirty="0">
                <a:latin typeface="Times New Roman"/>
                <a:ea typeface="Times New Roman"/>
                <a:cs typeface="Times New Roman"/>
                <a:sym typeface="Times New Roman"/>
              </a:rPr>
              <a:t>Imagina que conoces a una persona [ID] a través de tu círculo de conocidos. ¿Qué probabilidad hay de que te lleves bien con la persona [ID]?</a:t>
            </a:r>
            <a:r>
              <a:rPr lang="en-US" noProof="0" dirty="0">
                <a:latin typeface="Times New Roman"/>
                <a:ea typeface="Times New Roman"/>
                <a:cs typeface="Times New Roman"/>
                <a:sym typeface="Times New Roman"/>
              </a:rPr>
              <a:t>  </a:t>
            </a:r>
            <a:r>
              <a:rPr lang="en-US" b="1" noProof="0" dirty="0">
                <a:latin typeface="Times New Roman"/>
                <a:ea typeface="Times New Roman"/>
                <a:cs typeface="Times New Roman"/>
                <a:sym typeface="Times New Roman"/>
              </a:rPr>
              <a:t>(</a:t>
            </a:r>
            <a:r>
              <a:rPr lang="en-US" b="1" noProof="0" dirty="0" err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Confianza</a:t>
            </a:r>
            <a:r>
              <a:rPr lang="en-US" b="1" noProof="0" dirty="0">
                <a:latin typeface="Times New Roman"/>
                <a:ea typeface="Times New Roman"/>
                <a:cs typeface="Times New Roman"/>
                <a:sym typeface="Times New Roman"/>
              </a:rPr>
              <a:t>)</a:t>
            </a:r>
          </a:p>
          <a:p>
            <a:pPr marL="482600" lvl="0" indent="-342900" algn="l" rtl="0">
              <a:spcBef>
                <a:spcPts val="0"/>
              </a:spcBef>
              <a:spcAft>
                <a:spcPts val="0"/>
              </a:spcAft>
              <a:buSzPts val="1400"/>
              <a:buAutoNum type="arabicParenR"/>
            </a:pPr>
            <a:r>
              <a:rPr lang="en-US" noProof="0" dirty="0">
                <a:solidFill>
                  <a:schemeClr val="bg1">
                    <a:lumMod val="85000"/>
                  </a:schemeClr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Imagine you are faced with a task that you cannot perform on your own. How likely would you be to ask the person [ID] for help? </a:t>
            </a:r>
            <a:r>
              <a:rPr lang="en-US" b="1" noProof="0" dirty="0">
                <a:solidFill>
                  <a:schemeClr val="bg1">
                    <a:lumMod val="85000"/>
                  </a:schemeClr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(Cooperation)</a:t>
            </a:r>
            <a:br>
              <a:rPr lang="en-US" noProof="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endParaRPr lang="en-US" noProof="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139700" lvl="0" algn="ctr">
              <a:buSzPts val="1400"/>
            </a:pPr>
            <a:r>
              <a:rPr lang="en-US" b="1" noProof="0" dirty="0">
                <a:latin typeface="Times New Roman"/>
                <a:ea typeface="Times New Roman"/>
                <a:cs typeface="Times New Roman"/>
                <a:sym typeface="Times New Roman"/>
              </a:rPr>
              <a:t>["Not likely at all”] </a:t>
            </a:r>
            <a:r>
              <a:rPr lang="en-US" noProof="0" dirty="0">
                <a:latin typeface="Times New Roman"/>
                <a:ea typeface="Times New Roman"/>
                <a:cs typeface="Times New Roman"/>
                <a:sym typeface="Times New Roman"/>
              </a:rPr>
              <a:t>0,1,2,3,4,5,6,7,8,9,10 </a:t>
            </a:r>
            <a:r>
              <a:rPr lang="en-US" b="1" noProof="0" dirty="0">
                <a:latin typeface="Times New Roman"/>
                <a:ea typeface="Times New Roman"/>
                <a:cs typeface="Times New Roman"/>
                <a:sym typeface="Times New Roman"/>
              </a:rPr>
              <a:t>[“Absolutely likely”]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7195A-4FCF-533A-5D5A-AF1DA20BA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7B734D-A828-BFD1-2266-D43D667281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3C5733-F3E3-637A-8F99-C9A111CC7B7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13</a:t>
            </a:fld>
            <a:endParaRPr lang="en-US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88A9E63-91C3-74AC-51A2-C5E528E8B3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426" y="285750"/>
            <a:ext cx="8832300" cy="44161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82CEDC7-B627-40B7-65D7-D25538B2DEC2}"/>
              </a:ext>
            </a:extLst>
          </p:cNvPr>
          <p:cNvSpPr txBox="1"/>
          <p:nvPr/>
        </p:nvSpPr>
        <p:spPr>
          <a:xfrm>
            <a:off x="738294" y="4674465"/>
            <a:ext cx="76470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noProof="0" dirty="0">
                <a:latin typeface="Times New Roman"/>
                <a:ea typeface="Times New Roman"/>
                <a:cs typeface="Times New Roman"/>
                <a:sym typeface="Times New Roman"/>
              </a:rPr>
              <a:t>[</a:t>
            </a:r>
            <a:r>
              <a:rPr lang="es-ES" b="1" dirty="0">
                <a:latin typeface="Times New Roman"/>
                <a:ea typeface="Times New Roman"/>
                <a:cs typeface="Times New Roman"/>
                <a:sym typeface="Times New Roman"/>
              </a:rPr>
              <a:t>"No es probable en absoluto"</a:t>
            </a:r>
            <a:r>
              <a:rPr lang="en-US" b="1" noProof="0" dirty="0">
                <a:latin typeface="Times New Roman"/>
                <a:ea typeface="Times New Roman"/>
                <a:cs typeface="Times New Roman"/>
                <a:sym typeface="Times New Roman"/>
              </a:rPr>
              <a:t>] </a:t>
            </a:r>
            <a:r>
              <a:rPr lang="en-US" noProof="0" dirty="0">
                <a:latin typeface="Times New Roman"/>
                <a:ea typeface="Times New Roman"/>
                <a:cs typeface="Times New Roman"/>
                <a:sym typeface="Times New Roman"/>
              </a:rPr>
              <a:t>0,1,2,3,4,5,6,7,8,9,10 </a:t>
            </a:r>
            <a:r>
              <a:rPr lang="en-US" b="1" noProof="0" dirty="0">
                <a:latin typeface="Times New Roman"/>
                <a:ea typeface="Times New Roman"/>
                <a:cs typeface="Times New Roman"/>
                <a:sym typeface="Times New Roman"/>
              </a:rPr>
              <a:t>[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"</a:t>
            </a: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Absolutamente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 probable"</a:t>
            </a:r>
            <a:r>
              <a:rPr lang="en-US" b="1" noProof="0" dirty="0">
                <a:latin typeface="Times New Roman"/>
                <a:ea typeface="Times New Roman"/>
                <a:cs typeface="Times New Roman"/>
                <a:sym typeface="Times New Roman"/>
              </a:rPr>
              <a:t>]</a:t>
            </a:r>
            <a:endParaRPr lang="en-US" noProof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1DAB53-130C-7F7F-68FD-00AF7AEA697F}"/>
              </a:ext>
            </a:extLst>
          </p:cNvPr>
          <p:cNvSpPr txBox="1"/>
          <p:nvPr/>
        </p:nvSpPr>
        <p:spPr>
          <a:xfrm>
            <a:off x="2858348" y="877211"/>
            <a:ext cx="15985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6.2, </a:t>
            </a:r>
            <a:r>
              <a:rPr lang="es-CL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SD </a:t>
            </a: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2.74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EDB78B-D9B6-6BB0-2C08-27AC069C606E}"/>
              </a:ext>
            </a:extLst>
          </p:cNvPr>
          <p:cNvSpPr txBox="1"/>
          <p:nvPr/>
        </p:nvSpPr>
        <p:spPr>
          <a:xfrm>
            <a:off x="7372757" y="873826"/>
            <a:ext cx="15985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5.7, </a:t>
            </a:r>
            <a:r>
              <a:rPr lang="es-CL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SD </a:t>
            </a: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2.36</a:t>
            </a:r>
          </a:p>
        </p:txBody>
      </p:sp>
    </p:spTree>
    <p:extLst>
      <p:ext uri="{BB962C8B-B14F-4D97-AF65-F5344CB8AC3E}">
        <p14:creationId xmlns:p14="http://schemas.microsoft.com/office/powerpoint/2010/main" val="24721155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5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lvl="0"/>
            <a:r>
              <a:rPr lang="en-US" dirty="0" err="1">
                <a:latin typeface="Georgia"/>
                <a:ea typeface="Georgia"/>
                <a:cs typeface="Georgia"/>
                <a:sym typeface="Georgia"/>
              </a:rPr>
              <a:t>Resultados</a:t>
            </a:r>
            <a:r>
              <a:rPr lang="en-US" dirty="0">
                <a:latin typeface="Georgia"/>
                <a:ea typeface="Georgia"/>
                <a:cs typeface="Georgia"/>
                <a:sym typeface="Georgia"/>
              </a:rPr>
              <a:t>: </a:t>
            </a:r>
            <a:r>
              <a:rPr lang="en-US" dirty="0" err="1">
                <a:latin typeface="Georgia"/>
                <a:ea typeface="Georgia"/>
                <a:cs typeface="Georgia"/>
                <a:sym typeface="Georgia"/>
              </a:rPr>
              <a:t>los</a:t>
            </a:r>
            <a:r>
              <a:rPr lang="en-US" dirty="0">
                <a:latin typeface="Georgia"/>
                <a:ea typeface="Georgia"/>
                <a:cs typeface="Georgia"/>
                <a:sym typeface="Georgia"/>
              </a:rPr>
              <a:t> </a:t>
            </a:r>
            <a:r>
              <a:rPr lang="en-US" dirty="0" err="1">
                <a:latin typeface="Georgia"/>
                <a:ea typeface="Georgia"/>
                <a:cs typeface="Georgia"/>
                <a:sym typeface="Georgia"/>
              </a:rPr>
              <a:t>otros</a:t>
            </a:r>
            <a:endParaRPr lang="en-US" noProof="0" dirty="0"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57" name="Google Shape;157;p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77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4E457D8D-05A5-4967-B4AB-D41D3B652EF8}" type="slidenum">
              <a:rPr lang="en-US" noProof="0" smtClean="0"/>
              <a:t>14</a:t>
            </a:fld>
            <a:fld id="{F29C51C9-3AE0-4E26-8213-438B9701BA42}" type="slidenum">
              <a:rPr lang="en-US" noProof="0" smtClean="0"/>
              <a:t>14</a:t>
            </a:fld>
            <a:fld id="{70408E1F-C39A-4225-ADAF-3E22F443AB58}" type="slidenum">
              <a:rPr lang="en-US" noProof="0" smtClean="0"/>
              <a:t>14</a:t>
            </a:fld>
            <a:endParaRPr lang="en-US" noProof="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162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398" y="0"/>
            <a:ext cx="7834163" cy="5225797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CB521B7-013D-8520-96DB-01859F78442D}"/>
              </a:ext>
            </a:extLst>
          </p:cNvPr>
          <p:cNvSpPr/>
          <p:nvPr/>
        </p:nvSpPr>
        <p:spPr>
          <a:xfrm>
            <a:off x="152400" y="453813"/>
            <a:ext cx="7834163" cy="1178560"/>
          </a:xfrm>
          <a:prstGeom prst="roundRect">
            <a:avLst/>
          </a:prstGeom>
          <a:noFill/>
          <a:ln w="1905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s-CL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0250B3A-B6EC-401F-F269-C353CE141D1D}"/>
              </a:ext>
            </a:extLst>
          </p:cNvPr>
          <p:cNvCxnSpPr/>
          <p:nvPr/>
        </p:nvCxnSpPr>
        <p:spPr>
          <a:xfrm>
            <a:off x="5161280" y="1246293"/>
            <a:ext cx="209973" cy="318347"/>
          </a:xfrm>
          <a:prstGeom prst="straightConnector1">
            <a:avLst/>
          </a:prstGeom>
          <a:ln w="19050" cap="flat" cmpd="sng" algn="ctr">
            <a:solidFill>
              <a:srgbClr val="F8766D"/>
            </a:solidFill>
            <a:prstDash val="solid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6AF0E39E-B9F1-6C8B-A110-B1101792F91B}"/>
              </a:ext>
            </a:extLst>
          </p:cNvPr>
          <p:cNvSpPr/>
          <p:nvPr/>
        </p:nvSpPr>
        <p:spPr>
          <a:xfrm>
            <a:off x="152400" y="1632373"/>
            <a:ext cx="7834162" cy="1320800"/>
          </a:xfrm>
          <a:prstGeom prst="roundRect">
            <a:avLst/>
          </a:prstGeom>
          <a:noFill/>
          <a:ln w="1905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s-CL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33C6DED-79BB-166B-8552-4507BEDA4B4C}"/>
              </a:ext>
            </a:extLst>
          </p:cNvPr>
          <p:cNvSpPr/>
          <p:nvPr/>
        </p:nvSpPr>
        <p:spPr>
          <a:xfrm>
            <a:off x="152400" y="2970108"/>
            <a:ext cx="7834162" cy="720511"/>
          </a:xfrm>
          <a:prstGeom prst="round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s-CL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AC75BE7-60C7-53BD-E64C-B49DC76F07BA}"/>
              </a:ext>
            </a:extLst>
          </p:cNvPr>
          <p:cNvSpPr/>
          <p:nvPr/>
        </p:nvSpPr>
        <p:spPr>
          <a:xfrm>
            <a:off x="152399" y="3738033"/>
            <a:ext cx="7834163" cy="768772"/>
          </a:xfrm>
          <a:prstGeom prst="roundRect">
            <a:avLst/>
          </a:prstGeom>
          <a:noFill/>
          <a:ln w="19050" cap="flat" cmpd="sng" algn="ctr">
            <a:solidFill>
              <a:srgbClr val="7030A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s-CL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4FE051A-C621-06DE-F327-C708C032BC1C}"/>
              </a:ext>
            </a:extLst>
          </p:cNvPr>
          <p:cNvCxnSpPr>
            <a:cxnSpLocks/>
          </p:cNvCxnSpPr>
          <p:nvPr/>
        </p:nvCxnSpPr>
        <p:spPr>
          <a:xfrm flipH="1">
            <a:off x="4429760" y="731520"/>
            <a:ext cx="325120" cy="257387"/>
          </a:xfrm>
          <a:prstGeom prst="straightConnector1">
            <a:avLst/>
          </a:prstGeom>
          <a:ln w="19050" cap="flat" cmpd="sng" algn="ctr">
            <a:solidFill>
              <a:srgbClr val="F8766D"/>
            </a:solidFill>
            <a:prstDash val="solid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1" name="Arc 30">
            <a:extLst>
              <a:ext uri="{FF2B5EF4-FFF2-40B4-BE49-F238E27FC236}">
                <a16:creationId xmlns:a16="http://schemas.microsoft.com/office/drawing/2014/main" id="{6DBBD95A-C46A-D5C5-C7E5-0BC899944712}"/>
              </a:ext>
            </a:extLst>
          </p:cNvPr>
          <p:cNvSpPr/>
          <p:nvPr/>
        </p:nvSpPr>
        <p:spPr>
          <a:xfrm rot="5400000">
            <a:off x="4912628" y="625637"/>
            <a:ext cx="357185" cy="325119"/>
          </a:xfrm>
          <a:prstGeom prst="arc">
            <a:avLst>
              <a:gd name="adj1" fmla="val 10628203"/>
              <a:gd name="adj2" fmla="val 722114"/>
            </a:avLst>
          </a:prstGeom>
          <a:ln w="19050" cap="flat" cmpd="sng" algn="ctr">
            <a:solidFill>
              <a:srgbClr val="00BFC4"/>
            </a:solidFill>
            <a:prstDash val="solid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42F33FE-94C0-9EA9-ACC2-0C08F5010A2E}"/>
              </a:ext>
            </a:extLst>
          </p:cNvPr>
          <p:cNvCxnSpPr/>
          <p:nvPr/>
        </p:nvCxnSpPr>
        <p:spPr>
          <a:xfrm>
            <a:off x="5253780" y="1246293"/>
            <a:ext cx="209973" cy="318347"/>
          </a:xfrm>
          <a:prstGeom prst="straightConnector1">
            <a:avLst/>
          </a:prstGeom>
          <a:ln w="19050" cap="flat" cmpd="sng" algn="ctr">
            <a:solidFill>
              <a:srgbClr val="00BFC4"/>
            </a:solidFill>
            <a:prstDash val="solid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744A941-A30E-70AF-8A01-001D05977B49}"/>
              </a:ext>
            </a:extLst>
          </p:cNvPr>
          <p:cNvCxnSpPr>
            <a:cxnSpLocks/>
          </p:cNvCxnSpPr>
          <p:nvPr/>
        </p:nvCxnSpPr>
        <p:spPr>
          <a:xfrm flipH="1">
            <a:off x="5003800" y="1927012"/>
            <a:ext cx="169966" cy="430108"/>
          </a:xfrm>
          <a:prstGeom prst="straightConnector1">
            <a:avLst/>
          </a:prstGeom>
          <a:ln w="19050" cap="flat" cmpd="sng" algn="ctr">
            <a:solidFill>
              <a:srgbClr val="F8766D"/>
            </a:solidFill>
            <a:prstDash val="solid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44B4B44-E2A1-F1C2-074B-9872C88AF86A}"/>
              </a:ext>
            </a:extLst>
          </p:cNvPr>
          <p:cNvCxnSpPr>
            <a:cxnSpLocks/>
          </p:cNvCxnSpPr>
          <p:nvPr/>
        </p:nvCxnSpPr>
        <p:spPr>
          <a:xfrm flipH="1">
            <a:off x="5096402" y="1927012"/>
            <a:ext cx="157378" cy="474931"/>
          </a:xfrm>
          <a:prstGeom prst="straightConnector1">
            <a:avLst/>
          </a:prstGeom>
          <a:ln w="19050" cap="flat" cmpd="sng" algn="ctr">
            <a:solidFill>
              <a:srgbClr val="00BFC4"/>
            </a:solidFill>
            <a:prstDash val="solid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60E16961-46F0-4A64-F9BE-D3F4BAA859FC}"/>
              </a:ext>
            </a:extLst>
          </p:cNvPr>
          <p:cNvCxnSpPr>
            <a:cxnSpLocks/>
          </p:cNvCxnSpPr>
          <p:nvPr/>
        </p:nvCxnSpPr>
        <p:spPr>
          <a:xfrm flipH="1">
            <a:off x="4032251" y="2612898"/>
            <a:ext cx="502919" cy="200152"/>
          </a:xfrm>
          <a:prstGeom prst="straightConnector1">
            <a:avLst/>
          </a:prstGeom>
          <a:ln w="19050" cap="flat" cmpd="sng" algn="ctr">
            <a:solidFill>
              <a:srgbClr val="F8766D"/>
            </a:solidFill>
            <a:prstDash val="solid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0223F57F-2D35-2C16-C2F3-ABD6A5B9B531}"/>
              </a:ext>
            </a:extLst>
          </p:cNvPr>
          <p:cNvCxnSpPr>
            <a:cxnSpLocks/>
          </p:cNvCxnSpPr>
          <p:nvPr/>
        </p:nvCxnSpPr>
        <p:spPr>
          <a:xfrm>
            <a:off x="5143500" y="2612898"/>
            <a:ext cx="0" cy="330119"/>
          </a:xfrm>
          <a:prstGeom prst="straightConnector1">
            <a:avLst/>
          </a:prstGeom>
          <a:ln w="19050" cap="flat" cmpd="sng" algn="ctr">
            <a:solidFill>
              <a:srgbClr val="00BFC4"/>
            </a:solidFill>
            <a:prstDash val="solid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1" name="Arc 130">
            <a:extLst>
              <a:ext uri="{FF2B5EF4-FFF2-40B4-BE49-F238E27FC236}">
                <a16:creationId xmlns:a16="http://schemas.microsoft.com/office/drawing/2014/main" id="{3690CA77-E886-EF0B-327E-5E35E63E2CBE}"/>
              </a:ext>
            </a:extLst>
          </p:cNvPr>
          <p:cNvSpPr/>
          <p:nvPr/>
        </p:nvSpPr>
        <p:spPr>
          <a:xfrm rot="5400000" flipV="1">
            <a:off x="3417194" y="3209080"/>
            <a:ext cx="357185" cy="375711"/>
          </a:xfrm>
          <a:prstGeom prst="arc">
            <a:avLst>
              <a:gd name="adj1" fmla="val 10628203"/>
              <a:gd name="adj2" fmla="val 722114"/>
            </a:avLst>
          </a:prstGeom>
          <a:ln w="19050" cap="flat" cmpd="sng" algn="ctr">
            <a:solidFill>
              <a:srgbClr val="00BFC4"/>
            </a:solidFill>
            <a:prstDash val="solid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32" name="Arc 131">
            <a:extLst>
              <a:ext uri="{FF2B5EF4-FFF2-40B4-BE49-F238E27FC236}">
                <a16:creationId xmlns:a16="http://schemas.microsoft.com/office/drawing/2014/main" id="{C4ECF90F-6D4B-70AF-E8BC-BC7B4D9BD789}"/>
              </a:ext>
            </a:extLst>
          </p:cNvPr>
          <p:cNvSpPr/>
          <p:nvPr/>
        </p:nvSpPr>
        <p:spPr>
          <a:xfrm rot="5400000" flipV="1">
            <a:off x="3980761" y="3221355"/>
            <a:ext cx="357185" cy="375711"/>
          </a:xfrm>
          <a:prstGeom prst="arc">
            <a:avLst>
              <a:gd name="adj1" fmla="val 10628203"/>
              <a:gd name="adj2" fmla="val 722114"/>
            </a:avLst>
          </a:prstGeom>
          <a:ln w="19050" cap="flat" cmpd="sng" algn="ctr">
            <a:solidFill>
              <a:srgbClr val="F8766D"/>
            </a:solidFill>
            <a:prstDash val="solid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CL" dirty="0"/>
          </a:p>
        </p:txBody>
      </p: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8F5B3A44-79EF-C9B4-7253-483EA8F62A53}"/>
              </a:ext>
            </a:extLst>
          </p:cNvPr>
          <p:cNvCxnSpPr>
            <a:cxnSpLocks/>
          </p:cNvCxnSpPr>
          <p:nvPr/>
        </p:nvCxnSpPr>
        <p:spPr>
          <a:xfrm>
            <a:off x="5881217" y="3981401"/>
            <a:ext cx="430683" cy="393749"/>
          </a:xfrm>
          <a:prstGeom prst="straightConnector1">
            <a:avLst/>
          </a:prstGeom>
          <a:ln w="19050" cap="flat" cmpd="sng" algn="ctr">
            <a:solidFill>
              <a:srgbClr val="F8766D"/>
            </a:solidFill>
            <a:prstDash val="solid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F4486DFB-8B4B-2718-359E-E7C462FB3309}"/>
              </a:ext>
            </a:extLst>
          </p:cNvPr>
          <p:cNvCxnSpPr>
            <a:cxnSpLocks/>
          </p:cNvCxnSpPr>
          <p:nvPr/>
        </p:nvCxnSpPr>
        <p:spPr>
          <a:xfrm>
            <a:off x="7327900" y="3975100"/>
            <a:ext cx="393700" cy="400050"/>
          </a:xfrm>
          <a:prstGeom prst="straightConnector1">
            <a:avLst/>
          </a:prstGeom>
          <a:ln w="19050" cap="flat" cmpd="sng" algn="ctr">
            <a:solidFill>
              <a:srgbClr val="00BFC4"/>
            </a:solidFill>
            <a:prstDash val="solid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6" grpId="0" animBg="1"/>
      <p:bldP spid="21" grpId="0" animBg="1"/>
      <p:bldP spid="22" grpId="0" animBg="1"/>
      <p:bldP spid="31" grpId="0" animBg="1"/>
      <p:bldP spid="131" grpId="0" animBg="1"/>
      <p:bldP spid="13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>
          <a:extLst>
            <a:ext uri="{FF2B5EF4-FFF2-40B4-BE49-F238E27FC236}">
              <a16:creationId xmlns:a16="http://schemas.microsoft.com/office/drawing/2014/main" id="{258D3B8F-4BAA-C6B7-BACC-939BAAECF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5">
            <a:extLst>
              <a:ext uri="{FF2B5EF4-FFF2-40B4-BE49-F238E27FC236}">
                <a16:creationId xmlns:a16="http://schemas.microsoft.com/office/drawing/2014/main" id="{A8235934-316C-849D-E416-F53FD0151B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lvl="0"/>
            <a:r>
              <a:rPr lang="es-ES" dirty="0">
                <a:latin typeface="Georgia"/>
                <a:ea typeface="Georgia"/>
                <a:cs typeface="Georgia"/>
                <a:sym typeface="Georgia"/>
              </a:rPr>
              <a:t>Resultados: los que son como yo</a:t>
            </a:r>
            <a:endParaRPr lang="en-US" noProof="0" dirty="0"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57" name="Google Shape;157;p25">
            <a:extLst>
              <a:ext uri="{FF2B5EF4-FFF2-40B4-BE49-F238E27FC236}">
                <a16:creationId xmlns:a16="http://schemas.microsoft.com/office/drawing/2014/main" id="{2082100C-4821-C626-419F-482F8B423C1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16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990067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A722A-3FD8-BC27-63E9-79D82FE55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283037-813B-EDD2-7859-0942A391568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17</a:t>
            </a:fld>
            <a:endParaRPr lang="en"/>
          </a:p>
        </p:txBody>
      </p:sp>
      <p:pic>
        <p:nvPicPr>
          <p:cNvPr id="5" name="Picture 4" descr="A graph of a graph showing the difference between a line and a line&#10;&#10;AI-generated content may be incorrect.">
            <a:extLst>
              <a:ext uri="{FF2B5EF4-FFF2-40B4-BE49-F238E27FC236}">
                <a16:creationId xmlns:a16="http://schemas.microsoft.com/office/drawing/2014/main" id="{C805FE61-D577-8009-EA5C-763D9B7C28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75" y="475737"/>
            <a:ext cx="8638050" cy="43190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1495640-4526-8851-FEAE-2AF46F391A55}"/>
              </a:ext>
            </a:extLst>
          </p:cNvPr>
          <p:cNvSpPr txBox="1"/>
          <p:nvPr/>
        </p:nvSpPr>
        <p:spPr>
          <a:xfrm>
            <a:off x="360000" y="292100"/>
            <a:ext cx="61106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b="1" dirty="0">
                <a:solidFill>
                  <a:srgbClr val="C00000"/>
                </a:solidFill>
                <a:latin typeface="Georgia" panose="02040502050405020303" pitchFamily="18" charset="0"/>
              </a:rPr>
              <a:t>Nivel Socioeconómico:</a:t>
            </a:r>
            <a:r>
              <a:rPr lang="es-CL" b="1" dirty="0">
                <a:solidFill>
                  <a:srgbClr val="00B050"/>
                </a:solidFill>
                <a:latin typeface="Georgia" panose="02040502050405020303" pitchFamily="18" charset="0"/>
              </a:rPr>
              <a:t> </a:t>
            </a:r>
            <a:r>
              <a:rPr lang="es-CL" b="1" dirty="0">
                <a:latin typeface="Georgia" panose="02040502050405020303" pitchFamily="18" charset="0"/>
              </a:rPr>
              <a:t>Educación</a:t>
            </a:r>
          </a:p>
        </p:txBody>
      </p:sp>
    </p:spTree>
    <p:extLst>
      <p:ext uri="{BB962C8B-B14F-4D97-AF65-F5344CB8AC3E}">
        <p14:creationId xmlns:p14="http://schemas.microsoft.com/office/powerpoint/2010/main" val="3682198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F2B82E90-6DFF-31F9-2CCB-DC306D5D7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s-CL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8FBB411-2366-8AF1-81CF-82713DA6B1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3D54C8-2951-4284-E638-1DD2AF7FA4D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</p:spPr>
        <p:txBody>
          <a:bodyPr/>
          <a:lstStyle/>
          <a:p>
            <a:pPr lvl="0"/>
            <a:fld id="{00000000-1234-1234-1234-123412341234}" type="slidenum">
              <a:rPr lang="en" smtClean="0"/>
              <a:pPr lvl="0"/>
              <a:t>18</a:t>
            </a:fld>
            <a:endParaRPr lang="en"/>
          </a:p>
        </p:txBody>
      </p:sp>
      <p:pic>
        <p:nvPicPr>
          <p:cNvPr id="18" name="Picture 17" descr="A graph with a line graph&#10;&#10;AI-generated content may be incorrect.">
            <a:extLst>
              <a:ext uri="{FF2B5EF4-FFF2-40B4-BE49-F238E27FC236}">
                <a16:creationId xmlns:a16="http://schemas.microsoft.com/office/drawing/2014/main" id="{F581F34C-C452-A415-7929-A89DE51B84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75" y="475737"/>
            <a:ext cx="8638050" cy="4319025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88F1792-2E5F-A4C2-830B-7B33167BB7F0}"/>
              </a:ext>
            </a:extLst>
          </p:cNvPr>
          <p:cNvSpPr txBox="1"/>
          <p:nvPr/>
        </p:nvSpPr>
        <p:spPr>
          <a:xfrm>
            <a:off x="360000" y="292100"/>
            <a:ext cx="61106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b="1" dirty="0">
                <a:solidFill>
                  <a:srgbClr val="C00000"/>
                </a:solidFill>
                <a:latin typeface="Georgia" panose="02040502050405020303" pitchFamily="18" charset="0"/>
              </a:rPr>
              <a:t>Nivel Socioeconómico:</a:t>
            </a:r>
            <a:r>
              <a:rPr lang="es-CL" b="1" dirty="0">
                <a:solidFill>
                  <a:srgbClr val="00B050"/>
                </a:solidFill>
                <a:latin typeface="Georgia" panose="02040502050405020303" pitchFamily="18" charset="0"/>
              </a:rPr>
              <a:t> </a:t>
            </a:r>
            <a:r>
              <a:rPr lang="es-CL" b="1" dirty="0">
                <a:latin typeface="Georgia" panose="02040502050405020303" pitchFamily="18" charset="0"/>
              </a:rPr>
              <a:t>Ingresos</a:t>
            </a:r>
          </a:p>
        </p:txBody>
      </p:sp>
    </p:spTree>
    <p:extLst>
      <p:ext uri="{BB962C8B-B14F-4D97-AF65-F5344CB8AC3E}">
        <p14:creationId xmlns:p14="http://schemas.microsoft.com/office/powerpoint/2010/main" val="31113677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C8DD6-1D29-9BD0-C08F-DF047CB24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 fontScale="90000"/>
          </a:bodyPr>
          <a:lstStyle/>
          <a:p>
            <a:endParaRPr lang="es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E6B849-0D51-31A4-491B-725B05C79A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anchor="b"/>
          <a:lstStyle/>
          <a:p>
            <a:endParaRPr lang="es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A3D988-3F88-6707-D364-B0BED289B6E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19</a:t>
            </a:fld>
            <a:endParaRPr lang="en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BDA2AAE-7358-DD3C-D64C-22416B13E8DD}"/>
              </a:ext>
            </a:extLst>
          </p:cNvPr>
          <p:cNvGrpSpPr/>
          <p:nvPr/>
        </p:nvGrpSpPr>
        <p:grpSpPr>
          <a:xfrm>
            <a:off x="360000" y="720000"/>
            <a:ext cx="8638050" cy="4319025"/>
            <a:chOff x="310125" y="685287"/>
            <a:chExt cx="8638050" cy="4319025"/>
          </a:xfrm>
        </p:grpSpPr>
        <p:pic>
          <p:nvPicPr>
            <p:cNvPr id="6" name="Picture 5" descr="A graph with different colored points&#10;&#10;AI-generated content may be incorrect.">
              <a:extLst>
                <a:ext uri="{FF2B5EF4-FFF2-40B4-BE49-F238E27FC236}">
                  <a16:creationId xmlns:a16="http://schemas.microsoft.com/office/drawing/2014/main" id="{8C2BDD2F-8470-55FD-60EA-9AAFA8580C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0125" y="685287"/>
              <a:ext cx="8638050" cy="4319025"/>
            </a:xfrm>
            <a:prstGeom prst="rect">
              <a:avLst/>
            </a:prstGeom>
          </p:spPr>
        </p:pic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5A4DD943-3858-6283-3288-5501856BF7DD}"/>
                </a:ext>
              </a:extLst>
            </p:cNvPr>
            <p:cNvSpPr/>
            <p:nvPr/>
          </p:nvSpPr>
          <p:spPr>
            <a:xfrm>
              <a:off x="7239000" y="1492250"/>
              <a:ext cx="914400" cy="1149350"/>
            </a:xfrm>
            <a:prstGeom prst="roundRect">
              <a:avLst/>
            </a:prstGeom>
            <a:noFill/>
            <a:ln w="28575" cap="flat" cmpd="sng" algn="ctr">
              <a:solidFill>
                <a:srgbClr val="F8766D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b"/>
            <a:lstStyle/>
            <a:p>
              <a:pPr algn="ctr"/>
              <a:endParaRPr lang="es-CL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234D621C-4161-A0DB-C04C-FA1702AB4443}"/>
                </a:ext>
              </a:extLst>
            </p:cNvPr>
            <p:cNvSpPr/>
            <p:nvPr/>
          </p:nvSpPr>
          <p:spPr>
            <a:xfrm>
              <a:off x="3441700" y="1492250"/>
              <a:ext cx="914400" cy="1149350"/>
            </a:xfrm>
            <a:prstGeom prst="roundRect">
              <a:avLst/>
            </a:prstGeom>
            <a:noFill/>
            <a:ln w="28575" cap="flat" cmpd="sng" algn="ctr">
              <a:solidFill>
                <a:srgbClr val="F8766D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b"/>
            <a:lstStyle/>
            <a:p>
              <a:pPr algn="ctr"/>
              <a:endParaRPr lang="es-CL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FBFC612D-FC74-A4D7-E02D-FEF6287EBA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0800" y="1749637"/>
              <a:ext cx="216825" cy="622300"/>
            </a:xfrm>
            <a:prstGeom prst="straightConnector1">
              <a:avLst/>
            </a:prstGeom>
            <a:ln w="19050">
              <a:solidFill>
                <a:srgbClr val="F8766D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65FC6E2C-77C1-419C-90CF-56875409DE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66975" y="1654387"/>
              <a:ext cx="171450" cy="639203"/>
            </a:xfrm>
            <a:prstGeom prst="straightConnector1">
              <a:avLst/>
            </a:prstGeom>
            <a:ln w="19050">
              <a:solidFill>
                <a:srgbClr val="F8766D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CA4CE646-613B-EFCA-DF80-E43EEC028ABD}"/>
              </a:ext>
            </a:extLst>
          </p:cNvPr>
          <p:cNvSpPr txBox="1"/>
          <p:nvPr/>
        </p:nvSpPr>
        <p:spPr>
          <a:xfrm>
            <a:off x="360000" y="292100"/>
            <a:ext cx="61106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b="1" dirty="0">
                <a:solidFill>
                  <a:srgbClr val="00B050"/>
                </a:solidFill>
                <a:latin typeface="Georgia" panose="02040502050405020303" pitchFamily="18" charset="0"/>
              </a:rPr>
              <a:t>Human </a:t>
            </a:r>
            <a:r>
              <a:rPr lang="es-CL" b="1" dirty="0" err="1">
                <a:solidFill>
                  <a:srgbClr val="00B050"/>
                </a:solidFill>
                <a:latin typeface="Georgia" panose="02040502050405020303" pitchFamily="18" charset="0"/>
              </a:rPr>
              <a:t>Values</a:t>
            </a:r>
            <a:r>
              <a:rPr lang="es-CL" b="1" dirty="0">
                <a:solidFill>
                  <a:srgbClr val="00B050"/>
                </a:solidFill>
                <a:latin typeface="Georgia" panose="02040502050405020303" pitchFamily="18" charset="0"/>
              </a:rPr>
              <a:t>: </a:t>
            </a:r>
            <a:r>
              <a:rPr lang="es-CL" b="1" dirty="0" err="1">
                <a:latin typeface="Georgia" panose="02040502050405020303" pitchFamily="18" charset="0"/>
              </a:rPr>
              <a:t>Self-transendence</a:t>
            </a:r>
            <a:r>
              <a:rPr lang="es-CL" b="1" dirty="0">
                <a:latin typeface="Georgia" panose="02040502050405020303" pitchFamily="18" charset="0"/>
              </a:rPr>
              <a:t> (Social Focus)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E1C57A5-5AED-578B-0212-411208DF460C}"/>
              </a:ext>
            </a:extLst>
          </p:cNvPr>
          <p:cNvSpPr/>
          <p:nvPr/>
        </p:nvSpPr>
        <p:spPr>
          <a:xfrm>
            <a:off x="5434675" y="1520613"/>
            <a:ext cx="914400" cy="1149350"/>
          </a:xfrm>
          <a:prstGeom prst="roundRect">
            <a:avLst/>
          </a:prstGeom>
          <a:noFill/>
          <a:ln w="28575" cap="flat" cmpd="sng" algn="ctr">
            <a:solidFill>
              <a:srgbClr val="00BFC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b"/>
          <a:lstStyle/>
          <a:p>
            <a:pPr algn="ctr"/>
            <a:endParaRPr lang="es-CL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ECDACA0-D7B6-0B73-328E-FAB59600F548}"/>
              </a:ext>
            </a:extLst>
          </p:cNvPr>
          <p:cNvSpPr/>
          <p:nvPr/>
        </p:nvSpPr>
        <p:spPr>
          <a:xfrm>
            <a:off x="1637375" y="1520613"/>
            <a:ext cx="914400" cy="1149350"/>
          </a:xfrm>
          <a:prstGeom prst="roundRect">
            <a:avLst/>
          </a:prstGeom>
          <a:noFill/>
          <a:ln w="28575" cap="flat" cmpd="sng" algn="ctr">
            <a:solidFill>
              <a:srgbClr val="00BFC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b"/>
          <a:lstStyle/>
          <a:p>
            <a:pPr algn="ctr"/>
            <a:endParaRPr lang="es-CL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910E67E-5299-4168-D268-07842449AB10}"/>
              </a:ext>
            </a:extLst>
          </p:cNvPr>
          <p:cNvCxnSpPr>
            <a:cxnSpLocks/>
          </p:cNvCxnSpPr>
          <p:nvPr/>
        </p:nvCxnSpPr>
        <p:spPr>
          <a:xfrm flipV="1">
            <a:off x="1987550" y="2101850"/>
            <a:ext cx="196850" cy="371263"/>
          </a:xfrm>
          <a:prstGeom prst="straightConnector1">
            <a:avLst/>
          </a:prstGeom>
          <a:ln w="19050">
            <a:solidFill>
              <a:srgbClr val="00BFC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6DECE76-7F7A-227E-FDE3-97EE40C97D40}"/>
              </a:ext>
            </a:extLst>
          </p:cNvPr>
          <p:cNvCxnSpPr>
            <a:cxnSpLocks/>
          </p:cNvCxnSpPr>
          <p:nvPr/>
        </p:nvCxnSpPr>
        <p:spPr>
          <a:xfrm flipV="1">
            <a:off x="5829300" y="1974850"/>
            <a:ext cx="234950" cy="431800"/>
          </a:xfrm>
          <a:prstGeom prst="straightConnector1">
            <a:avLst/>
          </a:prstGeom>
          <a:ln w="19050">
            <a:solidFill>
              <a:srgbClr val="00BFC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61002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C28F4-3260-336B-08EB-6070D67E0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s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1EAAC4-3C36-60A0-330C-BCAE457034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34EFB3-8EEB-21B3-CBB0-CA85A008D9F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20</a:t>
            </a:fld>
            <a:endParaRPr lang="en"/>
          </a:p>
        </p:txBody>
      </p:sp>
      <p:pic>
        <p:nvPicPr>
          <p:cNvPr id="6" name="Picture 5" descr="A graph with different colored points&#10;&#10;AI-generated content may be incorrect.">
            <a:extLst>
              <a:ext uri="{FF2B5EF4-FFF2-40B4-BE49-F238E27FC236}">
                <a16:creationId xmlns:a16="http://schemas.microsoft.com/office/drawing/2014/main" id="{E2507619-CF8D-5428-B4F0-E0A093E919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" y="720000"/>
            <a:ext cx="8638050" cy="4319025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37CD563-935E-9BA6-1231-A5DDCFC41F6F}"/>
              </a:ext>
            </a:extLst>
          </p:cNvPr>
          <p:cNvSpPr/>
          <p:nvPr/>
        </p:nvSpPr>
        <p:spPr>
          <a:xfrm>
            <a:off x="3473450" y="1200150"/>
            <a:ext cx="914400" cy="1149350"/>
          </a:xfrm>
          <a:prstGeom prst="roundRect">
            <a:avLst/>
          </a:prstGeom>
          <a:noFill/>
          <a:ln w="28575" cap="flat" cmpd="sng" algn="ctr">
            <a:solidFill>
              <a:srgbClr val="F8766D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18163D9-FE7F-6AAF-C788-A2156A646B14}"/>
              </a:ext>
            </a:extLst>
          </p:cNvPr>
          <p:cNvSpPr/>
          <p:nvPr/>
        </p:nvSpPr>
        <p:spPr>
          <a:xfrm>
            <a:off x="7327900" y="1200150"/>
            <a:ext cx="914400" cy="1149350"/>
          </a:xfrm>
          <a:prstGeom prst="roundRect">
            <a:avLst/>
          </a:prstGeom>
          <a:noFill/>
          <a:ln w="28575" cap="flat" cmpd="sng" algn="ctr">
            <a:solidFill>
              <a:srgbClr val="F8766D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5D4A8B2-8E24-B709-263A-BC184CE077F2}"/>
              </a:ext>
            </a:extLst>
          </p:cNvPr>
          <p:cNvCxnSpPr>
            <a:cxnSpLocks/>
          </p:cNvCxnSpPr>
          <p:nvPr/>
        </p:nvCxnSpPr>
        <p:spPr>
          <a:xfrm>
            <a:off x="3721100" y="1454150"/>
            <a:ext cx="209550" cy="571500"/>
          </a:xfrm>
          <a:prstGeom prst="straightConnector1">
            <a:avLst/>
          </a:prstGeom>
          <a:ln w="19050">
            <a:solidFill>
              <a:srgbClr val="F8766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183A312-CD0E-AA84-0BA1-33D4F51E9945}"/>
              </a:ext>
            </a:extLst>
          </p:cNvPr>
          <p:cNvCxnSpPr>
            <a:cxnSpLocks/>
          </p:cNvCxnSpPr>
          <p:nvPr/>
        </p:nvCxnSpPr>
        <p:spPr>
          <a:xfrm>
            <a:off x="7785100" y="1339850"/>
            <a:ext cx="203200" cy="641350"/>
          </a:xfrm>
          <a:prstGeom prst="straightConnector1">
            <a:avLst/>
          </a:prstGeom>
          <a:ln w="19050">
            <a:solidFill>
              <a:srgbClr val="F8766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6D3D579-0895-E780-C77A-D40943E988AA}"/>
              </a:ext>
            </a:extLst>
          </p:cNvPr>
          <p:cNvSpPr txBox="1"/>
          <p:nvPr/>
        </p:nvSpPr>
        <p:spPr>
          <a:xfrm>
            <a:off x="360000" y="292100"/>
            <a:ext cx="61106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b="1" dirty="0">
                <a:solidFill>
                  <a:srgbClr val="00B050"/>
                </a:solidFill>
                <a:latin typeface="Georgia" panose="02040502050405020303" pitchFamily="18" charset="0"/>
              </a:rPr>
              <a:t>Human </a:t>
            </a:r>
            <a:r>
              <a:rPr lang="es-CL" b="1" dirty="0" err="1">
                <a:solidFill>
                  <a:srgbClr val="00B050"/>
                </a:solidFill>
                <a:latin typeface="Georgia" panose="02040502050405020303" pitchFamily="18" charset="0"/>
              </a:rPr>
              <a:t>Values</a:t>
            </a:r>
            <a:r>
              <a:rPr lang="es-CL" b="1" dirty="0">
                <a:latin typeface="Georgia" panose="02040502050405020303" pitchFamily="18" charset="0"/>
              </a:rPr>
              <a:t>: </a:t>
            </a:r>
            <a:r>
              <a:rPr lang="es-CL" b="1" dirty="0" err="1">
                <a:latin typeface="Georgia" panose="02040502050405020303" pitchFamily="18" charset="0"/>
              </a:rPr>
              <a:t>Self-enhancement</a:t>
            </a:r>
            <a:r>
              <a:rPr lang="es-CL" b="1" dirty="0">
                <a:latin typeface="Georgia" panose="02040502050405020303" pitchFamily="18" charset="0"/>
              </a:rPr>
              <a:t> (Personal Focus)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DD124A6-B8DE-448D-F037-19324C15B689}"/>
              </a:ext>
            </a:extLst>
          </p:cNvPr>
          <p:cNvSpPr/>
          <p:nvPr/>
        </p:nvSpPr>
        <p:spPr>
          <a:xfrm>
            <a:off x="1562100" y="1200150"/>
            <a:ext cx="914400" cy="1149350"/>
          </a:xfrm>
          <a:prstGeom prst="roundRect">
            <a:avLst/>
          </a:prstGeom>
          <a:noFill/>
          <a:ln w="28575" cap="flat" cmpd="sng" algn="ctr">
            <a:solidFill>
              <a:srgbClr val="00BFC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E6922D9-C3E7-2744-D8C4-F5D68A5FB4C3}"/>
              </a:ext>
            </a:extLst>
          </p:cNvPr>
          <p:cNvSpPr/>
          <p:nvPr/>
        </p:nvSpPr>
        <p:spPr>
          <a:xfrm>
            <a:off x="5416550" y="1200150"/>
            <a:ext cx="914400" cy="1149350"/>
          </a:xfrm>
          <a:prstGeom prst="roundRect">
            <a:avLst/>
          </a:prstGeom>
          <a:noFill/>
          <a:ln w="28575" cap="flat" cmpd="sng" algn="ctr">
            <a:solidFill>
              <a:srgbClr val="00BFC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96D11CB-083E-4B52-D5BF-F17476E63104}"/>
              </a:ext>
            </a:extLst>
          </p:cNvPr>
          <p:cNvCxnSpPr>
            <a:cxnSpLocks/>
          </p:cNvCxnSpPr>
          <p:nvPr/>
        </p:nvCxnSpPr>
        <p:spPr>
          <a:xfrm>
            <a:off x="2032000" y="1816100"/>
            <a:ext cx="184150" cy="336550"/>
          </a:xfrm>
          <a:prstGeom prst="straightConnector1">
            <a:avLst/>
          </a:prstGeom>
          <a:ln w="19050">
            <a:solidFill>
              <a:srgbClr val="00BFC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2772F09-64B8-5172-002C-515F13D83456}"/>
              </a:ext>
            </a:extLst>
          </p:cNvPr>
          <p:cNvCxnSpPr>
            <a:cxnSpLocks/>
          </p:cNvCxnSpPr>
          <p:nvPr/>
        </p:nvCxnSpPr>
        <p:spPr>
          <a:xfrm>
            <a:off x="5861050" y="1657350"/>
            <a:ext cx="184150" cy="368300"/>
          </a:xfrm>
          <a:prstGeom prst="straightConnector1">
            <a:avLst/>
          </a:prstGeom>
          <a:ln w="19050">
            <a:solidFill>
              <a:srgbClr val="00BFC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08012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en-US" noProof="0" dirty="0" err="1">
                <a:latin typeface="Georgia"/>
                <a:ea typeface="Georgia"/>
                <a:cs typeface="Georgia"/>
                <a:sym typeface="Georgia"/>
              </a:rPr>
              <a:t>Conclusiones</a:t>
            </a:r>
            <a:r>
              <a:rPr lang="en-US" noProof="0" dirty="0">
                <a:latin typeface="Georgia"/>
                <a:ea typeface="Georgia"/>
                <a:cs typeface="Georgia"/>
                <a:sym typeface="Georgia"/>
              </a:rPr>
              <a:t> </a:t>
            </a:r>
          </a:p>
        </p:txBody>
      </p:sp>
      <p:sp>
        <p:nvSpPr>
          <p:cNvPr id="189" name="Google Shape;189;p30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r>
              <a:rPr lang="en-US" sz="1200" b="1" noProof="0" dirty="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Nivel </a:t>
            </a:r>
            <a:r>
              <a:rPr lang="en-US" sz="1200" b="1" noProof="0" dirty="0" err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Socioeconómico</a:t>
            </a:r>
            <a:r>
              <a:rPr lang="en-US" sz="1200" b="1" noProof="0" dirty="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 medida que aumenta el nivel educativo, también lo hace la confianza.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No ocurre lo mismo con los grupos de ingresos: en Alemania, se confía más en los de clase media; en Chile, en los de clase baja y media.</a:t>
            </a:r>
          </a:p>
          <a:p>
            <a:pPr marL="0" indent="0">
              <a:buNone/>
            </a:pPr>
            <a:endParaRPr lang="es-ES" sz="1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indent="0">
              <a:buNone/>
            </a:pPr>
            <a:endParaRPr lang="es-ES" sz="1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Valores </a:t>
            </a:r>
            <a:r>
              <a:rPr lang="en-US" sz="1200" b="1" dirty="0" err="1">
                <a:solidFill>
                  <a:srgbClr val="00B05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humanos</a:t>
            </a:r>
            <a:r>
              <a:rPr lang="en-US" sz="1200" b="1" dirty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  <a:r>
              <a:rPr lang="es-ES" sz="12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El perfil de valores de </a:t>
            </a:r>
            <a:r>
              <a:rPr lang="es-ES" sz="12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auto-trascendencia</a:t>
            </a:r>
            <a:r>
              <a:rPr lang="es-ES" sz="12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</a:t>
            </a:r>
            <a:r>
              <a:rPr lang="es-ES" sz="1200" i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foco social</a:t>
            </a:r>
            <a:r>
              <a:rPr lang="es-ES" sz="12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es preferible al de </a:t>
            </a:r>
            <a:r>
              <a:rPr lang="es-ES" sz="12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auto-promoción</a:t>
            </a:r>
            <a:r>
              <a:rPr lang="es-ES" sz="12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</a:t>
            </a:r>
            <a:r>
              <a:rPr lang="es-ES" sz="1200" i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foco personal</a:t>
            </a:r>
            <a:r>
              <a:rPr lang="es-ES" sz="12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).</a:t>
            </a:r>
            <a:endParaRPr lang="en-US" sz="1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endParaRPr lang="en-US" sz="1200" b="1" dirty="0">
              <a:solidFill>
                <a:schemeClr val="accen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C9D0BE1-2905-3C8F-9731-C7DC1763105C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1200" b="1" dirty="0" err="1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Posición</a:t>
            </a:r>
            <a:r>
              <a:rPr lang="en-US" sz="1200" b="1" dirty="0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200" b="1" dirty="0" err="1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política</a:t>
            </a:r>
            <a:r>
              <a:rPr lang="en-US" sz="1200" b="1" dirty="0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r>
              <a:rPr lang="en-US" sz="12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En ambos contextos se prefiere el perfil político de "Centro" (moderado) frente a los grupos de izquierda y derecha.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En Alemania, las personas de derechas son las menos confiables. Además, los "desinteresados" por la política en Alemania son menos fiables que en Chile.</a:t>
            </a:r>
            <a:endParaRPr lang="en-US" sz="1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>
              <a:buNone/>
            </a:pPr>
            <a:r>
              <a:rPr lang="en-US" sz="1200" b="1" dirty="0" err="1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Migración</a:t>
            </a:r>
            <a:r>
              <a:rPr lang="en-US" sz="1200" b="1" dirty="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y </a:t>
            </a:r>
            <a:r>
              <a:rPr lang="en-US" sz="1200" b="1" dirty="0" err="1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Religión</a:t>
            </a:r>
            <a:r>
              <a:rPr lang="en-US" sz="1200" b="1" dirty="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Religión y origen migratorio constituyen parámetros divisorios en ambos contextos.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Migración parece no ser relevante en Alemania, no así en Chile.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Grupos religiosos: los musulmanes (Alemania) y evangélicos (Chile) en los grupos en los que menos se confía.</a:t>
            </a:r>
            <a:endParaRPr lang="en-US" sz="1200" dirty="0">
              <a:solidFill>
                <a:schemeClr val="dk1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285750" indent="-285750">
              <a:spcBef>
                <a:spcPts val="1200"/>
              </a:spcBef>
              <a:spcAft>
                <a:spcPts val="1200"/>
              </a:spcAft>
            </a:pPr>
            <a:endParaRPr lang="en-US" sz="1200" i="1" dirty="0">
              <a:solidFill>
                <a:schemeClr val="dk1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endParaRPr lang="es-CL" sz="1200" dirty="0"/>
          </a:p>
        </p:txBody>
      </p:sp>
      <p:sp>
        <p:nvSpPr>
          <p:cNvPr id="188" name="Google Shape;188;p30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21</a:t>
            </a:fld>
            <a:endParaRPr lang="en-US" noProof="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2E08D-9F46-C077-358B-F998ADE41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CL" dirty="0">
                <a:latin typeface="Georgia" panose="02040502050405020303" pitchFamily="18" charset="0"/>
              </a:rPr>
              <a:t>Conclusiones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980442-06CD-B01A-BA12-270CD24233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114300" indent="0">
              <a:buNone/>
            </a:pPr>
            <a:r>
              <a:rPr lang="es-ES" sz="1200" b="1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Hipótesis de </a:t>
            </a:r>
            <a:r>
              <a:rPr lang="es-ES" sz="1200" b="1" dirty="0" err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homofilia</a:t>
            </a:r>
            <a:r>
              <a:rPr lang="es-ES" sz="1200" b="1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</a:p>
          <a:p>
            <a:pPr>
              <a:buFont typeface="Arial" panose="020B0604020202020204" pitchFamily="34" charset="0"/>
              <a:buChar char="•"/>
            </a:pPr>
            <a:endParaRPr lang="es-ES" sz="1200" dirty="0">
              <a:solidFill>
                <a:schemeClr val="tx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Las preferencias por los círculos transversales muestran un patrón de preferencias </a:t>
            </a:r>
            <a:r>
              <a:rPr lang="es-ES" sz="1200" dirty="0" err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homófilas</a:t>
            </a:r>
            <a:r>
              <a:rPr lang="es-ES" sz="120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pero también de distanciamiento social respecto a otros diferentes.</a:t>
            </a:r>
          </a:p>
          <a:p>
            <a:pPr marL="114300" indent="0">
              <a:buNone/>
            </a:pPr>
            <a:endParaRPr lang="es-E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Vemos que el nivel socioeconómico traza divisiones: principalmente en los individuos de NSE más bajos, confían más en los suyos que en los grupos intermedio y alto. Aquellos con NSE alto, muestran </a:t>
            </a:r>
          </a:p>
          <a:p>
            <a:pPr>
              <a:buFont typeface="Arial" panose="020B0604020202020204" pitchFamily="34" charset="0"/>
              <a:buChar char="•"/>
            </a:pPr>
            <a:endParaRPr lang="es-E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Las personas con mayor </a:t>
            </a:r>
            <a:r>
              <a:rPr lang="es-ES" sz="1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autotrasendencia</a:t>
            </a:r>
            <a:r>
              <a:rPr lang="es-E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s-ES" sz="1200" i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self-transcendence</a:t>
            </a:r>
            <a:r>
              <a:rPr lang="es-E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muestran mayor confianza en los individuos de conservación y </a:t>
            </a:r>
            <a:r>
              <a:rPr lang="es-E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autotrasendencia</a:t>
            </a:r>
            <a:r>
              <a:rPr lang="es-E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s-ES" sz="12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Foco social</a:t>
            </a:r>
            <a:r>
              <a:rPr lang="es-E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). No muestran diferencias significativas respecto a autopromoción o apertura al cambio (</a:t>
            </a:r>
            <a:r>
              <a:rPr lang="es-ES" sz="12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Foco personal</a:t>
            </a:r>
            <a:r>
              <a:rPr lang="es-E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Personas con mayor foco en </a:t>
            </a:r>
            <a:r>
              <a:rPr lang="es-E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autopromoción </a:t>
            </a:r>
            <a:r>
              <a:rPr lang="es-E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s-ES" sz="1200" i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self-enhancement</a:t>
            </a:r>
            <a:r>
              <a:rPr lang="es-E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muestran una </a:t>
            </a:r>
            <a:r>
              <a:rPr lang="es-E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homofilia</a:t>
            </a:r>
            <a:r>
              <a:rPr lang="es-E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valores acotada, así como un distanciamiento significativo de perfiles valóricos con </a:t>
            </a:r>
            <a:r>
              <a:rPr lang="es-ES" sz="12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foco social </a:t>
            </a:r>
            <a:r>
              <a:rPr lang="es-ES" sz="12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s-ES" sz="1200" i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self-transcendence</a:t>
            </a:r>
            <a:r>
              <a:rPr lang="es-ES" sz="12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es-ES" sz="1200" i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conservation</a:t>
            </a:r>
            <a:r>
              <a:rPr lang="es-ES" sz="12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>
              <a:buFont typeface="Arial" panose="020B0604020202020204" pitchFamily="34" charset="0"/>
              <a:buChar char="•"/>
            </a:pPr>
            <a:endParaRPr lang="es-CL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5EAB8B-EA2E-F831-A9AD-615FC8509B0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22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0439834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Georgia"/>
                <a:ea typeface="Georgia"/>
                <a:cs typeface="Georgia"/>
                <a:sym typeface="Georgia"/>
              </a:rPr>
              <a:t>¡Gracias!</a:t>
            </a:r>
          </a:p>
        </p:txBody>
      </p:sp>
      <p:sp>
        <p:nvSpPr>
          <p:cNvPr id="202" name="Google Shape;202;p3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Georgia"/>
                <a:ea typeface="Georgia"/>
                <a:cs typeface="Georgia"/>
                <a:sym typeface="Georgia"/>
              </a:rPr>
              <a:t>jiturra@bigsss.uni-bremen.de</a:t>
            </a:r>
          </a:p>
        </p:txBody>
      </p:sp>
      <p:sp>
        <p:nvSpPr>
          <p:cNvPr id="203" name="Google Shape;203;p3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23</a:t>
            </a:fld>
            <a:endParaRPr lang="en-US" noProof="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0D1BF-A0B3-D5D2-455F-BA4E59D93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B47F2F3-5DD9-BD88-A63B-BBC409945C5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24</a:t>
            </a:fld>
            <a:endParaRPr lang="en"/>
          </a:p>
        </p:txBody>
      </p:sp>
      <p:pic>
        <p:nvPicPr>
          <p:cNvPr id="5" name="Picture 4" descr="A graph with different colored points&#10;&#10;AI-generated content may be incorrect.">
            <a:extLst>
              <a:ext uri="{FF2B5EF4-FFF2-40B4-BE49-F238E27FC236}">
                <a16:creationId xmlns:a16="http://schemas.microsoft.com/office/drawing/2014/main" id="{22A6F279-2E69-0416-5D85-5F7B445044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75" y="443987"/>
            <a:ext cx="8638050" cy="4319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17935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2ED56-6123-CB73-64DD-D78902EA7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5A92AB-6ADF-D804-95FE-4B6A4B2616D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25</a:t>
            </a:fld>
            <a:endParaRPr lang="en"/>
          </a:p>
        </p:txBody>
      </p:sp>
      <p:pic>
        <p:nvPicPr>
          <p:cNvPr id="5" name="Picture 4" descr="A graph with different colored lines&#10;&#10;AI-generated content may be incorrect.">
            <a:extLst>
              <a:ext uri="{FF2B5EF4-FFF2-40B4-BE49-F238E27FC236}">
                <a16:creationId xmlns:a16="http://schemas.microsoft.com/office/drawing/2014/main" id="{7EB51803-F369-275A-E1DB-366ED6A673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75" y="412237"/>
            <a:ext cx="8638050" cy="4319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7006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/>
          </a:p>
        </p:txBody>
      </p:sp>
      <p:sp>
        <p:nvSpPr>
          <p:cNvPr id="209" name="Google Shape;209;p3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/>
          </a:p>
        </p:txBody>
      </p:sp>
      <p:pic>
        <p:nvPicPr>
          <p:cNvPr id="210" name="Google Shape;210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906318"/>
            <a:ext cx="9144000" cy="33308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endParaRPr lang="en-US" sz="2000" i="1" noProof="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ctr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-US" sz="2000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What is the role of </a:t>
            </a:r>
            <a:r>
              <a:rPr lang="en-US" sz="2000" b="1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interpersonal networks</a:t>
            </a:r>
            <a:r>
              <a:rPr lang="en-US" sz="2000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 in </a:t>
            </a:r>
            <a:r>
              <a:rPr lang="en-US" sz="2000" b="1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attitudes towards inequality</a:t>
            </a:r>
            <a:r>
              <a:rPr lang="en-US" sz="2000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?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lang="en-US" sz="2000" i="1" noProof="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endParaRPr lang="en-US" sz="2000" i="1" noProof="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5" name="Google Shape;65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 noProof="0" dirty="0">
                <a:latin typeface="Georgia"/>
                <a:ea typeface="Georgia"/>
                <a:cs typeface="Georgia"/>
                <a:sym typeface="Georgia"/>
              </a:rPr>
              <a:t>Research question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ct val="61111"/>
              <a:buFont typeface="Arial"/>
              <a:buNone/>
            </a:pPr>
            <a:endParaRPr lang="en-US" sz="1800" noProof="0" dirty="0">
              <a:solidFill>
                <a:schemeClr val="dk2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66" name="Google Shape;66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27</a:t>
            </a:fld>
            <a:endParaRPr lang="en-US" noProof="0" dirty="0"/>
          </a:p>
        </p:txBody>
      </p:sp>
    </p:spTree>
  </p:cSld>
  <p:clrMapOvr>
    <a:masterClrMapping/>
  </p:clrMapOvr>
  <p:transition spd="med">
    <p:fade thruBlk="1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/>
          <p:cNvSpPr txBox="1">
            <a:spLocks noGrp="1"/>
          </p:cNvSpPr>
          <p:nvPr>
            <p:ph type="title"/>
          </p:nvPr>
        </p:nvSpPr>
        <p:spPr>
          <a:xfrm>
            <a:off x="290760" y="56258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noProof="0" dirty="0">
                <a:latin typeface="Times New Roman"/>
                <a:ea typeface="Times New Roman"/>
                <a:cs typeface="Times New Roman"/>
                <a:sym typeface="Times New Roman"/>
              </a:rPr>
              <a:t>Study 1</a:t>
            </a:r>
            <a:endParaRPr lang="en-US" noProof="0" dirty="0"/>
          </a:p>
        </p:txBody>
      </p:sp>
      <p:sp>
        <p:nvSpPr>
          <p:cNvPr id="72" name="Google Shape;72;p15"/>
          <p:cNvSpPr txBox="1">
            <a:spLocks noGrp="1"/>
          </p:cNvSpPr>
          <p:nvPr>
            <p:ph type="body" idx="1"/>
          </p:nvPr>
        </p:nvSpPr>
        <p:spPr>
          <a:xfrm>
            <a:off x="290760" y="1396580"/>
            <a:ext cx="2808000" cy="3179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lg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524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i="1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Class-based network segregation, economic </a:t>
            </a:r>
            <a:r>
              <a:rPr lang="en-US" i="1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</a:t>
            </a:r>
            <a:r>
              <a:rPr lang="en-US" sz="1200" i="1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nequality and redistributive </a:t>
            </a:r>
            <a:r>
              <a:rPr lang="en-US" i="1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</a:t>
            </a:r>
            <a:r>
              <a:rPr lang="en-US" sz="1200" i="1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references across societies</a:t>
            </a:r>
            <a:endParaRPr lang="en-US" noProof="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1524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noProof="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US" b="1" noProof="0" dirty="0">
                <a:solidFill>
                  <a:srgbClr val="CC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Cross-national</a:t>
            </a:r>
            <a:r>
              <a:rPr lang="en-US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comparison</a:t>
            </a:r>
            <a:endParaRPr lang="en-US" noProof="0" dirty="0"/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US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32.000 individuals, 31 countries</a:t>
            </a:r>
            <a:endParaRPr lang="en-US" noProof="0" dirty="0"/>
          </a:p>
          <a:p>
            <a:pPr marL="1524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noProof="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1524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R-gap:</a:t>
            </a:r>
            <a:endParaRPr lang="en-US" noProof="0" dirty="0"/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-"/>
            </a:pPr>
            <a:r>
              <a:rPr lang="en-US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class </a:t>
            </a:r>
            <a:r>
              <a:rPr lang="en-US" b="1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segregation</a:t>
            </a:r>
            <a:r>
              <a:rPr lang="en-US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in social networks influence redistributive preferences (RP)</a:t>
            </a:r>
            <a:endParaRPr lang="en-US" noProof="0" dirty="0"/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-"/>
            </a:pPr>
            <a:r>
              <a:rPr lang="en-US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Income inequality as moderator of </a:t>
            </a:r>
            <a:r>
              <a:rPr lang="en-US" b="1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class relations</a:t>
            </a:r>
            <a:r>
              <a:rPr lang="en-US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on RP</a:t>
            </a:r>
            <a:endParaRPr lang="en-US" noProof="0" dirty="0"/>
          </a:p>
          <a:p>
            <a:pPr marL="1524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noProof="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noProof="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1524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noProof="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noProof="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3" name="Google Shape;73;p15"/>
          <p:cNvSpPr txBox="1">
            <a:spLocks noGrp="1"/>
          </p:cNvSpPr>
          <p:nvPr>
            <p:ph type="sldNum" idx="12"/>
          </p:nvPr>
        </p:nvSpPr>
        <p:spPr>
          <a:xfrm>
            <a:off x="8451518" y="467019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28</a:t>
            </a:fld>
            <a:endParaRPr lang="en-US" noProof="0" dirty="0"/>
          </a:p>
        </p:txBody>
      </p:sp>
      <p:sp>
        <p:nvSpPr>
          <p:cNvPr id="74" name="Google Shape;74;p15"/>
          <p:cNvSpPr txBox="1"/>
          <p:nvPr/>
        </p:nvSpPr>
        <p:spPr>
          <a:xfrm>
            <a:off x="3241489" y="552788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2400" b="0" i="0" u="none" strike="noStrike" cap="none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Study 2</a:t>
            </a:r>
            <a:endParaRPr lang="en-US" noProof="0" dirty="0"/>
          </a:p>
        </p:txBody>
      </p:sp>
      <p:sp>
        <p:nvSpPr>
          <p:cNvPr id="75" name="Google Shape;75;p15"/>
          <p:cNvSpPr txBox="1"/>
          <p:nvPr/>
        </p:nvSpPr>
        <p:spPr>
          <a:xfrm>
            <a:off x="3241489" y="1386788"/>
            <a:ext cx="2808000" cy="3179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lg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5240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</a:pPr>
            <a:r>
              <a:rPr lang="en-US" sz="1200" b="0" i="1" u="none" strike="noStrike" cap="none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Changes </a:t>
            </a:r>
            <a:r>
              <a:rPr lang="en-US" sz="1200" i="1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network socioeconomic diversity </a:t>
            </a:r>
            <a:r>
              <a:rPr lang="en-US" sz="1200" b="0" i="1" u="none" strike="noStrike" cap="none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and </a:t>
            </a:r>
            <a:r>
              <a:rPr lang="en-US" sz="1200" i="1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market justice preferences in Chile</a:t>
            </a:r>
            <a:endParaRPr lang="en-US" sz="1200" b="0" i="0" u="none" strike="noStrike" cap="none" noProof="0" dirty="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en-US" sz="1200" b="1" i="0" u="none" strike="noStrike" cap="none" noProof="0" dirty="0">
                <a:solidFill>
                  <a:srgbClr val="CC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Longitudinal </a:t>
            </a:r>
            <a:r>
              <a:rPr lang="en-US" sz="1200" b="0" i="0" u="none" strike="noStrike" cap="none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panel design</a:t>
            </a:r>
            <a:endParaRPr lang="en-US" noProof="0" dirty="0"/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en-US" sz="1200" b="0" i="0" u="none" strike="noStrike" cap="none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Case of Chile </a:t>
            </a:r>
            <a:endParaRPr lang="en-US" noProof="0" dirty="0"/>
          </a:p>
          <a:p>
            <a: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</a:pPr>
            <a:endParaRPr lang="en-US" sz="1200" b="0" i="0" u="none" strike="noStrike" cap="none" noProof="0" dirty="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15240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</a:pPr>
            <a:r>
              <a:rPr lang="en-US" sz="1200" b="0" i="0" u="none" strike="noStrike" cap="none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R-gap:</a:t>
            </a:r>
            <a:endParaRPr lang="en-US" noProof="0" dirty="0"/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-"/>
            </a:pPr>
            <a:r>
              <a:rPr lang="en-US" sz="1200" b="0" i="0" u="none" strike="noStrike" cap="none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Individual </a:t>
            </a:r>
            <a:r>
              <a:rPr lang="en-US" sz="1200" b="1" i="0" u="none" strike="noStrike" cap="none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changes </a:t>
            </a:r>
            <a:r>
              <a:rPr lang="en-US" sz="1200" b="0" i="0" u="none" strike="noStrike" cap="none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on network composition cause changes on market justice preferences (e.g. education, health or pensions)</a:t>
            </a:r>
            <a:endParaRPr lang="en-US" noProof="0" dirty="0"/>
          </a:p>
        </p:txBody>
      </p:sp>
      <p:sp>
        <p:nvSpPr>
          <p:cNvPr id="76" name="Google Shape;76;p15"/>
          <p:cNvSpPr txBox="1"/>
          <p:nvPr/>
        </p:nvSpPr>
        <p:spPr>
          <a:xfrm>
            <a:off x="11259518" y="4660405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 sz="1000" b="0" i="0" u="none" strike="noStrike" cap="none" noProof="0" smtClean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28</a:t>
            </a:fld>
            <a:endParaRPr lang="en-US" sz="1000" b="0" i="0" u="none" strike="noStrike" cap="none" noProof="0" dirty="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7" name="Google Shape;77;p15"/>
          <p:cNvSpPr txBox="1"/>
          <p:nvPr/>
        </p:nvSpPr>
        <p:spPr>
          <a:xfrm>
            <a:off x="6192218" y="552788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2400" b="0" i="0" u="none" strike="noStrike" cap="none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Study 3</a:t>
            </a:r>
            <a:endParaRPr lang="en-US" noProof="0" dirty="0"/>
          </a:p>
        </p:txBody>
      </p:sp>
      <p:sp>
        <p:nvSpPr>
          <p:cNvPr id="78" name="Google Shape;78;p15"/>
          <p:cNvSpPr txBox="1"/>
          <p:nvPr/>
        </p:nvSpPr>
        <p:spPr>
          <a:xfrm>
            <a:off x="6185291" y="1386788"/>
            <a:ext cx="2808000" cy="3179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lg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15240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</a:pPr>
            <a:r>
              <a:rPr lang="en-US" sz="1200" b="0" i="1" u="none" strike="noStrike" cap="none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Reference groups and social solidarity: evidence from a comparative factorial survey in Chile and Germany</a:t>
            </a:r>
            <a:endParaRPr lang="en-US" noProof="0" dirty="0"/>
          </a:p>
          <a:p>
            <a:pPr marL="15240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</a:pPr>
            <a:endParaRPr lang="en-US" sz="1200" b="0" i="0" u="none" strike="noStrike" cap="none" noProof="0" dirty="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Pts val="1200"/>
              <a:buChar char="●"/>
            </a:pPr>
            <a:r>
              <a:rPr lang="en-US" sz="1200" b="1" noProof="0" dirty="0">
                <a:solidFill>
                  <a:srgbClr val="CC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</a:t>
            </a:r>
            <a:r>
              <a:rPr lang="en-US" sz="1200" b="1" i="0" u="none" strike="noStrike" cap="none" noProof="0" dirty="0">
                <a:solidFill>
                  <a:srgbClr val="CC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ignette </a:t>
            </a:r>
            <a:r>
              <a:rPr lang="en-US" sz="1200" b="1" noProof="0" dirty="0">
                <a:solidFill>
                  <a:srgbClr val="CC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experiment</a:t>
            </a:r>
            <a:endParaRPr lang="en-US" b="1" noProof="0" dirty="0">
              <a:solidFill>
                <a:srgbClr val="CC0000"/>
              </a:solidFill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en-US" sz="1200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Social cohesion attitudes in relation to</a:t>
            </a:r>
            <a:r>
              <a:rPr lang="en-US" sz="1200" b="0" i="0" u="none" strike="noStrike" cap="none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social groups</a:t>
            </a:r>
            <a:endParaRPr lang="en-US" noProof="0" dirty="0"/>
          </a:p>
          <a:p>
            <a:pPr marL="15240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</a:pPr>
            <a:endParaRPr lang="en-US" sz="1200" b="0" i="0" u="none" strike="noStrike" cap="none" noProof="0" dirty="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15240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</a:pPr>
            <a:r>
              <a:rPr lang="en-US" sz="1200" b="0" i="0" u="none" strike="noStrike" cap="none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R-gap:</a:t>
            </a:r>
            <a:endParaRPr lang="en-US" noProof="0" dirty="0"/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-"/>
            </a:pPr>
            <a:r>
              <a:rPr lang="en-US" sz="1200" b="0" i="0" u="none" strike="noStrike" cap="none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Understand social solidarity (trust, </a:t>
            </a:r>
            <a:r>
              <a:rPr lang="en-US" sz="1200" b="0" i="0" u="none" strike="noStrike" cap="none" noProof="0" dirty="0" err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cooperation,</a:t>
            </a:r>
            <a:r>
              <a:rPr lang="en-US" sz="1200" noProof="0" dirty="0" err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conflict</a:t>
            </a:r>
            <a:r>
              <a:rPr lang="en-US" sz="1200" b="0" i="0" u="none" strike="noStrike" cap="none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in </a:t>
            </a:r>
            <a:r>
              <a:rPr lang="en-US" sz="1200" b="1" i="0" u="none" strike="noStrike" cap="none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experimental  (comparative) </a:t>
            </a:r>
            <a:r>
              <a:rPr lang="en-US" sz="1200" b="0" i="0" u="none" strike="noStrike" cap="none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context how individuals react to diverse social groups (e.g. SES or ethnic, religion)</a:t>
            </a:r>
            <a:endParaRPr lang="en-US" noProof="0" dirty="0"/>
          </a:p>
          <a:p>
            <a:pPr marL="15240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</a:pPr>
            <a:endParaRPr lang="en-US" sz="1200" b="0" i="0" u="none" strike="noStrike" cap="none" noProof="0" dirty="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9" name="Google Shape;79;p15"/>
          <p:cNvSpPr txBox="1"/>
          <p:nvPr/>
        </p:nvSpPr>
        <p:spPr>
          <a:xfrm>
            <a:off x="14352976" y="4660405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 sz="1000" b="0" i="0" u="none" strike="noStrike" cap="none" noProof="0" smtClean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28</a:t>
            </a:fld>
            <a:endParaRPr lang="en-US" sz="1000" b="0" i="0" u="none" strike="noStrike" cap="none" noProof="0" dirty="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1422</TotalTime>
  <Words>2066</Words>
  <Application>Microsoft Office PowerPoint</Application>
  <PresentationFormat>On-screen Show (16:9)</PresentationFormat>
  <Paragraphs>204</Paragraphs>
  <Slides>28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Arial</vt:lpstr>
      <vt:lpstr>Georgia</vt:lpstr>
      <vt:lpstr>Times New Roman</vt:lpstr>
      <vt:lpstr>Simple Light</vt:lpstr>
      <vt:lpstr>  Características de los grupos sociales y cohesión social: Evidencia de un Experimento de Encuesta Factorial Comparativa en Chile y Alemania Social Groups Composition and Social Cohesion: Evidence from a Comparative Factorial Survey Experiment in Chile and Germany</vt:lpstr>
      <vt:lpstr>Colaboración </vt:lpstr>
      <vt:lpstr>Visiones teóricas sobre la cohesión social</vt:lpstr>
      <vt:lpstr>Fuerzas promotoras e inhibidoras de la cohesión</vt:lpstr>
      <vt:lpstr>Fuerzas promotoras e inhibidoras de la cohesión</vt:lpstr>
      <vt:lpstr>Fuerzas promotoras e inhibidoras de la cohesión</vt:lpstr>
      <vt:lpstr>¿Cómo afectan las características de los grupos sociales a la cohesión social?</vt:lpstr>
      <vt:lpstr>PowerPoint Presentation</vt:lpstr>
      <vt:lpstr>PowerPoint Presentation</vt:lpstr>
      <vt:lpstr>Experimento de encuesta factorial</vt:lpstr>
      <vt:lpstr>PowerPoint Presentation</vt:lpstr>
      <vt:lpstr>PowerPoint Presentation</vt:lpstr>
      <vt:lpstr>PowerPoint Presentation</vt:lpstr>
      <vt:lpstr>Resultados: los otros</vt:lpstr>
      <vt:lpstr>PowerPoint Presentation</vt:lpstr>
      <vt:lpstr>Resultados: los que son como yo</vt:lpstr>
      <vt:lpstr>PowerPoint Presentation</vt:lpstr>
      <vt:lpstr>PowerPoint Presentation</vt:lpstr>
      <vt:lpstr>PowerPoint Presentation</vt:lpstr>
      <vt:lpstr>PowerPoint Presentation</vt:lpstr>
      <vt:lpstr>Conclusiones </vt:lpstr>
      <vt:lpstr>Conclusiones</vt:lpstr>
      <vt:lpstr>¡Gracias!</vt:lpstr>
      <vt:lpstr>PowerPoint Presentation</vt:lpstr>
      <vt:lpstr>PowerPoint Presentation</vt:lpstr>
      <vt:lpstr>PowerPoint Presentation</vt:lpstr>
      <vt:lpstr>Research question </vt:lpstr>
      <vt:lpstr>Study 1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Julio César Iturra Sanhueza</cp:lastModifiedBy>
  <cp:revision>59</cp:revision>
  <dcterms:modified xsi:type="dcterms:W3CDTF">2025-12-10T18:50:21Z</dcterms:modified>
</cp:coreProperties>
</file>